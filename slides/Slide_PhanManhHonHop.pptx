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b3561aca-7621-cf83-94ab-b061b4f408da}">
          <p14:sldIdLst>
            <p14:sldId id="256"/>
            <p14:sldId id="257"/>
          </p14:sldIdLst>
        </p14:section>
        <p14:section name="Lý thuyết" id="{7daed965-07d7-3927-0b22-779847d79281}">
          <p14:sldIdLst>
            <p14:sldId id="258"/>
            <p14:sldId id="259"/>
            <p14:sldId id="260"/>
            <p14:sldId id="261"/>
            <p14:sldId id="262"/>
            <p14:sldId id="263"/>
            <p14:sldId id="264"/>
          </p14:sldIdLst>
        </p14:section>
        <p14:section name="Ứng dụng" id="{b036f6d2-703b-818b-6fb4-896abe5a03bf}">
          <p14:sldIdLst>
            <p14:sldId id="265"/>
            <p14:sldId id="266"/>
            <p14:sldId id="267"/>
            <p14:sldId id="268"/>
            <p14:sldId id="269"/>
            <p14:sldId id="270"/>
          </p14:sldIdLst>
        </p14:section>
        <p14:section name="Kết luận" id="{e41da85a-21ae-5d62-ca07-74e4adfe810a}">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[Thịnh]
Em chào thầy và các bạn. Nhóm em gồm Trần Gia Thịnh và Phạm Minh Triết. Hôm nay nhóm em xin trình bày đề tài: tìm hiểu phân mảnh hỗn hợp trong cơ sở dữ liệu phân tán và ứng dụng cho bài toán quản lý đơn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[Thịnh · 0:20]
Bài trình bày gồm 5 phần. Em sẽ trình bày phần lý thuyết, gồm tổng quan, các loại phân mảnh và phân mảnh hỗn hợp. Sau đó bạn Triết sẽ trình bày phần ứng dụng vào hệ thống quản lý đơn hàng, có demo trên SQL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[Thịnh · 1:00]
CSDL phân tán là một CSDL thống nhất về mặt logic, nhưng dữ liệu được đặt ở nhiều máy, nhiều địa điểm khác nhau, gọi là các site, nối với nhau qua mạng. Hệ quản trị CSDL phân tán có nhiệm vụ che giấu điều đó. Người dùng truy vấn như với một CSDL bình thường, không cần biết dữ liệu nằm ở đâu. Tính chất này gọi là tính trong suốt.
Lợi ích lớn nhất là dữ liệu được đặt gần nơi sử dụng. Ví dụ, chi nhánh Hà Nội làm việc trên dữ liệu ở Hà Nội nên không phải gửi truy vấn vào TP.HCM. Ngoài ra, một site gặp sự cố thì các site khác vẫn hoạt động, và hệ thống dễ mở rộng khi thêm chi nhánh.
Khi thiết kế một CSDL phân tán, có hai câu hỏi chính: chia dữ liệu như thế nào, tức là phân mảnh, và đặt từng phần ở đâu, tức là cấp phát. Đề tài của nhóm tập trung vào câu hỏi thứ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[Thịnh · 1:00]
Vì sao không đặt nguyên cả bảng ở một nơi? Vì trong thực tế, mỗi ứng dụng chỉ dùng một phần dữ liệu. Chi nhánh Hà Nội chỉ cần khách hàng của Hà Nội. Phòng kế toán chỉ cần các cột về công nợ. Nếu đặt nguyên bảng ở trụ sở, mọi chi nhánh đều phải truy cập từ xa. Nếu nhân bản nguyên bảng về mọi nơi thì tốn chỗ, và mỗi lần cập nhật phải sửa ở tất cả các bản.
Chia bảng thành các mảnh và đặt mỗi mảnh ở nơi dùng nó giúp đa số truy vấn chạy cục bộ. Các site có thể xử lý song song, và dữ liệu nhạy cảm có thể tách riêng để bảo vệ.
Một cách phân mảnh muốn đúng thì phải thỏa 3 quy tắc. Đầy đủ: không mất dữ liệu. Tái thiết: ghép các mảnh lại phải ra đúng bảng ban đầu. Rời nhau: không có dữ liệu bị lặp ở hai mảnh, ngoại trừ khóa chính trong phân mảnh dọc.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[Thịnh · 1:00]
Loại thứ nhất là phân mảnh ngang, tức là chia bảng theo dòng. Mỗi mảnh là kết quả của một phép chọn với một điều kiện. Ví dụ, bảng khách hàng được chia theo chi nhánh: khách của Hà Nội vào một mảnh, Đà Nẵng một mảnh, TP.HCM một mảnh.
Các điều kiện được lấy từ chính các truy vấn mà ứng dụng hay dùng, rồi kết hợp lại thành vị từ hội sơ cấp. Thuật toán COM_MIN chọn ra tập điều kiện vừa đủ, không thừa, không thiếu.
Có một biến thể quan trọng là phân mảnh ngang dẫn xuất. Đơn hàng không tự chia theo điều kiện riêng mà đi theo khách hàng: đơn của khách Hà Nội nằm ở mảnh Hà Nội. Biểu thức là phép nửa kết nối. Lợi ích là khi kết nối đơn hàng với khách hàng, phép kết nối chạy hoàn toàn tại chỗ. Muốn có lại bảng ban đầu thì hợp các mảnh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[Thịnh · 1:00]
Loại thứ hai là phân mảnh dọc, tức là chia bảng theo cột. Mỗi mảnh là một phép chiếu lên một nhóm cột. Điểm bắt buộc là mảnh nào cũng phải giữ khóa chính, để sau này ghép lại được.
Ví dụ với bảng nhân viên: chi nhánh chỉ cần thông tin công việc như họ tên, chức vụ, số điện thoại. Còn lương, CCCD, số tài khoản là dữ liệu nhạy cảm, chỉ phòng nhân sự dùng. Vì vậy ta tách thành hai mảnh, cả hai đều có mã nhân viên.
Muốn biết nên nhóm cột nào với nhau, ta lập ma trận ghi truy vấn nào dùng cột nào, tính độ ái lực giữa từng cặp cột, rồi dùng thuật toán BEA gom các cột hay được dùng cùng nhau và SPLIT chọn chỗ cắt. Tái thiết bằng phép kết nối trên khóa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[Thịnh · 1:00]
Trong thực tế, nhu cầu thường phức tạp hơn. Chi nhánh Hà Nội chỉ cần khách của Hà Nội, và cũng chỉ cần các cột phục vụ giao dịch như tên, số điện thoại, địa chỉ. Còn phòng kế toán ở trụ sở cần khách của cả ba miền, nhưng chỉ cần các cột công nợ.
Nếu chỉ chia ngang thì chi nhánh vẫn phải giữ cả cột công nợ mà mình không dùng. Nếu chỉ chia dọc thì chi nhánh lại phải giữ khách của các miền khác. Giải pháp là phân mảnh hỗn hợp: dùng nối tiếp cả phép chọn và phép chiếu. Mỗi mảnh khi đó là một ô trên lưới dòng và cột, đúng với phần dữ liệu mà một nhóm ứng dụng cần.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[Thịnh · 1:15]
Có hai cách kết hợp. Cách thứ nhất là ngang trước, dọc sau, gọi tắt là HV. Ta chia bảng theo dòng trước, rồi chia tiếp từng mảnh ngang theo cột. Bảng khách hàng của nhóm làm theo cách này: chia theo chi nhánh trước, sau đó mỗi mảnh chi nhánh tách thành phần giao dịch và phần tài chính.
Cách thứ hai là dọc trước, ngang sau, gọi tắt là VH. Ta chia theo cột trước, rồi chỉ chia ngang những nhóm cột cần chia. Bảng nhân viên làm theo cách này. Tách thông tin nhân sự ra trước; phần này để tập trung ở trụ sở nên không chia nữa. Chỉ phần thông tin công việc được chia tiếp theo chi nhánh.
Cả hai cách đều được biểu diễn bằng một cây phân mảnh. Gốc là bảng ban đầu, mỗi nút trong là một phép chọn hoặc phép chiếu, và các lá là những mảnh thực sự được lưu ở các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[Thịnh · 1:00]
Để lấy lại bảng ban đầu, ta đi ngược cây từ lá lên gốc. Gặp nút chia ngang thì hợp các mảnh con. Gặp nút chia dọc thì kết nối các mảnh con theo khóa chính. Với HV, ta kết nối hai phần dọc của từng mảnh trước, rồi hợp các kết quả lại. Với VH thì ngược lại: hợp các mảnh ngang trước, sau đó kết nối với phần dọc còn lại.
Về tính đúng đắn: nếu mỗi bước chia ngang và mỗi bước chia dọc đều thỏa ba quy tắc, thì cả cây phân mảnh hỗn hợp cũng thỏa.
Một lưu ý với VH: chỉ chia ngang được những mảnh dọc có chứa cột dùng trong điều kiện. Ví dụ phần nhân sự không có cột mã chi nhánh, nên không chia theo chi nhánh trực tiếp được. Phần tiếp theo, bạn Triết sẽ trình bày cách nhóm áp dụng vào bài toán quản lý đơn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[Triết · 1:00]
Em xin trình bày phần ứng dụng. Nhóm em đặt ra bài toán một công ty thương mại có ba chi nhánh ở Hà Nội, Đà Nẵng, TP.HCM và một trụ sở chính.
Mỗi khách hàng thuộc về đúng một chi nhánh. Nhân viên chi nhánh chủ yếu tra cứu khách và lập đơn cho khách của mình; đây là việc diễn ra nhiều nhất. Ở trụ sở, phòng kế toán theo dõi hạn mức và công nợ của khách ở cả ba miền. Phòng nhân sự quản lý lương, CCCD, số tài khoản; đây là thông tin nhạy cảm, chi nhánh không được thấy. Ban giám đốc cần báo cáo doanh thu toàn công ty.
Có thể thấy mỗi nơi cần một phần dữ liệu khác nhau, cả về dòng lẫn về cột. Đây là tình huống phù hợp để áp dụng phân mảnh hỗn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[Triết · 1:00]
Lược đồ toàn cục có sáu bảng: chi nhánh, khách hàng, nhân viên, sản phẩm, đơn hàng và chi tiết đơn hàng.
Theo nguyên tắc thiết kế, nhóm liệt kê các truy vấn chính, nơi phát sinh và tần suất. Truy vấn nhiều nhất là tra cứu khách và lập đơn, xảy ra ở chi nhánh. Truy vấn công nợ, tính lương và báo cáo doanh thu xảy ra ở trụ sở với tần suất thấp hơn.
Nhìn vào ma trận sử dụng của bảng khách hàng, các truy vấn ở chi nhánh chỉ dùng nhóm cột giao dịch, còn truy vấn kế toán chỉ dùng nhóm cột tài chính. Hai nhóm này gần như không dùng chung cột nào ngoài khóa. Kết hợp với việc mỗi chi nhánh chỉ dùng khách của mình, bảng khách hàng cần được chia theo cả dòng và cột.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[Triết · 1:00]
Với bảng khách hàng, nhóm dùng chiến lược ngang trước, dọc sau. Bước một, chia theo mã chi nhánh thành ba mảnh. Bước hai, mỗi mảnh chi nhánh được tách dọc thành phần giao dịch, đặt tại chính chi nhánh đó, và phần tài chính gồm hạn mức, công nợ, điểm tích lũy, đặt tại trụ sở.
Kết quả là sáu mảnh lá. Muốn lấy lại bảng khách hàng ban đầu, ta kết nối hai phần của từng chi nhánh theo mã khách, rồi hợp ba kết quả lại.
Nhóm chọn HV vì kế toán cần báo cáo công nợ theo từng miền. Phần tài chính vẫn được chia theo miền nên báo cáo theo miền chỉ cần đọc đúng mảnh của miền đó, không phải lọc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[Triết · 1:00]
Với bảng nhân viên, nhóm dùng chiến lược dọc trước, ngang sau. Thông tin nhân sự như lương, CCCD, số tài khoản được tách riêng và chỉ đặt tại trụ sở; chi nhánh không có các cột này nên không thể xem được. Phần thông tin công việc thì chia tiếp theo chi nhánh, để mỗi chi nhánh giữ danh sách nhân viên của mình.
Đơn hàng và chi tiết đơn hàng dùng phân mảnh ngang dẫn xuất: đơn đi theo khách, chi tiết đi theo đơn. Vì vậy phép kết nối khách với đơn với chi tiết luôn chạy tại chỗ ở chi nhánh.
Cuối cùng, bảng chi nhánh và sản phẩm nhỏ, chủ yếu được đọc, nên được nhân bản đầy đủ ở cả bốn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[Triết · 0:45]
Đây là lược đồ cấp phát. Trụ sở giữ ba mảnh tài chính của khách hàng và mảnh nhân sự. Mỗi chi nhánh giữ phần giao dịch của khách mình, danh sách nhân viên, đơn hàng và chi tiết đơn hàng của chi nhánh.
Với cách đặt này, các truy vấn tần suất cao ở chi nhánh và các truy vấn của kế toán, nhân sự đều chạy hoàn toàn tại chỗ. Chỉ có báo cáo toàn công ty, vốn chạy ít, là phải lấy dữ liệu từ nhiều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[Triết · 1:30]
Nhóm cài đặt thiết kế này trên SQL Server. Mỗi site được mô phỏng bằng một database riêng: trụ sở, Hà Nội, Đà Nẵng và TP.HCM. Dữ liệu được phân mảnh từ một CSDL gốc, đúng theo các biểu thức đại số vừa trình bày.
Ở trụ sở, nhóm tạo synonym trỏ tới các mảnh ở chi nhánh, rồi tạo view tái thiết dựa trên synonym đó. Người dùng chỉ cần truy vấn view khách hàng như một bảng bình thường, không cần biết dữ liệu nằm ở mảnh nào hay ở site nào.
Để chứng minh phân mảnh đúng, nhóm viết các truy vấn tự kiểm tra ba quy tắc. Kết quả là cả 13 phép kiểm tra đều đạt. Nhóm cũng ghi điều kiện phân mảnh thành ràng buộc CHECK, nên mảnh Hà Nội không nhận khách của chi nhánh khác. Chi nhánh truy vấn cột lương sẽ bị báo lỗi, vì cột đó không tồn tại ở chi nhánh.
Cuối cùng là một giao dịch phân tán: chi nhánh lập đơn và trụ sở cập nhật công nợ. Nếu đơn vượt hạn mức, cả hai site cùng hủy, không có site nào bị ghi dở.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[Triết · 0:45]
Đánh giá lại: thiết kế giúp phần lớn truy vấn chạy tại chỗ, bảo vệ được dữ liệu nhân sự, và báo cáo theo miền rất nhanh. Cái giá phải trả là thao tác lập đơn phải cập nhật công nợ ở trụ sở, tức là thành một giao dịch phân tán; khi chạy trên nhiều máy thật cần giao thức cam kết hai pha.
Kết luận, phân mảnh hỗn hợp phù hợp khi các nhóm người dùng khác nhau cần những phần dữ liệu khác nhau, cả theo dòng lẫn theo cột. Hướng phát triển là triển khai trên nhiều máy thật bằng Linked Server và nghiên cứu đồng bộ các bản nhân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Phần trình bày của nhóm em đến đây là kết thúc. Nhóm em cảm ơn thầy và các bạn đã lắng nghe, mong nhận được câu hỏi và góp ý.
Đây là mô phỏng: mỗi database đóng vai một site, và ranh giới giữa các site là ranh giới database. Thiết kế phân mảnh và cấp phát không phụ thuộc hạ tầng. Ở trụ sở, view chỉ tham chiếu synonym, nên muốn chạy trên nhiều máy thì chỉ cần tạo Linked Server và cho synonym trỏ tới tên 4 phần `[MayKhac].QLDH_HN.dbo.KH_1_GD`; view và truy vấn giữ nguyên. *(Nếu làm được T4b thì mở ảnh chụp chạy trên 2 laptop.)*
Khác nhau ở chỗ nút nào được chia tiếp. Với KhachHang, phần tài chính cũng cần tách theo miền để kế toán báo cáo theo miền, nên chia ngang trước rồi mới chia dọc từng mảnh (HV). Với NhanVien, phần nhân sự xử lý tập trung, không cần chia theo chi nhánh, nên chia dọc trước và chỉ chia ngang phần công việc (VH). Hơn nữa, NV_NS không có cột MaCN nên cũng không chia ngang trực tiếp theo chi nhánh được.
Đầy đủ: tập vị từ MaCN = CN01/CN02/CN03 phủ hết miền giá trị (có ràng buộc CHECK), và hợp các nhóm cột bằng toàn bộ cột. Tái thiết: ghép theo khóa chính thì không mất và không thừa bộ. Rời nhau: các vị từ loại trừ nhau, và hai mảnh dọc chỉ dùng chung khóa. Demo kiểm tra cả ba quy tắc bằng EXCEPT và GROUP BY … HAVING, kết quả 13/13 đạt.
Vì các mảnh ngang rời nhau nên không có bộ trùng để loại. UNION ALL cho cùng kết quả mà không tốn chi phí sắp xếp để khử trùng lặp.
Phải chuyển bộ đó từ mảnh KH_1 sang KH_2, gồm cả phần GD ở site chi nhánh và phần TC ở trụ sở, kèm các đơn hàng dẫn xuất nếu muốn đơn đi theo khách. Thao tác này là một giao dịch phân tán. Ràng buộc CHECK bảo đảm không thể sửa MaCN tại chỗ mà để sai mảnh.
Bảng nhỏ, mọi chi nhánh đều đọc khi lập đơn, và chỉ trụ sở cập nhật giá. Nhân bản giúp lập đơn không phải truy cập từ xa; đổi lại, mỗi lần đổi giá phải đồng bộ xuống 3 chi nhánh. Vì giá ít thay đổi nên chi phí đó chấp nhận được.
Truy vấn cần đầy đủ thông tin phải ghép nhiều mảnh, vừa phép hợp vừa phép kết nối, nên chi phí cao hơn. Cập nhật đụng cả hai phần dọc thì thành giao dịch phân tán. Thiết kế gắn với các truy vấn hiện tại, nên khi nghiệp vụ thay đổi thì phải thiết kế lại.
Bằng giao dịch: lập đơn ở S1 và cộng công nợ ở S0 nằm trong cùng một giao dịch, có XACT_ABORT. Lỗi ở bất kỳ bước nào thì cả hai cùng hủy; demo trường hợp vượt hạn mức cho thấy không site nào bị ghi dở. Khi chạy trên nhiều máy thì SQL Server dùng MSDTC với giao thức cam kết hai pha (2PC).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OI">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OI_DUNG">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Phân mảnh hỗn hợp trong CSDL phân tán · Cơ Sở Dữ Liệu Nâng Cao</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548640"/>
            <a:ext cx="8229600" cy="320040"/>
          </a:xfrm>
          <a:prstGeom prst="rect">
            <a:avLst/>
          </a:prstGeom>
          <a:noFill/>
          <a:ln/>
        </p:spPr>
        <p:txBody>
          <a:bodyPr wrap="square" lIns="0" tIns="0" rIns="0" bIns="0" rtlCol="0" anchor="t"/>
          <a:lstStyle/>
          <a:p>
            <a:pPr indent="0" marL="0">
              <a:buNone/>
            </a:pPr>
            <a:r>
              <a:rPr lang="en-US" sz="1300" spc="100" kern="0" dirty="0">
                <a:solidFill>
                  <a:srgbClr val="D1D5DB"/>
                </a:solidFill>
              </a:rPr>
              <a:t>TRƯỜNG ĐẠI HỌC CÔNG NGHỆ TP.HCM · KHOA CÔNG NGHỆ THÔNG TIN</a:t>
            </a:r>
            <a:endParaRPr lang="en-US" sz="1300" dirty="0"/>
          </a:p>
        </p:txBody>
      </p:sp>
      <p:sp>
        <p:nvSpPr>
          <p:cNvPr id="4" name="Text 1"/>
          <p:cNvSpPr txBox="1"/>
          <p:nvPr/>
        </p:nvSpPr>
        <p:spPr>
          <a:xfrm>
            <a:off x="640080" y="91440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Môn: Cơ Sở Dữ Liệu Nâng Cao</a:t>
            </a:r>
            <a:endParaRPr lang="en-US" sz="1800" dirty="0"/>
          </a:p>
        </p:txBody>
      </p:sp>
      <p:sp>
        <p:nvSpPr>
          <p:cNvPr id="5" name="Text 2"/>
          <p:cNvSpPr txBox="1"/>
          <p:nvPr/>
        </p:nvSpPr>
        <p:spPr>
          <a:xfrm>
            <a:off x="640080" y="1645920"/>
            <a:ext cx="7040880" cy="2468880"/>
          </a:xfrm>
          <a:prstGeom prst="rect">
            <a:avLst/>
          </a:prstGeom>
          <a:noFill/>
          <a:ln/>
        </p:spPr>
        <p:txBody>
          <a:bodyPr wrap="square" lIns="0" tIns="0" rIns="0" bIns="0" rtlCol="0" anchor="ctr"/>
          <a:lstStyle/>
          <a:p>
            <a:pPr indent="0" marL="0">
              <a:lnSpc>
                <a:spcPct val="105000"/>
              </a:lnSpc>
              <a:buNone/>
            </a:pPr>
            <a:r>
              <a:rPr lang="en-US" sz="3400" b="1" dirty="0">
                <a:solidFill>
                  <a:schemeClr val="bg1"/>
                </a:solidFill>
                <a:latin typeface="Cambria" pitchFamily="34" charset="0"/>
                <a:ea typeface="Cambria" pitchFamily="34" charset="-122"/>
                <a:cs typeface="Cambria" pitchFamily="34" charset="-120"/>
              </a:rPr>
              <a:t>TÌM HIỂU PHÂN MẢNH HỖN HỢP TRONG CSDL PHÂN TÁN VÀ ỨNG DỤNG CHO QUẢN LÝ ĐƠN HÀNG</a:t>
            </a:r>
            <a:endParaRPr lang="en-US" sz="3400" dirty="0"/>
          </a:p>
        </p:txBody>
      </p:sp>
      <p:sp>
        <p:nvSpPr>
          <p:cNvPr id="6" name="Text 3"/>
          <p:cNvSpPr txBox="1"/>
          <p:nvPr/>
        </p:nvSpPr>
        <p:spPr>
          <a:xfrm>
            <a:off x="640080" y="4800600"/>
            <a:ext cx="3108960" cy="1097280"/>
          </a:xfrm>
          <a:prstGeom prst="rect">
            <a:avLst/>
          </a:prstGeom>
          <a:noFill/>
          <a:ln/>
        </p:spPr>
        <p:txBody>
          <a:bodyPr wrap="square" lIns="0" tIns="0" rIns="0" bIns="0" rtlCol="0" anchor="t"/>
          <a:lstStyle/>
          <a:p>
            <a:pPr indent="0" marL="0">
              <a:spcAft>
                <a:spcPts val="400"/>
              </a:spcAft>
              <a:buNone/>
            </a:pPr>
            <a:r>
              <a:rPr lang="en-US" sz="1300" dirty="0">
                <a:solidFill>
                  <a:srgbClr val="D1D5DB"/>
                </a:solidFill>
              </a:rPr>
              <a:t>Giảng viên hướng dẫn</a:t>
            </a:r>
            <a:endParaRPr lang="en-US" sz="1600" dirty="0"/>
          </a:p>
          <a:p>
            <a:pPr indent="0" marL="0">
              <a:spcAft>
                <a:spcPts val="800"/>
              </a:spcAft>
              <a:buNone/>
            </a:pPr>
            <a:r>
              <a:rPr lang="en-US" sz="2000" b="1" dirty="0">
                <a:solidFill>
                  <a:schemeClr val="bg1"/>
                </a:solidFill>
              </a:rPr>
              <a:t>ThS. Nguyễn Văn Danh</a:t>
            </a:r>
            <a:endParaRPr lang="en-US" sz="1600" dirty="0"/>
          </a:p>
        </p:txBody>
      </p:sp>
      <p:sp>
        <p:nvSpPr>
          <p:cNvPr id="7" name="Text 4"/>
          <p:cNvSpPr txBox="1"/>
          <p:nvPr/>
        </p:nvSpPr>
        <p:spPr>
          <a:xfrm>
            <a:off x="3931920" y="4800600"/>
            <a:ext cx="4206240" cy="1280160"/>
          </a:xfrm>
          <a:prstGeom prst="rect">
            <a:avLst/>
          </a:prstGeom>
          <a:noFill/>
          <a:ln/>
        </p:spPr>
        <p:txBody>
          <a:bodyPr wrap="square" lIns="0" tIns="0" rIns="0" bIns="0" rtlCol="0" anchor="t"/>
          <a:lstStyle/>
          <a:p>
            <a:pPr indent="0" marL="0">
              <a:spcAft>
                <a:spcPts val="400"/>
              </a:spcAft>
              <a:buNone/>
            </a:pPr>
            <a:r>
              <a:rPr lang="en-US" sz="1300" dirty="0">
                <a:solidFill>
                  <a:srgbClr val="D1D5DB"/>
                </a:solidFill>
              </a:rPr>
              <a:t>Nhóm thực hiện</a:t>
            </a:r>
            <a:endParaRPr lang="en-US" sz="1600" dirty="0"/>
          </a:p>
          <a:p>
            <a:pPr indent="0" marL="0">
              <a:spcAft>
                <a:spcPts val="200"/>
              </a:spcAft>
              <a:buNone/>
            </a:pPr>
            <a:r>
              <a:rPr lang="en-US" sz="1800" dirty="0">
                <a:solidFill>
                  <a:schemeClr val="bg1"/>
                </a:solidFill>
              </a:rPr>
              <a:t>Trần Gia Thịnh – 2380602136</a:t>
            </a:r>
            <a:endParaRPr lang="en-US" sz="1600" dirty="0"/>
          </a:p>
          <a:p>
            <a:pPr indent="0" marL="0">
              <a:spcAft>
                <a:spcPts val="800"/>
              </a:spcAft>
              <a:buNone/>
            </a:pPr>
            <a:r>
              <a:rPr lang="en-US" sz="1800" dirty="0">
                <a:solidFill>
                  <a:schemeClr val="bg1"/>
                </a:solidFill>
              </a:rPr>
              <a:t>Phạm Minh Triết – 2380605829</a:t>
            </a:r>
            <a:endParaRPr lang="en-US" sz="1600" dirty="0"/>
          </a:p>
        </p:txBody>
      </p:sp>
      <p:sp>
        <p:nvSpPr>
          <p:cNvPr id="8" name="Text 5"/>
          <p:cNvSpPr txBox="1"/>
          <p:nvPr/>
        </p:nvSpPr>
        <p:spPr>
          <a:xfrm>
            <a:off x="8458200" y="1353312"/>
            <a:ext cx="1463040" cy="274320"/>
          </a:xfrm>
          <a:prstGeom prst="rect">
            <a:avLst/>
          </a:prstGeom>
          <a:noFill/>
          <a:ln/>
        </p:spPr>
        <p:txBody>
          <a:bodyPr wrap="square" lIns="0" tIns="0" rIns="0" bIns="0" rtlCol="0" anchor="t"/>
          <a:lstStyle/>
          <a:p>
            <a:pPr algn="ctr" indent="0" marL="0">
              <a:buNone/>
            </a:pPr>
            <a:r>
              <a:rPr lang="en-US" sz="1300" dirty="0">
                <a:solidFill>
                  <a:srgbClr val="D1D5DB"/>
                </a:solidFill>
              </a:rPr>
              <a:t>Giao dịch</a:t>
            </a:r>
            <a:endParaRPr lang="en-US" sz="1300" dirty="0"/>
          </a:p>
        </p:txBody>
      </p:sp>
      <p:sp>
        <p:nvSpPr>
          <p:cNvPr id="9" name="Text 6"/>
          <p:cNvSpPr txBox="1"/>
          <p:nvPr/>
        </p:nvSpPr>
        <p:spPr>
          <a:xfrm>
            <a:off x="10085832" y="1353312"/>
            <a:ext cx="1463040" cy="274320"/>
          </a:xfrm>
          <a:prstGeom prst="rect">
            <a:avLst/>
          </a:prstGeom>
          <a:noFill/>
          <a:ln/>
        </p:spPr>
        <p:txBody>
          <a:bodyPr wrap="square" lIns="0" tIns="0" rIns="0" bIns="0" rtlCol="0" anchor="t"/>
          <a:lstStyle/>
          <a:p>
            <a:pPr algn="ctr" indent="0" marL="0">
              <a:buNone/>
            </a:pPr>
            <a:r>
              <a:rPr lang="en-US" sz="1300" dirty="0">
                <a:solidFill>
                  <a:srgbClr val="D1D5DB"/>
                </a:solidFill>
              </a:rPr>
              <a:t>Tài chính</a:t>
            </a:r>
            <a:endParaRPr lang="en-US" sz="1300" dirty="0"/>
          </a:p>
        </p:txBody>
      </p:sp>
      <p:sp>
        <p:nvSpPr>
          <p:cNvPr id="10" name="o-manh"/>
          <p:cNvSpPr/>
          <p:nvPr/>
        </p:nvSpPr>
        <p:spPr>
          <a:xfrm>
            <a:off x="8458200" y="1737360"/>
            <a:ext cx="1463040" cy="868680"/>
          </a:xfrm>
          <a:prstGeom prst="roundRect">
            <a:avLst>
              <a:gd name="adj" fmla="val 12632"/>
            </a:avLst>
          </a:prstGeom>
          <a:solidFill>
            <a:schemeClr val="accent3"/>
          </a:solidFill>
          <a:ln w="12700">
            <a:solidFill>
              <a:schemeClr val="accent3"/>
            </a:solidFill>
            <a:prstDash val="solid"/>
          </a:ln>
        </p:spPr>
      </p:sp>
      <p:sp>
        <p:nvSpPr>
          <p:cNvPr id="11" name="Text 8"/>
          <p:cNvSpPr txBox="1"/>
          <p:nvPr/>
        </p:nvSpPr>
        <p:spPr>
          <a:xfrm>
            <a:off x="8458200" y="1737360"/>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KH₁_GD</a:t>
            </a:r>
            <a:endParaRPr lang="en-US" sz="1600" dirty="0"/>
          </a:p>
        </p:txBody>
      </p:sp>
      <p:sp>
        <p:nvSpPr>
          <p:cNvPr id="12" name="o-manh"/>
          <p:cNvSpPr/>
          <p:nvPr/>
        </p:nvSpPr>
        <p:spPr>
          <a:xfrm>
            <a:off x="10085832" y="1737360"/>
            <a:ext cx="1463040" cy="868680"/>
          </a:xfrm>
          <a:prstGeom prst="roundRect">
            <a:avLst>
              <a:gd name="adj" fmla="val 12632"/>
            </a:avLst>
          </a:prstGeom>
          <a:solidFill>
            <a:schemeClr val="accent6"/>
          </a:solidFill>
          <a:ln w="12700">
            <a:solidFill>
              <a:schemeClr val="accent6"/>
            </a:solidFill>
            <a:prstDash val="solid"/>
          </a:ln>
        </p:spPr>
      </p:sp>
      <p:sp>
        <p:nvSpPr>
          <p:cNvPr id="13" name="Text 10"/>
          <p:cNvSpPr txBox="1"/>
          <p:nvPr/>
        </p:nvSpPr>
        <p:spPr>
          <a:xfrm>
            <a:off x="10085832" y="1737360"/>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KH₁_TC</a:t>
            </a:r>
            <a:endParaRPr lang="en-US" sz="1600" dirty="0"/>
          </a:p>
        </p:txBody>
      </p:sp>
      <p:sp>
        <p:nvSpPr>
          <p:cNvPr id="14" name="o-manh"/>
          <p:cNvSpPr/>
          <p:nvPr/>
        </p:nvSpPr>
        <p:spPr>
          <a:xfrm>
            <a:off x="8458200" y="2770632"/>
            <a:ext cx="1463040" cy="868680"/>
          </a:xfrm>
          <a:prstGeom prst="roundRect">
            <a:avLst>
              <a:gd name="adj" fmla="val 12632"/>
            </a:avLst>
          </a:prstGeom>
          <a:solidFill>
            <a:schemeClr val="accent4"/>
          </a:solidFill>
          <a:ln w="12700">
            <a:solidFill>
              <a:schemeClr val="accent4"/>
            </a:solidFill>
            <a:prstDash val="solid"/>
          </a:ln>
        </p:spPr>
      </p:sp>
      <p:sp>
        <p:nvSpPr>
          <p:cNvPr id="15" name="Text 12"/>
          <p:cNvSpPr txBox="1"/>
          <p:nvPr/>
        </p:nvSpPr>
        <p:spPr>
          <a:xfrm>
            <a:off x="8458200" y="2770632"/>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KH₂_GD</a:t>
            </a:r>
            <a:endParaRPr lang="en-US" sz="1600" dirty="0"/>
          </a:p>
        </p:txBody>
      </p:sp>
      <p:sp>
        <p:nvSpPr>
          <p:cNvPr id="16" name="o-manh"/>
          <p:cNvSpPr/>
          <p:nvPr/>
        </p:nvSpPr>
        <p:spPr>
          <a:xfrm>
            <a:off x="10085832" y="2770632"/>
            <a:ext cx="1463040" cy="868680"/>
          </a:xfrm>
          <a:prstGeom prst="roundRect">
            <a:avLst>
              <a:gd name="adj" fmla="val 12632"/>
            </a:avLst>
          </a:prstGeom>
          <a:solidFill>
            <a:schemeClr val="accent6"/>
          </a:solidFill>
          <a:ln w="12700">
            <a:solidFill>
              <a:schemeClr val="accent6"/>
            </a:solidFill>
            <a:prstDash val="solid"/>
          </a:ln>
        </p:spPr>
      </p:sp>
      <p:sp>
        <p:nvSpPr>
          <p:cNvPr id="17" name="Text 14"/>
          <p:cNvSpPr txBox="1"/>
          <p:nvPr/>
        </p:nvSpPr>
        <p:spPr>
          <a:xfrm>
            <a:off x="10085832" y="2770632"/>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KH₂_TC</a:t>
            </a:r>
            <a:endParaRPr lang="en-US" sz="1600" dirty="0"/>
          </a:p>
        </p:txBody>
      </p:sp>
      <p:sp>
        <p:nvSpPr>
          <p:cNvPr id="18" name="o-manh"/>
          <p:cNvSpPr/>
          <p:nvPr/>
        </p:nvSpPr>
        <p:spPr>
          <a:xfrm>
            <a:off x="8458200" y="3803904"/>
            <a:ext cx="1463040" cy="868680"/>
          </a:xfrm>
          <a:prstGeom prst="roundRect">
            <a:avLst>
              <a:gd name="adj" fmla="val 12632"/>
            </a:avLst>
          </a:prstGeom>
          <a:solidFill>
            <a:schemeClr val="accent5"/>
          </a:solidFill>
          <a:ln w="12700">
            <a:solidFill>
              <a:schemeClr val="accent5"/>
            </a:solidFill>
            <a:prstDash val="solid"/>
          </a:ln>
        </p:spPr>
      </p:sp>
      <p:sp>
        <p:nvSpPr>
          <p:cNvPr id="19" name="Text 16"/>
          <p:cNvSpPr txBox="1"/>
          <p:nvPr/>
        </p:nvSpPr>
        <p:spPr>
          <a:xfrm>
            <a:off x="8458200" y="3803904"/>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KH₃_GD</a:t>
            </a:r>
            <a:endParaRPr lang="en-US" sz="1600" dirty="0"/>
          </a:p>
        </p:txBody>
      </p:sp>
      <p:sp>
        <p:nvSpPr>
          <p:cNvPr id="20" name="o-manh"/>
          <p:cNvSpPr/>
          <p:nvPr/>
        </p:nvSpPr>
        <p:spPr>
          <a:xfrm>
            <a:off x="10085832" y="3803904"/>
            <a:ext cx="1463040" cy="868680"/>
          </a:xfrm>
          <a:prstGeom prst="roundRect">
            <a:avLst>
              <a:gd name="adj" fmla="val 12632"/>
            </a:avLst>
          </a:prstGeom>
          <a:solidFill>
            <a:schemeClr val="accent6"/>
          </a:solidFill>
          <a:ln w="12700">
            <a:solidFill>
              <a:schemeClr val="accent6"/>
            </a:solidFill>
            <a:prstDash val="solid"/>
          </a:ln>
        </p:spPr>
      </p:sp>
      <p:sp>
        <p:nvSpPr>
          <p:cNvPr id="21" name="Text 18"/>
          <p:cNvSpPr txBox="1"/>
          <p:nvPr/>
        </p:nvSpPr>
        <p:spPr>
          <a:xfrm>
            <a:off x="10085832" y="3803904"/>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KH₃_TC</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MỞ ĐẦU</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Nội dung trình bày</a:t>
            </a:r>
            <a:endParaRPr lang="en-US" sz="3200" dirty="0"/>
          </a:p>
        </p:txBody>
      </p:sp>
      <p:sp>
        <p:nvSpPr>
          <p:cNvPr id="5" name="the-muc"/>
          <p:cNvSpPr/>
          <p:nvPr/>
        </p:nvSpPr>
        <p:spPr>
          <a:xfrm>
            <a:off x="548640" y="1783080"/>
            <a:ext cx="2036003" cy="3566160"/>
          </a:xfrm>
          <a:prstGeom prst="roundRect">
            <a:avLst>
              <a:gd name="adj" fmla="val 5389"/>
            </a:avLst>
          </a:prstGeom>
          <a:solidFill>
            <a:schemeClr val="bg2"/>
          </a:solidFill>
          <a:ln w="12700">
            <a:solidFill>
              <a:schemeClr val="bg2"/>
            </a:solidFill>
            <a:prstDash val="solid"/>
          </a:ln>
        </p:spPr>
      </p:sp>
      <p:sp>
        <p:nvSpPr>
          <p:cNvPr id="6" name="Text 3"/>
          <p:cNvSpPr txBox="1"/>
          <p:nvPr/>
        </p:nvSpPr>
        <p:spPr>
          <a:xfrm>
            <a:off x="822960" y="2011680"/>
            <a:ext cx="91440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a:t>
            </a:r>
            <a:endParaRPr lang="en-US" sz="4800" dirty="0"/>
          </a:p>
        </p:txBody>
      </p:sp>
      <p:sp>
        <p:nvSpPr>
          <p:cNvPr id="7" name="Text 4"/>
          <p:cNvSpPr txBox="1"/>
          <p:nvPr/>
        </p:nvSpPr>
        <p:spPr>
          <a:xfrm>
            <a:off x="822960" y="2971800"/>
            <a:ext cx="1578803" cy="1554480"/>
          </a:xfrm>
          <a:prstGeom prst="rect">
            <a:avLst/>
          </a:prstGeom>
          <a:noFill/>
          <a:ln/>
        </p:spPr>
        <p:txBody>
          <a:bodyPr wrap="square" lIns="0" tIns="0" rIns="0" bIns="0" rtlCol="0" anchor="t"/>
          <a:lstStyle/>
          <a:p>
            <a:pPr indent="0" marL="0">
              <a:buNone/>
            </a:pPr>
            <a:r>
              <a:rPr lang="en-US" sz="1900" b="1" dirty="0">
                <a:solidFill>
                  <a:schemeClr val="tx1"/>
                </a:solidFill>
              </a:rPr>
              <a:t>Tổng quan CSDL phân tán</a:t>
            </a:r>
            <a:endParaRPr lang="en-US" sz="1900" dirty="0"/>
          </a:p>
        </p:txBody>
      </p:sp>
      <p:sp>
        <p:nvSpPr>
          <p:cNvPr id="8" name="Text 5"/>
          <p:cNvSpPr txBox="1"/>
          <p:nvPr/>
        </p:nvSpPr>
        <p:spPr>
          <a:xfrm>
            <a:off x="822960" y="4846320"/>
            <a:ext cx="1578803" cy="320040"/>
          </a:xfrm>
          <a:prstGeom prst="rect">
            <a:avLst/>
          </a:prstGeom>
          <a:noFill/>
          <a:ln/>
        </p:spPr>
        <p:txBody>
          <a:bodyPr wrap="square" lIns="0" tIns="0" rIns="0" bIns="0" rtlCol="0" anchor="t"/>
          <a:lstStyle/>
          <a:p>
            <a:pPr indent="0" marL="0">
              <a:buNone/>
            </a:pPr>
            <a:r>
              <a:rPr lang="en-US" sz="1300" dirty="0">
                <a:solidFill>
                  <a:schemeClr val="tx2"/>
                </a:solidFill>
              </a:rPr>
              <a:t>Thịnh</a:t>
            </a:r>
            <a:endParaRPr lang="en-US" sz="1300" dirty="0"/>
          </a:p>
        </p:txBody>
      </p:sp>
      <p:sp>
        <p:nvSpPr>
          <p:cNvPr id="9" name="the-muc"/>
          <p:cNvSpPr/>
          <p:nvPr/>
        </p:nvSpPr>
        <p:spPr>
          <a:xfrm>
            <a:off x="2813243" y="1783080"/>
            <a:ext cx="2036003" cy="3566160"/>
          </a:xfrm>
          <a:prstGeom prst="roundRect">
            <a:avLst>
              <a:gd name="adj" fmla="val 5389"/>
            </a:avLst>
          </a:prstGeom>
          <a:solidFill>
            <a:schemeClr val="bg2"/>
          </a:solidFill>
          <a:ln w="12700">
            <a:solidFill>
              <a:schemeClr val="bg2"/>
            </a:solidFill>
            <a:prstDash val="solid"/>
          </a:ln>
        </p:spPr>
      </p:sp>
      <p:sp>
        <p:nvSpPr>
          <p:cNvPr id="10" name="Text 7"/>
          <p:cNvSpPr txBox="1"/>
          <p:nvPr/>
        </p:nvSpPr>
        <p:spPr>
          <a:xfrm>
            <a:off x="3087563" y="2011680"/>
            <a:ext cx="91440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2</a:t>
            </a:r>
            <a:endParaRPr lang="en-US" sz="4800" dirty="0"/>
          </a:p>
        </p:txBody>
      </p:sp>
      <p:sp>
        <p:nvSpPr>
          <p:cNvPr id="11" name="Text 8"/>
          <p:cNvSpPr txBox="1"/>
          <p:nvPr/>
        </p:nvSpPr>
        <p:spPr>
          <a:xfrm>
            <a:off x="3087563" y="2971800"/>
            <a:ext cx="1578803" cy="1554480"/>
          </a:xfrm>
          <a:prstGeom prst="rect">
            <a:avLst/>
          </a:prstGeom>
          <a:noFill/>
          <a:ln/>
        </p:spPr>
        <p:txBody>
          <a:bodyPr wrap="square" lIns="0" tIns="0" rIns="0" bIns="0" rtlCol="0" anchor="t"/>
          <a:lstStyle/>
          <a:p>
            <a:pPr indent="0" marL="0">
              <a:buNone/>
            </a:pPr>
            <a:r>
              <a:rPr lang="en-US" sz="1900" b="1" dirty="0">
                <a:solidFill>
                  <a:schemeClr val="tx1"/>
                </a:solidFill>
              </a:rPr>
              <a:t>Phân mảnh dữ liệu: ngang và dọc</a:t>
            </a:r>
            <a:endParaRPr lang="en-US" sz="1900" dirty="0"/>
          </a:p>
        </p:txBody>
      </p:sp>
      <p:sp>
        <p:nvSpPr>
          <p:cNvPr id="12" name="Text 9"/>
          <p:cNvSpPr txBox="1"/>
          <p:nvPr/>
        </p:nvSpPr>
        <p:spPr>
          <a:xfrm>
            <a:off x="3087563" y="4846320"/>
            <a:ext cx="1578803" cy="320040"/>
          </a:xfrm>
          <a:prstGeom prst="rect">
            <a:avLst/>
          </a:prstGeom>
          <a:noFill/>
          <a:ln/>
        </p:spPr>
        <p:txBody>
          <a:bodyPr wrap="square" lIns="0" tIns="0" rIns="0" bIns="0" rtlCol="0" anchor="t"/>
          <a:lstStyle/>
          <a:p>
            <a:pPr indent="0" marL="0">
              <a:buNone/>
            </a:pPr>
            <a:r>
              <a:rPr lang="en-US" sz="1300" dirty="0">
                <a:solidFill>
                  <a:schemeClr val="tx2"/>
                </a:solidFill>
              </a:rPr>
              <a:t>Thịnh</a:t>
            </a:r>
            <a:endParaRPr lang="en-US" sz="1300" dirty="0"/>
          </a:p>
        </p:txBody>
      </p:sp>
      <p:sp>
        <p:nvSpPr>
          <p:cNvPr id="13" name="the-muc"/>
          <p:cNvSpPr/>
          <p:nvPr/>
        </p:nvSpPr>
        <p:spPr>
          <a:xfrm>
            <a:off x="5077846" y="1783080"/>
            <a:ext cx="2036003" cy="3566160"/>
          </a:xfrm>
          <a:prstGeom prst="roundRect">
            <a:avLst>
              <a:gd name="adj" fmla="val 5389"/>
            </a:avLst>
          </a:prstGeom>
          <a:solidFill>
            <a:schemeClr val="tx1"/>
          </a:solidFill>
          <a:ln w="12700">
            <a:solidFill>
              <a:schemeClr val="tx1"/>
            </a:solidFill>
            <a:prstDash val="solid"/>
          </a:ln>
        </p:spPr>
      </p:sp>
      <p:sp>
        <p:nvSpPr>
          <p:cNvPr id="14" name="Text 11"/>
          <p:cNvSpPr txBox="1"/>
          <p:nvPr/>
        </p:nvSpPr>
        <p:spPr>
          <a:xfrm>
            <a:off x="5352166" y="2011680"/>
            <a:ext cx="91440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3</a:t>
            </a:r>
            <a:endParaRPr lang="en-US" sz="4800" dirty="0"/>
          </a:p>
        </p:txBody>
      </p:sp>
      <p:sp>
        <p:nvSpPr>
          <p:cNvPr id="15" name="Text 12"/>
          <p:cNvSpPr txBox="1"/>
          <p:nvPr/>
        </p:nvSpPr>
        <p:spPr>
          <a:xfrm>
            <a:off x="5352166" y="2971800"/>
            <a:ext cx="1578803" cy="1554480"/>
          </a:xfrm>
          <a:prstGeom prst="rect">
            <a:avLst/>
          </a:prstGeom>
          <a:noFill/>
          <a:ln/>
        </p:spPr>
        <p:txBody>
          <a:bodyPr wrap="square" lIns="0" tIns="0" rIns="0" bIns="0" rtlCol="0" anchor="t"/>
          <a:lstStyle/>
          <a:p>
            <a:pPr indent="0" marL="0">
              <a:buNone/>
            </a:pPr>
            <a:r>
              <a:rPr lang="en-US" sz="1900" b="1" dirty="0">
                <a:solidFill>
                  <a:schemeClr val="bg1"/>
                </a:solidFill>
              </a:rPr>
              <a:t>Phân mảnh hỗn hợp</a:t>
            </a:r>
            <a:endParaRPr lang="en-US" sz="1900" dirty="0"/>
          </a:p>
        </p:txBody>
      </p:sp>
      <p:sp>
        <p:nvSpPr>
          <p:cNvPr id="16" name="Text 13"/>
          <p:cNvSpPr txBox="1"/>
          <p:nvPr/>
        </p:nvSpPr>
        <p:spPr>
          <a:xfrm>
            <a:off x="5352166" y="4846320"/>
            <a:ext cx="1578803" cy="320040"/>
          </a:xfrm>
          <a:prstGeom prst="rect">
            <a:avLst/>
          </a:prstGeom>
          <a:noFill/>
          <a:ln/>
        </p:spPr>
        <p:txBody>
          <a:bodyPr wrap="square" lIns="0" tIns="0" rIns="0" bIns="0" rtlCol="0" anchor="t"/>
          <a:lstStyle/>
          <a:p>
            <a:pPr indent="0" marL="0">
              <a:buNone/>
            </a:pPr>
            <a:r>
              <a:rPr lang="en-US" sz="1300" dirty="0">
                <a:solidFill>
                  <a:srgbClr val="D1D5DB"/>
                </a:solidFill>
              </a:rPr>
              <a:t>Thịnh</a:t>
            </a:r>
            <a:endParaRPr lang="en-US" sz="1300" dirty="0"/>
          </a:p>
        </p:txBody>
      </p:sp>
      <p:sp>
        <p:nvSpPr>
          <p:cNvPr id="17" name="the-muc"/>
          <p:cNvSpPr/>
          <p:nvPr/>
        </p:nvSpPr>
        <p:spPr>
          <a:xfrm>
            <a:off x="7342449" y="1783080"/>
            <a:ext cx="2036003" cy="3566160"/>
          </a:xfrm>
          <a:prstGeom prst="roundRect">
            <a:avLst>
              <a:gd name="adj" fmla="val 5389"/>
            </a:avLst>
          </a:prstGeom>
          <a:solidFill>
            <a:schemeClr val="tx1"/>
          </a:solidFill>
          <a:ln w="12700">
            <a:solidFill>
              <a:schemeClr val="tx1"/>
            </a:solidFill>
            <a:prstDash val="solid"/>
          </a:ln>
        </p:spPr>
      </p:sp>
      <p:sp>
        <p:nvSpPr>
          <p:cNvPr id="18" name="Text 15"/>
          <p:cNvSpPr txBox="1"/>
          <p:nvPr/>
        </p:nvSpPr>
        <p:spPr>
          <a:xfrm>
            <a:off x="7616769" y="2011680"/>
            <a:ext cx="91440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4</a:t>
            </a:r>
            <a:endParaRPr lang="en-US" sz="4800" dirty="0"/>
          </a:p>
        </p:txBody>
      </p:sp>
      <p:sp>
        <p:nvSpPr>
          <p:cNvPr id="19" name="Text 16"/>
          <p:cNvSpPr txBox="1"/>
          <p:nvPr/>
        </p:nvSpPr>
        <p:spPr>
          <a:xfrm>
            <a:off x="7616769" y="2971800"/>
            <a:ext cx="1578803" cy="1554480"/>
          </a:xfrm>
          <a:prstGeom prst="rect">
            <a:avLst/>
          </a:prstGeom>
          <a:noFill/>
          <a:ln/>
        </p:spPr>
        <p:txBody>
          <a:bodyPr wrap="square" lIns="0" tIns="0" rIns="0" bIns="0" rtlCol="0" anchor="t"/>
          <a:lstStyle/>
          <a:p>
            <a:pPr indent="0" marL="0">
              <a:buNone/>
            </a:pPr>
            <a:r>
              <a:rPr lang="en-US" sz="1900" b="1" dirty="0">
                <a:solidFill>
                  <a:schemeClr val="bg1"/>
                </a:solidFill>
              </a:rPr>
              <a:t>Ứng dụng cho hệ thống quản lý đơn hàng + demo</a:t>
            </a:r>
            <a:endParaRPr lang="en-US" sz="1900" dirty="0"/>
          </a:p>
        </p:txBody>
      </p:sp>
      <p:sp>
        <p:nvSpPr>
          <p:cNvPr id="20" name="Text 17"/>
          <p:cNvSpPr txBox="1"/>
          <p:nvPr/>
        </p:nvSpPr>
        <p:spPr>
          <a:xfrm>
            <a:off x="7616769" y="4846320"/>
            <a:ext cx="1578803" cy="320040"/>
          </a:xfrm>
          <a:prstGeom prst="rect">
            <a:avLst/>
          </a:prstGeom>
          <a:noFill/>
          <a:ln/>
        </p:spPr>
        <p:txBody>
          <a:bodyPr wrap="square" lIns="0" tIns="0" rIns="0" bIns="0" rtlCol="0" anchor="t"/>
          <a:lstStyle/>
          <a:p>
            <a:pPr indent="0" marL="0">
              <a:buNone/>
            </a:pPr>
            <a:r>
              <a:rPr lang="en-US" sz="1300" dirty="0">
                <a:solidFill>
                  <a:srgbClr val="D1D5DB"/>
                </a:solidFill>
              </a:rPr>
              <a:t>Triết</a:t>
            </a:r>
            <a:endParaRPr lang="en-US" sz="1300" dirty="0"/>
          </a:p>
        </p:txBody>
      </p:sp>
      <p:sp>
        <p:nvSpPr>
          <p:cNvPr id="21" name="the-muc"/>
          <p:cNvSpPr/>
          <p:nvPr/>
        </p:nvSpPr>
        <p:spPr>
          <a:xfrm>
            <a:off x="9607052" y="1783080"/>
            <a:ext cx="2036003" cy="3566160"/>
          </a:xfrm>
          <a:prstGeom prst="roundRect">
            <a:avLst>
              <a:gd name="adj" fmla="val 5389"/>
            </a:avLst>
          </a:prstGeom>
          <a:solidFill>
            <a:schemeClr val="bg2"/>
          </a:solidFill>
          <a:ln w="12700">
            <a:solidFill>
              <a:schemeClr val="bg2"/>
            </a:solidFill>
            <a:prstDash val="solid"/>
          </a:ln>
        </p:spPr>
      </p:sp>
      <p:sp>
        <p:nvSpPr>
          <p:cNvPr id="22" name="Text 19"/>
          <p:cNvSpPr txBox="1"/>
          <p:nvPr/>
        </p:nvSpPr>
        <p:spPr>
          <a:xfrm>
            <a:off x="9881372" y="2011680"/>
            <a:ext cx="91440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5</a:t>
            </a:r>
            <a:endParaRPr lang="en-US" sz="4800" dirty="0"/>
          </a:p>
        </p:txBody>
      </p:sp>
      <p:sp>
        <p:nvSpPr>
          <p:cNvPr id="23" name="Text 20"/>
          <p:cNvSpPr txBox="1"/>
          <p:nvPr/>
        </p:nvSpPr>
        <p:spPr>
          <a:xfrm>
            <a:off x="9881372" y="2971800"/>
            <a:ext cx="1578803" cy="1554480"/>
          </a:xfrm>
          <a:prstGeom prst="rect">
            <a:avLst/>
          </a:prstGeom>
          <a:noFill/>
          <a:ln/>
        </p:spPr>
        <p:txBody>
          <a:bodyPr wrap="square" lIns="0" tIns="0" rIns="0" bIns="0" rtlCol="0" anchor="t"/>
          <a:lstStyle/>
          <a:p>
            <a:pPr indent="0" marL="0">
              <a:buNone/>
            </a:pPr>
            <a:r>
              <a:rPr lang="en-US" sz="1900" b="1" dirty="0">
                <a:solidFill>
                  <a:schemeClr val="tx1"/>
                </a:solidFill>
              </a:rPr>
              <a:t>Đánh giá và kết luận</a:t>
            </a:r>
            <a:endParaRPr lang="en-US" sz="1900" dirty="0"/>
          </a:p>
        </p:txBody>
      </p:sp>
      <p:sp>
        <p:nvSpPr>
          <p:cNvPr id="24" name="Text 21"/>
          <p:cNvSpPr txBox="1"/>
          <p:nvPr/>
        </p:nvSpPr>
        <p:spPr>
          <a:xfrm>
            <a:off x="9881372" y="4846320"/>
            <a:ext cx="1578803" cy="320040"/>
          </a:xfrm>
          <a:prstGeom prst="rect">
            <a:avLst/>
          </a:prstGeom>
          <a:noFill/>
          <a:ln/>
        </p:spPr>
        <p:txBody>
          <a:bodyPr wrap="square" lIns="0" tIns="0" rIns="0" bIns="0" rtlCol="0" anchor="t"/>
          <a:lstStyle/>
          <a:p>
            <a:pPr indent="0" marL="0">
              <a:buNone/>
            </a:pPr>
            <a:r>
              <a:rPr lang="en-US" sz="1300" dirty="0">
                <a:solidFill>
                  <a:schemeClr val="tx2"/>
                </a:solidFill>
              </a:rPr>
              <a:t>Triết</a:t>
            </a:r>
            <a:endParaRPr lang="en-US" sz="1300" dirty="0"/>
          </a:p>
        </p:txBody>
      </p:sp>
      <p:sp>
        <p:nvSpPr>
          <p:cNvPr id="25" name="Text 22"/>
          <p:cNvSpPr txBox="1"/>
          <p:nvPr/>
        </p:nvSpPr>
        <p:spPr>
          <a:xfrm>
            <a:off x="548640" y="5669280"/>
            <a:ext cx="11094415" cy="365760"/>
          </a:xfrm>
          <a:prstGeom prst="rect">
            <a:avLst/>
          </a:prstGeom>
          <a:noFill/>
          <a:ln/>
        </p:spPr>
        <p:txBody>
          <a:bodyPr wrap="square" lIns="0" tIns="0" rIns="0" bIns="0" rtlCol="0" anchor="t"/>
          <a:lstStyle/>
          <a:p>
            <a:pPr indent="0" marL="0">
              <a:buNone/>
            </a:pPr>
            <a:r>
              <a:rPr lang="en-US" sz="1500" i="1" dirty="0">
                <a:solidFill>
                  <a:schemeClr val="tx2"/>
                </a:solidFill>
              </a:rPr>
              <a:t>Trọng tâm: phần 3 (lý thuyết) và phần 4 (ứng dụng + demo trên SQL Server)</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1 · TỔNG QUAN CSDL PHÂN TÁN</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CSDL phân tán là gì?</a:t>
            </a:r>
            <a:endParaRPr lang="en-US" sz="3200" dirty="0"/>
          </a:p>
        </p:txBody>
      </p:sp>
      <p:sp>
        <p:nvSpPr>
          <p:cNvPr id="5" name="icon-nen"/>
          <p:cNvSpPr/>
          <p:nvPr/>
        </p:nvSpPr>
        <p:spPr>
          <a:xfrm>
            <a:off x="548640" y="1645920"/>
            <a:ext cx="566928" cy="566928"/>
          </a:xfrm>
          <a:prstGeom prst="ellipse">
            <a:avLst/>
          </a:prstGeom>
          <a:solidFill>
            <a:schemeClr val="tx1"/>
          </a:solidFill>
          <a:ln w="12700">
            <a:solidFill>
              <a:schemeClr val="tx1"/>
            </a:solidFill>
            <a:prstDash val="solid"/>
          </a:ln>
        </p:spPr>
      </p:sp>
      <p:pic>
        <p:nvPicPr>
          <p:cNvPr id="6" name="Image 0" descr="FaDatabase">    </p:cNvPr>
          <p:cNvPicPr>
            <a:picLocks noChangeAspect="1"/>
          </p:cNvPicPr>
          <p:nvPr/>
        </p:nvPicPr>
        <p:blipFill>
          <a:blip r:embed="rId1"/>
          <a:stretch>
            <a:fillRect/>
          </a:stretch>
        </p:blipFill>
        <p:spPr>
          <a:xfrm>
            <a:off x="690372" y="1787652"/>
            <a:ext cx="283464" cy="283464"/>
          </a:xfrm>
          <a:prstGeom prst="rect">
            <a:avLst/>
          </a:prstGeom>
        </p:spPr>
      </p:pic>
      <p:sp>
        <p:nvSpPr>
          <p:cNvPr id="7" name="Text 3"/>
          <p:cNvSpPr txBox="1"/>
          <p:nvPr/>
        </p:nvSpPr>
        <p:spPr>
          <a:xfrm>
            <a:off x="1325880" y="1609344"/>
            <a:ext cx="4937760" cy="10058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Thống nhất về logic, phân tán về vật lý</a:t>
            </a:r>
            <a:endParaRPr lang="en-US" sz="1600" dirty="0"/>
          </a:p>
          <a:p>
            <a:pPr indent="0" marL="0">
              <a:spcAft>
                <a:spcPts val="800"/>
              </a:spcAft>
              <a:buNone/>
            </a:pPr>
            <a:r>
              <a:rPr lang="en-US" sz="1500" dirty="0">
                <a:solidFill>
                  <a:schemeClr val="tx2"/>
                </a:solidFill>
              </a:rPr>
              <a:t>Dữ liệu nằm ở nhiều site, nối với nhau qua mạng</a:t>
            </a:r>
            <a:endParaRPr lang="en-US" sz="1600" dirty="0"/>
          </a:p>
        </p:txBody>
      </p:sp>
      <p:sp>
        <p:nvSpPr>
          <p:cNvPr id="8" name="icon-nen"/>
          <p:cNvSpPr/>
          <p:nvPr/>
        </p:nvSpPr>
        <p:spPr>
          <a:xfrm>
            <a:off x="548640" y="2761488"/>
            <a:ext cx="566928" cy="566928"/>
          </a:xfrm>
          <a:prstGeom prst="ellipse">
            <a:avLst/>
          </a:prstGeom>
          <a:solidFill>
            <a:schemeClr val="tx1"/>
          </a:solidFill>
          <a:ln w="12700">
            <a:solidFill>
              <a:schemeClr val="tx1"/>
            </a:solidFill>
            <a:prstDash val="solid"/>
          </a:ln>
        </p:spPr>
      </p:sp>
      <p:pic>
        <p:nvPicPr>
          <p:cNvPr id="9" name="Image 1" descr="FaEyeSlash">    </p:cNvPr>
          <p:cNvPicPr>
            <a:picLocks noChangeAspect="1"/>
          </p:cNvPicPr>
          <p:nvPr/>
        </p:nvPicPr>
        <p:blipFill>
          <a:blip r:embed="rId2"/>
          <a:stretch>
            <a:fillRect/>
          </a:stretch>
        </p:blipFill>
        <p:spPr>
          <a:xfrm>
            <a:off x="690372" y="2903220"/>
            <a:ext cx="283464" cy="283464"/>
          </a:xfrm>
          <a:prstGeom prst="rect">
            <a:avLst/>
          </a:prstGeom>
        </p:spPr>
      </p:pic>
      <p:sp>
        <p:nvSpPr>
          <p:cNvPr id="10" name="Text 5"/>
          <p:cNvSpPr txBox="1"/>
          <p:nvPr/>
        </p:nvSpPr>
        <p:spPr>
          <a:xfrm>
            <a:off x="1325880" y="2724912"/>
            <a:ext cx="4937760" cy="10058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DDBMS che giấu sự phân tán</a:t>
            </a:r>
            <a:endParaRPr lang="en-US" sz="1600" dirty="0"/>
          </a:p>
          <a:p>
            <a:pPr indent="0" marL="0">
              <a:spcAft>
                <a:spcPts val="800"/>
              </a:spcAft>
              <a:buNone/>
            </a:pPr>
            <a:r>
              <a:rPr lang="en-US" sz="1500" dirty="0">
                <a:solidFill>
                  <a:schemeClr val="tx2"/>
                </a:solidFill>
              </a:rPr>
              <a:t>Người dùng thấy như một CSDL duy nhất (tính trong suốt)</a:t>
            </a:r>
            <a:endParaRPr lang="en-US" sz="1600" dirty="0"/>
          </a:p>
        </p:txBody>
      </p:sp>
      <p:sp>
        <p:nvSpPr>
          <p:cNvPr id="11" name="icon-nen"/>
          <p:cNvSpPr/>
          <p:nvPr/>
        </p:nvSpPr>
        <p:spPr>
          <a:xfrm>
            <a:off x="548640" y="3877056"/>
            <a:ext cx="566928" cy="566928"/>
          </a:xfrm>
          <a:prstGeom prst="ellipse">
            <a:avLst/>
          </a:prstGeom>
          <a:solidFill>
            <a:schemeClr val="tx1"/>
          </a:solidFill>
          <a:ln w="12700">
            <a:solidFill>
              <a:schemeClr val="tx1"/>
            </a:solidFill>
            <a:prstDash val="solid"/>
          </a:ln>
        </p:spPr>
      </p:sp>
      <p:pic>
        <p:nvPicPr>
          <p:cNvPr id="12" name="Image 2" descr="FaLocationDot">    </p:cNvPr>
          <p:cNvPicPr>
            <a:picLocks noChangeAspect="1"/>
          </p:cNvPicPr>
          <p:nvPr/>
        </p:nvPicPr>
        <p:blipFill>
          <a:blip r:embed="rId3"/>
          <a:stretch>
            <a:fillRect/>
          </a:stretch>
        </p:blipFill>
        <p:spPr>
          <a:xfrm>
            <a:off x="690372" y="4018788"/>
            <a:ext cx="283464" cy="283464"/>
          </a:xfrm>
          <a:prstGeom prst="rect">
            <a:avLst/>
          </a:prstGeom>
        </p:spPr>
      </p:pic>
      <p:sp>
        <p:nvSpPr>
          <p:cNvPr id="13" name="Text 7"/>
          <p:cNvSpPr txBox="1"/>
          <p:nvPr/>
        </p:nvSpPr>
        <p:spPr>
          <a:xfrm>
            <a:off x="1325880" y="3840480"/>
            <a:ext cx="4937760" cy="10058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Lợi ích</a:t>
            </a:r>
            <a:endParaRPr lang="en-US" sz="1600" dirty="0"/>
          </a:p>
          <a:p>
            <a:pPr indent="0" marL="0">
              <a:spcAft>
                <a:spcPts val="800"/>
              </a:spcAft>
              <a:buNone/>
            </a:pPr>
            <a:r>
              <a:rPr lang="en-US" sz="1500" dirty="0">
                <a:solidFill>
                  <a:schemeClr val="tx2"/>
                </a:solidFill>
              </a:rPr>
              <a:t>Dữ liệu gần nơi sử dụng, tăng độ sẵn sàng, dễ mở rộng, hợp với tổ chức nhiều chi nhánh</a:t>
            </a:r>
            <a:endParaRPr lang="en-US" sz="1600" dirty="0"/>
          </a:p>
        </p:txBody>
      </p:sp>
      <p:sp>
        <p:nvSpPr>
          <p:cNvPr id="14" name="icon-nen"/>
          <p:cNvSpPr/>
          <p:nvPr/>
        </p:nvSpPr>
        <p:spPr>
          <a:xfrm>
            <a:off x="548640" y="4992624"/>
            <a:ext cx="566928" cy="566928"/>
          </a:xfrm>
          <a:prstGeom prst="ellipse">
            <a:avLst/>
          </a:prstGeom>
          <a:solidFill>
            <a:schemeClr val="accent1"/>
          </a:solidFill>
          <a:ln w="12700">
            <a:solidFill>
              <a:schemeClr val="accent1"/>
            </a:solidFill>
            <a:prstDash val="solid"/>
          </a:ln>
        </p:spPr>
      </p:sp>
      <p:pic>
        <p:nvPicPr>
          <p:cNvPr id="15" name="Image 3" descr="FaPuzzlePiece">    </p:cNvPr>
          <p:cNvPicPr>
            <a:picLocks noChangeAspect="1"/>
          </p:cNvPicPr>
          <p:nvPr/>
        </p:nvPicPr>
        <p:blipFill>
          <a:blip r:embed="rId4"/>
          <a:stretch>
            <a:fillRect/>
          </a:stretch>
        </p:blipFill>
        <p:spPr>
          <a:xfrm>
            <a:off x="690372" y="5134356"/>
            <a:ext cx="283464" cy="283464"/>
          </a:xfrm>
          <a:prstGeom prst="rect">
            <a:avLst/>
          </a:prstGeom>
        </p:spPr>
      </p:pic>
      <p:sp>
        <p:nvSpPr>
          <p:cNvPr id="16" name="Text 9"/>
          <p:cNvSpPr txBox="1"/>
          <p:nvPr/>
        </p:nvSpPr>
        <p:spPr>
          <a:xfrm>
            <a:off x="1325880" y="4956048"/>
            <a:ext cx="4937760" cy="10058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Hai bài toán thiết kế</a:t>
            </a:r>
            <a:endParaRPr lang="en-US" sz="1600" dirty="0"/>
          </a:p>
          <a:p>
            <a:pPr indent="0" marL="0">
              <a:spcAft>
                <a:spcPts val="800"/>
              </a:spcAft>
              <a:buNone/>
            </a:pPr>
            <a:r>
              <a:rPr lang="en-US" sz="1500" b="1" dirty="0">
                <a:solidFill>
                  <a:schemeClr val="tx2"/>
                </a:solidFill>
              </a:rPr>
              <a:t>Phân mảnh</a:t>
            </a:r>
            <a:pPr indent="0" marL="0">
              <a:buNone/>
            </a:pPr>
            <a:r>
              <a:rPr lang="en-US" sz="1500" dirty="0">
                <a:solidFill>
                  <a:schemeClr val="tx2"/>
                </a:solidFill>
              </a:rPr>
              <a:t>: chia dữ liệu thế nào? · </a:t>
            </a:r>
            <a:pPr indent="0" marL="0">
              <a:buNone/>
            </a:pPr>
            <a:r>
              <a:rPr lang="en-US" sz="1500" b="1" dirty="0">
                <a:solidFill>
                  <a:schemeClr val="tx2"/>
                </a:solidFill>
              </a:rPr>
              <a:t>Cấp phát</a:t>
            </a:r>
            <a:pPr indent="0" marL="0">
              <a:buNone/>
            </a:pPr>
            <a:r>
              <a:rPr lang="en-US" sz="1500" dirty="0">
                <a:solidFill>
                  <a:schemeClr val="tx2"/>
                </a:solidFill>
              </a:rPr>
              <a:t>: đặt mảnh ở đâu?</a:t>
            </a:r>
            <a:endParaRPr lang="en-US" sz="1600" dirty="0"/>
          </a:p>
        </p:txBody>
      </p:sp>
      <p:pic>
        <p:nvPicPr>
          <p:cNvPr id="17" name="Image 4" descr="Kiến trúc CSDL phân tán gồm 4 site nối qua mạng">    </p:cNvPr>
          <p:cNvPicPr>
            <a:picLocks noChangeAspect="1"/>
          </p:cNvPicPr>
          <p:nvPr/>
        </p:nvPicPr>
        <p:blipFill>
          <a:blip r:embed="rId5"/>
          <a:stretch>
            <a:fillRect/>
          </a:stretch>
        </p:blipFill>
        <p:spPr>
          <a:xfrm>
            <a:off x="6446520" y="1554480"/>
            <a:ext cx="5212080" cy="3359989"/>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2 · PHÂN MẢNH DỮ LIỆU</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Vì sao phải phân mảnh?</a:t>
            </a:r>
            <a:endParaRPr lang="en-US" sz="3200" dirty="0"/>
          </a:p>
        </p:txBody>
      </p:sp>
      <p:sp>
        <p:nvSpPr>
          <p:cNvPr id="5" name="Text 2"/>
          <p:cNvSpPr txBox="1"/>
          <p:nvPr/>
        </p:nvSpPr>
        <p:spPr>
          <a:xfrm>
            <a:off x="548640" y="1554480"/>
            <a:ext cx="11094415" cy="822960"/>
          </a:xfrm>
          <a:prstGeom prst="rect">
            <a:avLst/>
          </a:prstGeom>
          <a:noFill/>
          <a:ln/>
        </p:spPr>
        <p:txBody>
          <a:bodyPr wrap="square" lIns="0" tIns="0" rIns="0" bIns="0" rtlCol="0" anchor="t"/>
          <a:lstStyle/>
          <a:p>
            <a:pPr indent="0" marL="0">
              <a:spcAft>
                <a:spcPts val="400"/>
              </a:spcAft>
              <a:buNone/>
            </a:pPr>
            <a:r>
              <a:rPr lang="en-US" sz="1700" dirty="0">
                <a:solidFill>
                  <a:schemeClr val="tx1"/>
                </a:solidFill>
              </a:rPr>
              <a:t>Ứng dụng thường chỉ dùng </a:t>
            </a:r>
            <a:pPr indent="0" marL="0">
              <a:buNone/>
            </a:pPr>
            <a:r>
              <a:rPr lang="en-US" sz="1700" b="1" dirty="0">
                <a:solidFill>
                  <a:schemeClr val="tx1"/>
                </a:solidFill>
              </a:rPr>
              <a:t>một phần</a:t>
            </a:r>
            <a:pPr indent="0" marL="0">
              <a:buNone/>
            </a:pPr>
            <a:r>
              <a:rPr lang="en-US" sz="1700" dirty="0">
                <a:solidFill>
                  <a:schemeClr val="tx1"/>
                </a:solidFill>
              </a:rPr>
              <a:t> của bảng: một số dòng, một số cột.</a:t>
            </a:r>
            <a:endParaRPr lang="en-US" sz="1600" dirty="0"/>
          </a:p>
          <a:p>
            <a:pPr indent="0" marL="0">
              <a:spcAft>
                <a:spcPts val="800"/>
              </a:spcAft>
              <a:buNone/>
            </a:pPr>
            <a:r>
              <a:rPr lang="en-US" sz="1700" dirty="0">
                <a:solidFill>
                  <a:schemeClr val="tx2"/>
                </a:solidFill>
              </a:rPr>
              <a:t>Đặt nguyên bảng ở một nơi thì truy cập từ xa nhiều; nhân bản nguyên bảng thì tốn chỗ và khó cập nhật.</a:t>
            </a:r>
            <a:endParaRPr lang="en-US" sz="1600" dirty="0"/>
          </a:p>
        </p:txBody>
      </p:sp>
      <p:sp>
        <p:nvSpPr>
          <p:cNvPr id="6" name="loi-ich"/>
          <p:cNvSpPr/>
          <p:nvPr/>
        </p:nvSpPr>
        <p:spPr>
          <a:xfrm>
            <a:off x="548640" y="2606040"/>
            <a:ext cx="3515258" cy="868680"/>
          </a:xfrm>
          <a:prstGeom prst="roundRect">
            <a:avLst>
              <a:gd name="adj" fmla="val 12632"/>
            </a:avLst>
          </a:prstGeom>
          <a:solidFill>
            <a:schemeClr val="bg2"/>
          </a:solidFill>
          <a:ln w="12700">
            <a:solidFill>
              <a:schemeClr val="bg2"/>
            </a:solidFill>
            <a:prstDash val="solid"/>
          </a:ln>
        </p:spPr>
      </p:sp>
      <p:sp>
        <p:nvSpPr>
          <p:cNvPr id="7" name="icon-nen"/>
          <p:cNvSpPr/>
          <p:nvPr/>
        </p:nvSpPr>
        <p:spPr>
          <a:xfrm>
            <a:off x="749808" y="2743200"/>
            <a:ext cx="594360" cy="594360"/>
          </a:xfrm>
          <a:prstGeom prst="ellipse">
            <a:avLst/>
          </a:prstGeom>
          <a:solidFill>
            <a:schemeClr val="tx1"/>
          </a:solidFill>
          <a:ln w="12700">
            <a:solidFill>
              <a:schemeClr val="tx1"/>
            </a:solidFill>
            <a:prstDash val="solid"/>
          </a:ln>
        </p:spPr>
      </p:sp>
      <p:pic>
        <p:nvPicPr>
          <p:cNvPr id="8" name="Image 0" descr="FaLocationDot">    </p:cNvPr>
          <p:cNvPicPr>
            <a:picLocks noChangeAspect="1"/>
          </p:cNvPicPr>
          <p:nvPr/>
        </p:nvPicPr>
        <p:blipFill>
          <a:blip r:embed="rId1"/>
          <a:stretch>
            <a:fillRect/>
          </a:stretch>
        </p:blipFill>
        <p:spPr>
          <a:xfrm>
            <a:off x="898398" y="2891790"/>
            <a:ext cx="297180" cy="297180"/>
          </a:xfrm>
          <a:prstGeom prst="rect">
            <a:avLst/>
          </a:prstGeom>
        </p:spPr>
      </p:pic>
      <p:sp>
        <p:nvSpPr>
          <p:cNvPr id="9" name="Text 5"/>
          <p:cNvSpPr txBox="1"/>
          <p:nvPr/>
        </p:nvSpPr>
        <p:spPr>
          <a:xfrm>
            <a:off x="1508760" y="2606040"/>
            <a:ext cx="2417978" cy="868680"/>
          </a:xfrm>
          <a:prstGeom prst="rect">
            <a:avLst/>
          </a:prstGeom>
          <a:noFill/>
          <a:ln/>
        </p:spPr>
        <p:txBody>
          <a:bodyPr wrap="square" lIns="0" tIns="0" rIns="0" bIns="0" rtlCol="0" anchor="ctr"/>
          <a:lstStyle/>
          <a:p>
            <a:pPr indent="0" marL="0">
              <a:buNone/>
            </a:pPr>
            <a:r>
              <a:rPr lang="en-US" sz="1800" b="1" dirty="0">
                <a:solidFill>
                  <a:schemeClr val="tx1"/>
                </a:solidFill>
              </a:rPr>
              <a:t>Xử lý cục bộ</a:t>
            </a:r>
            <a:endParaRPr lang="en-US" sz="1800" dirty="0"/>
          </a:p>
        </p:txBody>
      </p:sp>
      <p:sp>
        <p:nvSpPr>
          <p:cNvPr id="10" name="loi-ich"/>
          <p:cNvSpPr/>
          <p:nvPr/>
        </p:nvSpPr>
        <p:spPr>
          <a:xfrm>
            <a:off x="4338218" y="2606040"/>
            <a:ext cx="3515258" cy="868680"/>
          </a:xfrm>
          <a:prstGeom prst="roundRect">
            <a:avLst>
              <a:gd name="adj" fmla="val 12632"/>
            </a:avLst>
          </a:prstGeom>
          <a:solidFill>
            <a:schemeClr val="bg2"/>
          </a:solidFill>
          <a:ln w="12700">
            <a:solidFill>
              <a:schemeClr val="bg2"/>
            </a:solidFill>
            <a:prstDash val="solid"/>
          </a:ln>
        </p:spPr>
      </p:sp>
      <p:sp>
        <p:nvSpPr>
          <p:cNvPr id="11" name="icon-nen"/>
          <p:cNvSpPr/>
          <p:nvPr/>
        </p:nvSpPr>
        <p:spPr>
          <a:xfrm>
            <a:off x="4539386" y="2743200"/>
            <a:ext cx="594360" cy="594360"/>
          </a:xfrm>
          <a:prstGeom prst="ellipse">
            <a:avLst/>
          </a:prstGeom>
          <a:solidFill>
            <a:schemeClr val="tx1"/>
          </a:solidFill>
          <a:ln w="12700">
            <a:solidFill>
              <a:schemeClr val="tx1"/>
            </a:solidFill>
            <a:prstDash val="solid"/>
          </a:ln>
        </p:spPr>
      </p:sp>
      <p:pic>
        <p:nvPicPr>
          <p:cNvPr id="12" name="Image 1" descr="FaServer">    </p:cNvPr>
          <p:cNvPicPr>
            <a:picLocks noChangeAspect="1"/>
          </p:cNvPicPr>
          <p:nvPr/>
        </p:nvPicPr>
        <p:blipFill>
          <a:blip r:embed="rId2"/>
          <a:stretch>
            <a:fillRect/>
          </a:stretch>
        </p:blipFill>
        <p:spPr>
          <a:xfrm>
            <a:off x="4687976" y="2891790"/>
            <a:ext cx="297180" cy="297180"/>
          </a:xfrm>
          <a:prstGeom prst="rect">
            <a:avLst/>
          </a:prstGeom>
        </p:spPr>
      </p:pic>
      <p:sp>
        <p:nvSpPr>
          <p:cNvPr id="13" name="Text 8"/>
          <p:cNvSpPr txBox="1"/>
          <p:nvPr/>
        </p:nvSpPr>
        <p:spPr>
          <a:xfrm>
            <a:off x="5298338" y="2606040"/>
            <a:ext cx="2417978" cy="868680"/>
          </a:xfrm>
          <a:prstGeom prst="rect">
            <a:avLst/>
          </a:prstGeom>
          <a:noFill/>
          <a:ln/>
        </p:spPr>
        <p:txBody>
          <a:bodyPr wrap="square" lIns="0" tIns="0" rIns="0" bIns="0" rtlCol="0" anchor="ctr"/>
          <a:lstStyle/>
          <a:p>
            <a:pPr indent="0" marL="0">
              <a:buNone/>
            </a:pPr>
            <a:r>
              <a:rPr lang="en-US" sz="1800" b="1" dirty="0">
                <a:solidFill>
                  <a:schemeClr val="tx1"/>
                </a:solidFill>
              </a:rPr>
              <a:t>Xử lý song song</a:t>
            </a:r>
            <a:endParaRPr lang="en-US" sz="1800" dirty="0"/>
          </a:p>
        </p:txBody>
      </p:sp>
      <p:sp>
        <p:nvSpPr>
          <p:cNvPr id="14" name="loi-ich"/>
          <p:cNvSpPr/>
          <p:nvPr/>
        </p:nvSpPr>
        <p:spPr>
          <a:xfrm>
            <a:off x="8127797" y="2606040"/>
            <a:ext cx="3515258" cy="868680"/>
          </a:xfrm>
          <a:prstGeom prst="roundRect">
            <a:avLst>
              <a:gd name="adj" fmla="val 12632"/>
            </a:avLst>
          </a:prstGeom>
          <a:solidFill>
            <a:schemeClr val="bg2"/>
          </a:solidFill>
          <a:ln w="12700">
            <a:solidFill>
              <a:schemeClr val="bg2"/>
            </a:solidFill>
            <a:prstDash val="solid"/>
          </a:ln>
        </p:spPr>
      </p:sp>
      <p:sp>
        <p:nvSpPr>
          <p:cNvPr id="15" name="icon-nen"/>
          <p:cNvSpPr/>
          <p:nvPr/>
        </p:nvSpPr>
        <p:spPr>
          <a:xfrm>
            <a:off x="8328965" y="2743200"/>
            <a:ext cx="594360" cy="594360"/>
          </a:xfrm>
          <a:prstGeom prst="ellipse">
            <a:avLst/>
          </a:prstGeom>
          <a:solidFill>
            <a:schemeClr val="tx1"/>
          </a:solidFill>
          <a:ln w="12700">
            <a:solidFill>
              <a:schemeClr val="tx1"/>
            </a:solidFill>
            <a:prstDash val="solid"/>
          </a:ln>
        </p:spPr>
      </p:sp>
      <p:pic>
        <p:nvPicPr>
          <p:cNvPr id="16" name="Image 2" descr="FaShieldHalved">    </p:cNvPr>
          <p:cNvPicPr>
            <a:picLocks noChangeAspect="1"/>
          </p:cNvPicPr>
          <p:nvPr/>
        </p:nvPicPr>
        <p:blipFill>
          <a:blip r:embed="rId3"/>
          <a:stretch>
            <a:fillRect/>
          </a:stretch>
        </p:blipFill>
        <p:spPr>
          <a:xfrm>
            <a:off x="8477555" y="2891790"/>
            <a:ext cx="297180" cy="297180"/>
          </a:xfrm>
          <a:prstGeom prst="rect">
            <a:avLst/>
          </a:prstGeom>
        </p:spPr>
      </p:pic>
      <p:sp>
        <p:nvSpPr>
          <p:cNvPr id="17" name="Text 11"/>
          <p:cNvSpPr txBox="1"/>
          <p:nvPr/>
        </p:nvSpPr>
        <p:spPr>
          <a:xfrm>
            <a:off x="9087917" y="2606040"/>
            <a:ext cx="2417978" cy="868680"/>
          </a:xfrm>
          <a:prstGeom prst="rect">
            <a:avLst/>
          </a:prstGeom>
          <a:noFill/>
          <a:ln/>
        </p:spPr>
        <p:txBody>
          <a:bodyPr wrap="square" lIns="0" tIns="0" rIns="0" bIns="0" rtlCol="0" anchor="ctr"/>
          <a:lstStyle/>
          <a:p>
            <a:pPr indent="0" marL="0">
              <a:buNone/>
            </a:pPr>
            <a:r>
              <a:rPr lang="en-US" sz="1800" b="1" dirty="0">
                <a:solidFill>
                  <a:schemeClr val="tx1"/>
                </a:solidFill>
              </a:rPr>
              <a:t>Bảo mật dữ liệu nhạy cảm</a:t>
            </a:r>
            <a:endParaRPr lang="en-US" sz="1800" dirty="0"/>
          </a:p>
        </p:txBody>
      </p:sp>
      <p:sp>
        <p:nvSpPr>
          <p:cNvPr id="18" name="Text 12"/>
          <p:cNvSpPr txBox="1"/>
          <p:nvPr/>
        </p:nvSpPr>
        <p:spPr>
          <a:xfrm>
            <a:off x="548640" y="3749040"/>
            <a:ext cx="5486400"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3 QUY TẮC ĐÚNG ĐẮN</a:t>
            </a:r>
            <a:endParaRPr lang="en-US" sz="1400" dirty="0"/>
          </a:p>
        </p:txBody>
      </p:sp>
      <p:sp>
        <p:nvSpPr>
          <p:cNvPr id="19" name="quy-tac"/>
          <p:cNvSpPr/>
          <p:nvPr/>
        </p:nvSpPr>
        <p:spPr>
          <a:xfrm>
            <a:off x="548640" y="4160520"/>
            <a:ext cx="3515258" cy="1600200"/>
          </a:xfrm>
          <a:prstGeom prst="roundRect">
            <a:avLst>
              <a:gd name="adj" fmla="val 6857"/>
            </a:avLst>
          </a:prstGeom>
          <a:solidFill>
            <a:srgbClr val="FEF3C7"/>
          </a:solidFill>
          <a:ln w="12700">
            <a:solidFill>
              <a:srgbClr val="FEF3C7"/>
            </a:solidFill>
            <a:prstDash val="solid"/>
          </a:ln>
        </p:spPr>
      </p:sp>
      <p:sp>
        <p:nvSpPr>
          <p:cNvPr id="20" name="Text 14"/>
          <p:cNvSpPr txBox="1"/>
          <p:nvPr/>
        </p:nvSpPr>
        <p:spPr>
          <a:xfrm>
            <a:off x="822960" y="4389120"/>
            <a:ext cx="2966618" cy="1508760"/>
          </a:xfrm>
          <a:prstGeom prst="rect">
            <a:avLst/>
          </a:prstGeom>
          <a:noFill/>
          <a:ln/>
        </p:spPr>
        <p:txBody>
          <a:bodyPr wrap="square" lIns="0" tIns="0" rIns="0" bIns="0" rtlCol="0" anchor="t"/>
          <a:lstStyle/>
          <a:p>
            <a:pPr indent="0" marL="0">
              <a:spcAft>
                <a:spcPts val="600"/>
              </a:spcAft>
              <a:buNone/>
            </a:pPr>
            <a:r>
              <a:rPr lang="en-US" sz="2100" b="1" dirty="0">
                <a:solidFill>
                  <a:schemeClr val="tx1"/>
                </a:solidFill>
              </a:rPr>
              <a:t>Đầy đủ</a:t>
            </a:r>
            <a:endParaRPr lang="en-US" sz="1600" dirty="0"/>
          </a:p>
          <a:p>
            <a:pPr indent="0" marL="0">
              <a:spcAft>
                <a:spcPts val="800"/>
              </a:spcAft>
              <a:buNone/>
            </a:pPr>
            <a:r>
              <a:rPr lang="en-US" sz="1600" dirty="0">
                <a:solidFill>
                  <a:schemeClr val="tx1"/>
                </a:solidFill>
              </a:rPr>
              <a:t>Mọi dữ liệu của R đều nằm trong ít nhất một mảnh</a:t>
            </a:r>
            <a:endParaRPr lang="en-US" sz="1600" dirty="0"/>
          </a:p>
        </p:txBody>
      </p:sp>
      <p:sp>
        <p:nvSpPr>
          <p:cNvPr id="21" name="quy-tac"/>
          <p:cNvSpPr/>
          <p:nvPr/>
        </p:nvSpPr>
        <p:spPr>
          <a:xfrm>
            <a:off x="4338218" y="4160520"/>
            <a:ext cx="3515258" cy="1600200"/>
          </a:xfrm>
          <a:prstGeom prst="roundRect">
            <a:avLst>
              <a:gd name="adj" fmla="val 6857"/>
            </a:avLst>
          </a:prstGeom>
          <a:solidFill>
            <a:srgbClr val="EDE9FE"/>
          </a:solidFill>
          <a:ln w="12700">
            <a:solidFill>
              <a:srgbClr val="EDE9FE"/>
            </a:solidFill>
            <a:prstDash val="solid"/>
          </a:ln>
        </p:spPr>
      </p:sp>
      <p:sp>
        <p:nvSpPr>
          <p:cNvPr id="22" name="Text 16"/>
          <p:cNvSpPr txBox="1"/>
          <p:nvPr/>
        </p:nvSpPr>
        <p:spPr>
          <a:xfrm>
            <a:off x="4612538" y="4389120"/>
            <a:ext cx="2966618" cy="1508760"/>
          </a:xfrm>
          <a:prstGeom prst="rect">
            <a:avLst/>
          </a:prstGeom>
          <a:noFill/>
          <a:ln/>
        </p:spPr>
        <p:txBody>
          <a:bodyPr wrap="square" lIns="0" tIns="0" rIns="0" bIns="0" rtlCol="0" anchor="t"/>
          <a:lstStyle/>
          <a:p>
            <a:pPr indent="0" marL="0">
              <a:spcAft>
                <a:spcPts val="600"/>
              </a:spcAft>
              <a:buNone/>
            </a:pPr>
            <a:r>
              <a:rPr lang="en-US" sz="2100" b="1" dirty="0">
                <a:solidFill>
                  <a:schemeClr val="tx1"/>
                </a:solidFill>
              </a:rPr>
              <a:t>Tái thiết</a:t>
            </a:r>
            <a:endParaRPr lang="en-US" sz="1600" dirty="0"/>
          </a:p>
          <a:p>
            <a:pPr indent="0" marL="0">
              <a:spcAft>
                <a:spcPts val="800"/>
              </a:spcAft>
              <a:buNone/>
            </a:pPr>
            <a:r>
              <a:rPr lang="en-US" sz="1600" dirty="0">
                <a:solidFill>
                  <a:schemeClr val="tx1"/>
                </a:solidFill>
              </a:rPr>
              <a:t>Ghép các mảnh lại được đúng R</a:t>
            </a:r>
            <a:endParaRPr lang="en-US" sz="1600" dirty="0"/>
          </a:p>
        </p:txBody>
      </p:sp>
      <p:sp>
        <p:nvSpPr>
          <p:cNvPr id="23" name="quy-tac"/>
          <p:cNvSpPr/>
          <p:nvPr/>
        </p:nvSpPr>
        <p:spPr>
          <a:xfrm>
            <a:off x="8127797" y="4160520"/>
            <a:ext cx="3515258" cy="1600200"/>
          </a:xfrm>
          <a:prstGeom prst="roundRect">
            <a:avLst>
              <a:gd name="adj" fmla="val 6857"/>
            </a:avLst>
          </a:prstGeom>
          <a:solidFill>
            <a:srgbClr val="E5E7EB"/>
          </a:solidFill>
          <a:ln w="12700">
            <a:solidFill>
              <a:srgbClr val="E5E7EB"/>
            </a:solidFill>
            <a:prstDash val="solid"/>
          </a:ln>
        </p:spPr>
      </p:sp>
      <p:sp>
        <p:nvSpPr>
          <p:cNvPr id="24" name="Text 18"/>
          <p:cNvSpPr txBox="1"/>
          <p:nvPr/>
        </p:nvSpPr>
        <p:spPr>
          <a:xfrm>
            <a:off x="8402117" y="4389120"/>
            <a:ext cx="2966618" cy="1508760"/>
          </a:xfrm>
          <a:prstGeom prst="rect">
            <a:avLst/>
          </a:prstGeom>
          <a:noFill/>
          <a:ln/>
        </p:spPr>
        <p:txBody>
          <a:bodyPr wrap="square" lIns="0" tIns="0" rIns="0" bIns="0" rtlCol="0" anchor="t"/>
          <a:lstStyle/>
          <a:p>
            <a:pPr indent="0" marL="0">
              <a:spcAft>
                <a:spcPts val="600"/>
              </a:spcAft>
              <a:buNone/>
            </a:pPr>
            <a:r>
              <a:rPr lang="en-US" sz="2100" b="1" dirty="0">
                <a:solidFill>
                  <a:schemeClr val="tx1"/>
                </a:solidFill>
              </a:rPr>
              <a:t>Rời nhau</a:t>
            </a:r>
            <a:endParaRPr lang="en-US" sz="1600" dirty="0"/>
          </a:p>
          <a:p>
            <a:pPr indent="0" marL="0">
              <a:spcAft>
                <a:spcPts val="800"/>
              </a:spcAft>
              <a:buNone/>
            </a:pPr>
            <a:r>
              <a:rPr lang="en-US" sz="1600" dirty="0">
                <a:solidFill>
                  <a:schemeClr val="tx1"/>
                </a:solidFill>
              </a:rPr>
              <a:t>Một dữ liệu không nằm ở hai mảnh (phân mảnh dọc được lặp lại khóa)</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2 · PHÂN MẢNH DỮ LIỆU</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Phân mảnh ngang</a:t>
            </a:r>
            <a:endParaRPr lang="en-US" sz="3200" dirty="0"/>
          </a:p>
        </p:txBody>
      </p:sp>
      <p:sp>
        <p:nvSpPr>
          <p:cNvPr id="5" name="Text 2"/>
          <p:cNvSpPr txBox="1"/>
          <p:nvPr/>
        </p:nvSpPr>
        <p:spPr>
          <a:xfrm>
            <a:off x="548640" y="1600200"/>
            <a:ext cx="5669280" cy="44805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Chia bảng theo </a:t>
            </a:r>
            <a:pPr indent="0" marL="0">
              <a:buNone/>
            </a:pPr>
            <a:r>
              <a:rPr lang="en-US" sz="1700" b="1" dirty="0">
                <a:solidFill>
                  <a:schemeClr val="tx1"/>
                </a:solidFill>
              </a:rPr>
              <a:t>dòng</a:t>
            </a:r>
            <a:pPr indent="0" marL="0">
              <a:buNone/>
            </a:pPr>
            <a:r>
              <a:rPr lang="en-US" sz="1700" dirty="0">
                <a:solidFill>
                  <a:schemeClr val="tx1"/>
                </a:solidFill>
              </a:rPr>
              <a:t>, dựa trên vị từ chọn: </a:t>
            </a:r>
            <a:pPr indent="0" marL="0">
              <a:buNone/>
            </a:pPr>
            <a:r>
              <a:rPr lang="en-US" sz="1700" dirty="0">
                <a:solidFill>
                  <a:schemeClr val="tx1"/>
                </a:solidFill>
                <a:latin typeface="Cambria Math" pitchFamily="34" charset="0"/>
                <a:ea typeface="Cambria Math" pitchFamily="34" charset="-122"/>
                <a:cs typeface="Cambria Math" pitchFamily="34" charset="-120"/>
              </a:rPr>
              <a:t>Rᵢ = σ</a:t>
            </a:r>
            <a:pPr indent="0" marL="0">
              <a:buNone/>
            </a:pPr>
            <a:r>
              <a:rPr lang="en-US" sz="1700" baseline="-40000" dirty="0">
                <a:solidFill>
                  <a:schemeClr val="tx1"/>
                </a:solidFill>
                <a:latin typeface="Cambria Math" pitchFamily="34" charset="0"/>
                <a:ea typeface="Cambria Math" pitchFamily="34" charset="-122"/>
                <a:cs typeface="Cambria Math" pitchFamily="34" charset="-120"/>
              </a:rPr>
              <a:t>Fᵢ</a:t>
            </a:r>
            <a:pPr indent="0" marL="0">
              <a:buNone/>
            </a:pPr>
            <a:r>
              <a:rPr lang="en-US" sz="1700" dirty="0">
                <a:solidFill>
                  <a:schemeClr val="tx1"/>
                </a:solidFill>
                <a:latin typeface="Cambria Math" pitchFamily="34" charset="0"/>
                <a:ea typeface="Cambria Math" pitchFamily="34" charset="-122"/>
                <a:cs typeface="Cambria Math" pitchFamily="34" charset="-120"/>
              </a:rPr>
              <a:t>(R)</a:t>
            </a:r>
            <a:endParaRPr lang="en-US" sz="1600" dirty="0"/>
          </a:p>
          <a:p>
            <a:pPr marL="228600" indent="-228600">
              <a:spcAft>
                <a:spcPts val="800"/>
              </a:spcAft>
              <a:buSzPct val="100000"/>
              <a:buChar char="•"/>
            </a:pPr>
            <a:r>
              <a:rPr lang="en-US" sz="1700" dirty="0">
                <a:solidFill>
                  <a:schemeClr val="tx1"/>
                </a:solidFill>
              </a:rPr>
              <a:t>Ví dụ: </a:t>
            </a:r>
            <a:pPr indent="0" marL="0">
              <a:buNone/>
            </a:pPr>
            <a:r>
              <a:rPr lang="en-US" sz="1700" dirty="0">
                <a:solidFill>
                  <a:schemeClr val="tx1"/>
                </a:solidFill>
                <a:latin typeface="Cambria Math" pitchFamily="34" charset="0"/>
                <a:ea typeface="Cambria Math" pitchFamily="34" charset="-122"/>
                <a:cs typeface="Cambria Math" pitchFamily="34" charset="-120"/>
              </a:rPr>
              <a:t>KH₁ = σ</a:t>
            </a:r>
            <a:pPr indent="0" marL="0">
              <a:buNone/>
            </a:pPr>
            <a:r>
              <a:rPr lang="en-US" sz="1700" baseline="-40000" dirty="0">
                <a:solidFill>
                  <a:schemeClr val="tx1"/>
                </a:solidFill>
                <a:latin typeface="Cambria Math" pitchFamily="34" charset="0"/>
                <a:ea typeface="Cambria Math" pitchFamily="34" charset="-122"/>
                <a:cs typeface="Cambria Math" pitchFamily="34" charset="-120"/>
              </a:rPr>
              <a:t>MaCN='CN01'</a:t>
            </a:r>
            <a:pPr indent="0" marL="0">
              <a:buNone/>
            </a:pPr>
            <a:r>
              <a:rPr lang="en-US" sz="1700" dirty="0">
                <a:solidFill>
                  <a:schemeClr val="tx1"/>
                </a:solidFill>
                <a:latin typeface="Cambria Math" pitchFamily="34" charset="0"/>
                <a:ea typeface="Cambria Math" pitchFamily="34" charset="-122"/>
                <a:cs typeface="Cambria Math" pitchFamily="34" charset="-120"/>
              </a:rPr>
              <a:t>(KhachHang)</a:t>
            </a:r>
            <a:pPr indent="0" marL="0">
              <a:buNone/>
            </a:pPr>
            <a:r>
              <a:rPr lang="en-US" sz="1700" dirty="0">
                <a:solidFill>
                  <a:schemeClr val="tx1"/>
                </a:solidFill>
              </a:rPr>
              <a:t>, tương tự KH₂, KH₃</a:t>
            </a:r>
            <a:endParaRPr lang="en-US" sz="1600" dirty="0"/>
          </a:p>
          <a:p>
            <a:pPr marL="228600" indent="-228600">
              <a:spcAft>
                <a:spcPts val="800"/>
              </a:spcAft>
              <a:buSzPct val="100000"/>
              <a:buChar char="•"/>
            </a:pPr>
            <a:r>
              <a:rPr lang="en-US" sz="1700" dirty="0">
                <a:solidFill>
                  <a:schemeClr val="tx1"/>
                </a:solidFill>
              </a:rPr>
              <a:t>Thiết kế: vị từ đơn giản từ truy vấn → </a:t>
            </a:r>
            <a:pPr indent="0" marL="0">
              <a:buNone/>
            </a:pPr>
            <a:r>
              <a:rPr lang="en-US" sz="1700" b="1" dirty="0">
                <a:solidFill>
                  <a:schemeClr val="tx1"/>
                </a:solidFill>
              </a:rPr>
              <a:t>vị từ hội sơ cấp (minterm)</a:t>
            </a:r>
            <a:pPr indent="0" marL="0">
              <a:buNone/>
            </a:pPr>
            <a:r>
              <a:rPr lang="en-US" sz="1700" dirty="0">
                <a:solidFill>
                  <a:schemeClr val="tx1"/>
                </a:solidFill>
              </a:rPr>
              <a:t>; thuật toán </a:t>
            </a:r>
            <a:pPr indent="0" marL="0">
              <a:buNone/>
            </a:pPr>
            <a:r>
              <a:rPr lang="en-US" sz="1700" b="1" dirty="0">
                <a:solidFill>
                  <a:schemeClr val="tx1"/>
                </a:solidFill>
              </a:rPr>
              <a:t>COM_MIN</a:t>
            </a:r>
            <a:pPr indent="0" marL="0">
              <a:buNone/>
            </a:pPr>
            <a:r>
              <a:rPr lang="en-US" sz="1700" dirty="0">
                <a:solidFill>
                  <a:schemeClr val="tx1"/>
                </a:solidFill>
              </a:rPr>
              <a:t> chọn tập vị từ đầy đủ và cực tiểu</a:t>
            </a:r>
            <a:endParaRPr lang="en-US" sz="1600" dirty="0"/>
          </a:p>
          <a:p>
            <a:pPr marL="228600" indent="-228600">
              <a:spcAft>
                <a:spcPts val="800"/>
              </a:spcAft>
              <a:buSzPct val="100000"/>
              <a:buChar char="•"/>
            </a:pPr>
            <a:r>
              <a:rPr lang="en-US" sz="1700" b="1" dirty="0">
                <a:solidFill>
                  <a:schemeClr val="tx1"/>
                </a:solidFill>
              </a:rPr>
              <a:t>Ngang dẫn xuất:</a:t>
            </a:r>
            <a:pPr indent="0" marL="0">
              <a:buNone/>
            </a:pPr>
            <a:r>
              <a:rPr lang="en-US" sz="1700" dirty="0">
                <a:solidFill>
                  <a:schemeClr val="tx1"/>
                </a:solidFill>
              </a:rPr>
              <a:t> chia bảng con theo mảnh của bảng cha: </a:t>
            </a:r>
            <a:pPr indent="0" marL="0">
              <a:buNone/>
            </a:pPr>
            <a:r>
              <a:rPr lang="en-US" sz="1700" dirty="0">
                <a:solidFill>
                  <a:schemeClr val="tx1"/>
                </a:solidFill>
                <a:latin typeface="Cambria Math" pitchFamily="34" charset="0"/>
                <a:ea typeface="Cambria Math" pitchFamily="34" charset="-122"/>
                <a:cs typeface="Cambria Math" pitchFamily="34" charset="-120"/>
              </a:rPr>
              <a:t>DHᵢ = DonHang ⋉ KHᵢ</a:t>
            </a:r>
            <a:endParaRPr lang="en-US" sz="1600" dirty="0"/>
          </a:p>
          <a:p>
            <a:pPr marL="228600" indent="-228600">
              <a:spcAft>
                <a:spcPts val="800"/>
              </a:spcAft>
              <a:buSzPct val="100000"/>
              <a:buChar char="•"/>
            </a:pPr>
            <a:r>
              <a:rPr lang="en-US" sz="1700" dirty="0">
                <a:solidFill>
                  <a:schemeClr val="tx1"/>
                </a:solidFill>
              </a:rPr>
              <a:t>Tái thiết: </a:t>
            </a:r>
            <a:pPr indent="0" marL="0">
              <a:buNone/>
            </a:pPr>
            <a:r>
              <a:rPr lang="en-US" sz="1700" dirty="0">
                <a:solidFill>
                  <a:schemeClr val="tx1"/>
                </a:solidFill>
                <a:latin typeface="Cambria Math" pitchFamily="34" charset="0"/>
                <a:ea typeface="Cambria Math" pitchFamily="34" charset="-122"/>
                <a:cs typeface="Cambria Math" pitchFamily="34" charset="-120"/>
              </a:rPr>
              <a:t>R = R₁ ∪ R₂ ∪ … ∪ Rₙ</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0" y="2194560"/>
          <a:ext cx="2926080" cy="914400"/>
        </p:xfrm>
        <a:graphic>
          <a:graphicData uri="http://schemas.openxmlformats.org/drawingml/2006/table">
            <a:tbl>
              <a:tblPr/>
              <a:tblGrid>
                <a:gridCol w="914400"/>
                <a:gridCol w="1097280"/>
                <a:gridCol w="914400"/>
              </a:tblGrid>
              <a:tr h="347472">
                <a:tc>
                  <a:txBody>
                    <a:bodyPr/>
                    <a:lstStyle/>
                    <a:p>
                      <a:pPr indent="0" marL="0">
                        <a:buNone/>
                      </a:pPr>
                      <a:r>
                        <a:rPr lang="en-US" sz="1400" b="1" dirty="0">
                          <a:solidFill>
                            <a:srgbClr val="FFFFFF"/>
                          </a:solidFill>
                        </a:rPr>
                        <a:t>MaKH</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937"/>
                    </a:solidFill>
                  </a:tcPr>
                </a:tc>
                <a:tc>
                  <a:txBody>
                    <a:bodyPr/>
                    <a:lstStyle/>
                    <a:p>
                      <a:pPr indent="0" marL="0">
                        <a:buNone/>
                      </a:pPr>
                      <a:r>
                        <a:rPr lang="en-US" sz="1400" b="1" dirty="0">
                          <a:solidFill>
                            <a:srgbClr val="FFFFFF"/>
                          </a:solidFill>
                        </a:rPr>
                        <a:t>HoTen</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937"/>
                    </a:solidFill>
                  </a:tcPr>
                </a:tc>
                <a:tc>
                  <a:txBody>
                    <a:bodyPr/>
                    <a:lstStyle/>
                    <a:p>
                      <a:pPr indent="0" marL="0">
                        <a:buNone/>
                      </a:pPr>
                      <a:r>
                        <a:rPr lang="en-US" sz="1400" b="1" dirty="0">
                          <a:solidFill>
                            <a:srgbClr val="FFFFFF"/>
                          </a:solidFill>
                        </a:rPr>
                        <a:t>MaCN</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937"/>
                    </a:solidFill>
                  </a:tcPr>
                </a:tc>
              </a:tr>
              <a:tr h="347472">
                <a:tc>
                  <a:txBody>
                    <a:bodyPr/>
                    <a:lstStyle/>
                    <a:p>
                      <a:pPr indent="0" marL="0">
                        <a:buNone/>
                      </a:pPr>
                      <a:r>
                        <a:rPr lang="en-US" sz="1400" dirty="0">
                          <a:solidFill>
                            <a:srgbClr val="1F2937"/>
                          </a:solidFill>
                        </a:rPr>
                        <a:t>KH01</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2E2"/>
                    </a:solidFill>
                  </a:tcPr>
                </a:tc>
                <a:tc>
                  <a:txBody>
                    <a:bodyPr/>
                    <a:lstStyle/>
                    <a:p>
                      <a:pPr indent="0" marL="0">
                        <a:buNone/>
                      </a:pPr>
                      <a:r>
                        <a:rPr lang="en-US" sz="1400" dirty="0">
                          <a:solidFill>
                            <a:srgbClr val="1F2937"/>
                          </a:solidFill>
                        </a:rPr>
                        <a:t>An</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2E2"/>
                    </a:solidFill>
                  </a:tcPr>
                </a:tc>
                <a:tc>
                  <a:txBody>
                    <a:bodyPr/>
                    <a:lstStyle/>
                    <a:p>
                      <a:pPr indent="0" marL="0">
                        <a:buNone/>
                      </a:pPr>
                      <a:r>
                        <a:rPr lang="en-US" sz="1400" dirty="0">
                          <a:solidFill>
                            <a:srgbClr val="1F2937"/>
                          </a:solidFill>
                        </a:rPr>
                        <a:t>CN01</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2E2"/>
                    </a:solidFill>
                  </a:tcPr>
                </a:tc>
              </a:tr>
              <a:tr h="347472">
                <a:tc>
                  <a:txBody>
                    <a:bodyPr/>
                    <a:lstStyle/>
                    <a:p>
                      <a:pPr indent="0" marL="0">
                        <a:buNone/>
                      </a:pPr>
                      <a:r>
                        <a:rPr lang="en-US" sz="1400" dirty="0">
                          <a:solidFill>
                            <a:srgbClr val="1F2937"/>
                          </a:solidFill>
                        </a:rPr>
                        <a:t>KH02</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FCE7"/>
                    </a:solidFill>
                  </a:tcPr>
                </a:tc>
                <a:tc>
                  <a:txBody>
                    <a:bodyPr/>
                    <a:lstStyle/>
                    <a:p>
                      <a:pPr indent="0" marL="0">
                        <a:buNone/>
                      </a:pPr>
                      <a:r>
                        <a:rPr lang="en-US" sz="1400" dirty="0">
                          <a:solidFill>
                            <a:srgbClr val="1F2937"/>
                          </a:solidFill>
                        </a:rPr>
                        <a:t>Bình</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FCE7"/>
                    </a:solidFill>
                  </a:tcPr>
                </a:tc>
                <a:tc>
                  <a:txBody>
                    <a:bodyPr/>
                    <a:lstStyle/>
                    <a:p>
                      <a:pPr indent="0" marL="0">
                        <a:buNone/>
                      </a:pPr>
                      <a:r>
                        <a:rPr lang="en-US" sz="1400" dirty="0">
                          <a:solidFill>
                            <a:srgbClr val="1F2937"/>
                          </a:solidFill>
                        </a:rPr>
                        <a:t>CN02</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FCE7"/>
                    </a:solidFill>
                  </a:tcPr>
                </a:tc>
              </a:tr>
              <a:tr h="347472">
                <a:tc>
                  <a:txBody>
                    <a:bodyPr/>
                    <a:lstStyle/>
                    <a:p>
                      <a:pPr indent="0" marL="0">
                        <a:buNone/>
                      </a:pPr>
                      <a:r>
                        <a:rPr lang="en-US" sz="1400" dirty="0">
                          <a:solidFill>
                            <a:srgbClr val="1F2937"/>
                          </a:solidFill>
                        </a:rPr>
                        <a:t>KH03</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AFE"/>
                    </a:solidFill>
                  </a:tcPr>
                </a:tc>
                <a:tc>
                  <a:txBody>
                    <a:bodyPr/>
                    <a:lstStyle/>
                    <a:p>
                      <a:pPr indent="0" marL="0">
                        <a:buNone/>
                      </a:pPr>
                      <a:r>
                        <a:rPr lang="en-US" sz="1400" dirty="0">
                          <a:solidFill>
                            <a:srgbClr val="1F2937"/>
                          </a:solidFill>
                        </a:rPr>
                        <a:t>Chi</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AFE"/>
                    </a:solidFill>
                  </a:tcPr>
                </a:tc>
                <a:tc>
                  <a:txBody>
                    <a:bodyPr/>
                    <a:lstStyle/>
                    <a:p>
                      <a:pPr indent="0" marL="0">
                        <a:buNone/>
                      </a:pPr>
                      <a:r>
                        <a:rPr lang="en-US" sz="1400" dirty="0">
                          <a:solidFill>
                            <a:srgbClr val="1F2937"/>
                          </a:solidFill>
                        </a:rPr>
                        <a:t>CN03</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AFE"/>
                    </a:solidFill>
                  </a:tcPr>
                </a:tc>
              </a:tr>
              <a:tr h="347472">
                <a:tc>
                  <a:txBody>
                    <a:bodyPr/>
                    <a:lstStyle/>
                    <a:p>
                      <a:pPr indent="0" marL="0">
                        <a:buNone/>
                      </a:pPr>
                      <a:r>
                        <a:rPr lang="en-US" sz="1400" dirty="0">
                          <a:solidFill>
                            <a:srgbClr val="1F2937"/>
                          </a:solidFill>
                        </a:rPr>
                        <a:t>KH04</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2E2"/>
                    </a:solidFill>
                  </a:tcPr>
                </a:tc>
                <a:tc>
                  <a:txBody>
                    <a:bodyPr/>
                    <a:lstStyle/>
                    <a:p>
                      <a:pPr indent="0" marL="0">
                        <a:buNone/>
                      </a:pPr>
                      <a:r>
                        <a:rPr lang="en-US" sz="1400" dirty="0">
                          <a:solidFill>
                            <a:srgbClr val="1F2937"/>
                          </a:solidFill>
                        </a:rPr>
                        <a:t>Dũng</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2E2"/>
                    </a:solidFill>
                  </a:tcPr>
                </a:tc>
                <a:tc>
                  <a:txBody>
                    <a:bodyPr/>
                    <a:lstStyle/>
                    <a:p>
                      <a:pPr indent="0" marL="0">
                        <a:buNone/>
                      </a:pPr>
                      <a:r>
                        <a:rPr lang="en-US" sz="1400" dirty="0">
                          <a:solidFill>
                            <a:srgbClr val="1F2937"/>
                          </a:solidFill>
                        </a:rPr>
                        <a:t>CN01</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2E2"/>
                    </a:solidFill>
                  </a:tcPr>
                </a:tc>
              </a:tr>
              <a:tr h="347472">
                <a:tc>
                  <a:txBody>
                    <a:bodyPr/>
                    <a:lstStyle/>
                    <a:p>
                      <a:pPr indent="0" marL="0">
                        <a:buNone/>
                      </a:pPr>
                      <a:r>
                        <a:rPr lang="en-US" sz="1400" dirty="0">
                          <a:solidFill>
                            <a:srgbClr val="1F2937"/>
                          </a:solidFill>
                        </a:rPr>
                        <a:t>KH05</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FCE7"/>
                    </a:solidFill>
                  </a:tcPr>
                </a:tc>
                <a:tc>
                  <a:txBody>
                    <a:bodyPr/>
                    <a:lstStyle/>
                    <a:p>
                      <a:pPr indent="0" marL="0">
                        <a:buNone/>
                      </a:pPr>
                      <a:r>
                        <a:rPr lang="en-US" sz="1400" dirty="0">
                          <a:solidFill>
                            <a:srgbClr val="1F2937"/>
                          </a:solidFill>
                        </a:rPr>
                        <a:t>Em</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FCE7"/>
                    </a:solidFill>
                  </a:tcPr>
                </a:tc>
                <a:tc>
                  <a:txBody>
                    <a:bodyPr/>
                    <a:lstStyle/>
                    <a:p>
                      <a:pPr indent="0" marL="0">
                        <a:buNone/>
                      </a:pPr>
                      <a:r>
                        <a:rPr lang="en-US" sz="1400" dirty="0">
                          <a:solidFill>
                            <a:srgbClr val="1F2937"/>
                          </a:solidFill>
                        </a:rPr>
                        <a:t>CN02</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FCE7"/>
                    </a:solidFill>
                  </a:tcPr>
                </a:tc>
              </a:tr>
              <a:tr h="347472">
                <a:tc>
                  <a:txBody>
                    <a:bodyPr/>
                    <a:lstStyle/>
                    <a:p>
                      <a:pPr indent="0" marL="0">
                        <a:buNone/>
                      </a:pPr>
                      <a:r>
                        <a:rPr lang="en-US" sz="1400" dirty="0">
                          <a:solidFill>
                            <a:srgbClr val="1F2937"/>
                          </a:solidFill>
                        </a:rPr>
                        <a:t>KH06</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AFE"/>
                    </a:solidFill>
                  </a:tcPr>
                </a:tc>
                <a:tc>
                  <a:txBody>
                    <a:bodyPr/>
                    <a:lstStyle/>
                    <a:p>
                      <a:pPr indent="0" marL="0">
                        <a:buNone/>
                      </a:pPr>
                      <a:r>
                        <a:rPr lang="en-US" sz="1400" dirty="0">
                          <a:solidFill>
                            <a:srgbClr val="1F2937"/>
                          </a:solidFill>
                        </a:rPr>
                        <a:t>Giang</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AFE"/>
                    </a:solidFill>
                  </a:tcPr>
                </a:tc>
                <a:tc>
                  <a:txBody>
                    <a:bodyPr/>
                    <a:lstStyle/>
                    <a:p>
                      <a:pPr indent="0" marL="0">
                        <a:buNone/>
                      </a:pPr>
                      <a:r>
                        <a:rPr lang="en-US" sz="1400" dirty="0">
                          <a:solidFill>
                            <a:srgbClr val="1F2937"/>
                          </a:solidFill>
                        </a:rPr>
                        <a:t>CN03</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AFE"/>
                    </a:solidFill>
                  </a:tcPr>
                </a:tc>
              </a:tr>
            </a:tbl>
          </a:graphicData>
        </a:graphic>
      </p:graphicFrame>
      <p:sp>
        <p:nvSpPr>
          <p:cNvPr id="7" name="Text 3"/>
          <p:cNvSpPr txBox="1"/>
          <p:nvPr/>
        </p:nvSpPr>
        <p:spPr>
          <a:xfrm>
            <a:off x="6583680" y="4709160"/>
            <a:ext cx="2926080" cy="274320"/>
          </a:xfrm>
          <a:prstGeom prst="rect">
            <a:avLst/>
          </a:prstGeom>
          <a:noFill/>
          <a:ln/>
        </p:spPr>
        <p:txBody>
          <a:bodyPr wrap="square" lIns="0" tIns="0" rIns="0" bIns="0" rtlCol="0" anchor="t"/>
          <a:lstStyle/>
          <a:p>
            <a:pPr algn="ctr" indent="0" marL="0">
              <a:buNone/>
            </a:pPr>
            <a:r>
              <a:rPr lang="en-US" sz="1300" dirty="0">
                <a:solidFill>
                  <a:schemeClr val="tx2"/>
                </a:solidFill>
              </a:rPr>
              <a:t>KhachHang</a:t>
            </a:r>
            <a:endParaRPr lang="en-US" sz="1300" dirty="0"/>
          </a:p>
        </p:txBody>
      </p:sp>
      <p:sp>
        <p:nvSpPr>
          <p:cNvPr id="8" name="mui-ten"/>
          <p:cNvSpPr/>
          <p:nvPr/>
        </p:nvSpPr>
        <p:spPr>
          <a:xfrm>
            <a:off x="9646920" y="3246120"/>
            <a:ext cx="502920" cy="411480"/>
          </a:xfrm>
          <a:prstGeom prst="rightArrow">
            <a:avLst/>
          </a:prstGeom>
          <a:solidFill>
            <a:schemeClr val="accent1"/>
          </a:solidFill>
          <a:ln w="12700">
            <a:solidFill>
              <a:srgbClr val="D97706"/>
            </a:solidFill>
            <a:prstDash val="solid"/>
          </a:ln>
        </p:spPr>
      </p:sp>
      <p:sp>
        <p:nvSpPr>
          <p:cNvPr id="9" name="manh-ngang"/>
          <p:cNvSpPr/>
          <p:nvPr/>
        </p:nvSpPr>
        <p:spPr>
          <a:xfrm>
            <a:off x="10287000" y="2240280"/>
            <a:ext cx="1371600" cy="621792"/>
          </a:xfrm>
          <a:prstGeom prst="roundRect">
            <a:avLst>
              <a:gd name="adj" fmla="val 17647"/>
            </a:avLst>
          </a:prstGeom>
          <a:solidFill>
            <a:schemeClr val="accent3"/>
          </a:solidFill>
          <a:ln w="12700">
            <a:solidFill>
              <a:schemeClr val="accent3"/>
            </a:solidFill>
            <a:prstDash val="solid"/>
          </a:ln>
        </p:spPr>
      </p:sp>
      <p:sp>
        <p:nvSpPr>
          <p:cNvPr id="10" name="Text 6"/>
          <p:cNvSpPr txBox="1"/>
          <p:nvPr/>
        </p:nvSpPr>
        <p:spPr>
          <a:xfrm>
            <a:off x="10287000" y="2240280"/>
            <a:ext cx="1371600" cy="621792"/>
          </a:xfrm>
          <a:prstGeom prst="rect">
            <a:avLst/>
          </a:prstGeom>
          <a:noFill/>
          <a:ln/>
        </p:spPr>
        <p:txBody>
          <a:bodyPr wrap="square" lIns="0" tIns="0" rIns="0" bIns="0" rtlCol="0" anchor="ctr"/>
          <a:lstStyle/>
          <a:p>
            <a:pPr algn="ctr" indent="0" marL="0">
              <a:buNone/>
            </a:pPr>
            <a:r>
              <a:rPr lang="en-US" sz="1400" b="1" dirty="0">
                <a:solidFill>
                  <a:schemeClr val="bg1"/>
                </a:solidFill>
              </a:rPr>
              <a:t>KH₁ · Hà Nội</a:t>
            </a:r>
            <a:endParaRPr lang="en-US" sz="1400" dirty="0"/>
          </a:p>
        </p:txBody>
      </p:sp>
      <p:sp>
        <p:nvSpPr>
          <p:cNvPr id="11" name="manh-ngang"/>
          <p:cNvSpPr/>
          <p:nvPr/>
        </p:nvSpPr>
        <p:spPr>
          <a:xfrm>
            <a:off x="10287000" y="3017520"/>
            <a:ext cx="1371600" cy="621792"/>
          </a:xfrm>
          <a:prstGeom prst="roundRect">
            <a:avLst>
              <a:gd name="adj" fmla="val 17647"/>
            </a:avLst>
          </a:prstGeom>
          <a:solidFill>
            <a:schemeClr val="accent4"/>
          </a:solidFill>
          <a:ln w="12700">
            <a:solidFill>
              <a:schemeClr val="accent4"/>
            </a:solidFill>
            <a:prstDash val="solid"/>
          </a:ln>
        </p:spPr>
      </p:sp>
      <p:sp>
        <p:nvSpPr>
          <p:cNvPr id="12" name="Text 8"/>
          <p:cNvSpPr txBox="1"/>
          <p:nvPr/>
        </p:nvSpPr>
        <p:spPr>
          <a:xfrm>
            <a:off x="10287000" y="3017520"/>
            <a:ext cx="1371600" cy="621792"/>
          </a:xfrm>
          <a:prstGeom prst="rect">
            <a:avLst/>
          </a:prstGeom>
          <a:noFill/>
          <a:ln/>
        </p:spPr>
        <p:txBody>
          <a:bodyPr wrap="square" lIns="0" tIns="0" rIns="0" bIns="0" rtlCol="0" anchor="ctr"/>
          <a:lstStyle/>
          <a:p>
            <a:pPr algn="ctr" indent="0" marL="0">
              <a:buNone/>
            </a:pPr>
            <a:r>
              <a:rPr lang="en-US" sz="1400" b="1" dirty="0">
                <a:solidFill>
                  <a:schemeClr val="bg1"/>
                </a:solidFill>
              </a:rPr>
              <a:t>KH₂ · Đà Nẵng</a:t>
            </a:r>
            <a:endParaRPr lang="en-US" sz="1400" dirty="0"/>
          </a:p>
        </p:txBody>
      </p:sp>
      <p:sp>
        <p:nvSpPr>
          <p:cNvPr id="13" name="manh-ngang"/>
          <p:cNvSpPr/>
          <p:nvPr/>
        </p:nvSpPr>
        <p:spPr>
          <a:xfrm>
            <a:off x="10287000" y="3794760"/>
            <a:ext cx="1371600" cy="621792"/>
          </a:xfrm>
          <a:prstGeom prst="roundRect">
            <a:avLst>
              <a:gd name="adj" fmla="val 17647"/>
            </a:avLst>
          </a:prstGeom>
          <a:solidFill>
            <a:schemeClr val="accent5"/>
          </a:solidFill>
          <a:ln w="12700">
            <a:solidFill>
              <a:schemeClr val="accent5"/>
            </a:solidFill>
            <a:prstDash val="solid"/>
          </a:ln>
        </p:spPr>
      </p:sp>
      <p:sp>
        <p:nvSpPr>
          <p:cNvPr id="14" name="Text 10"/>
          <p:cNvSpPr txBox="1"/>
          <p:nvPr/>
        </p:nvSpPr>
        <p:spPr>
          <a:xfrm>
            <a:off x="10287000" y="3794760"/>
            <a:ext cx="1371600" cy="621792"/>
          </a:xfrm>
          <a:prstGeom prst="rect">
            <a:avLst/>
          </a:prstGeom>
          <a:noFill/>
          <a:ln/>
        </p:spPr>
        <p:txBody>
          <a:bodyPr wrap="square" lIns="0" tIns="0" rIns="0" bIns="0" rtlCol="0" anchor="ctr"/>
          <a:lstStyle/>
          <a:p>
            <a:pPr algn="ctr" indent="0" marL="0">
              <a:buNone/>
            </a:pPr>
            <a:r>
              <a:rPr lang="en-US" sz="1400" b="1" dirty="0">
                <a:solidFill>
                  <a:schemeClr val="bg1"/>
                </a:solidFill>
              </a:rPr>
              <a:t>KH₃ · TP.HCM</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2 · PHÂN MẢNH DỮ LIỆU</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Phân mảnh dọc</a:t>
            </a:r>
            <a:endParaRPr lang="en-US" sz="3200" dirty="0"/>
          </a:p>
        </p:txBody>
      </p:sp>
      <p:sp>
        <p:nvSpPr>
          <p:cNvPr id="5" name="Text 2"/>
          <p:cNvSpPr txBox="1"/>
          <p:nvPr/>
        </p:nvSpPr>
        <p:spPr>
          <a:xfrm>
            <a:off x="548640" y="1600200"/>
            <a:ext cx="5394960" cy="27432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Chia bảng theo </a:t>
            </a:r>
            <a:pPr indent="0" marL="0">
              <a:buNone/>
            </a:pPr>
            <a:r>
              <a:rPr lang="en-US" sz="1700" b="1" dirty="0">
                <a:solidFill>
                  <a:schemeClr val="tx1"/>
                </a:solidFill>
              </a:rPr>
              <a:t>cột</a:t>
            </a:r>
            <a:pPr indent="0" marL="0">
              <a:buNone/>
            </a:pPr>
            <a:r>
              <a:rPr lang="en-US" sz="1700" dirty="0">
                <a:solidFill>
                  <a:schemeClr val="tx1"/>
                </a:solidFill>
              </a:rPr>
              <a:t>: </a:t>
            </a:r>
            <a:pPr indent="0" marL="0">
              <a:buNone/>
            </a:pPr>
            <a:r>
              <a:rPr lang="en-US" sz="1700" dirty="0">
                <a:solidFill>
                  <a:schemeClr val="tx1"/>
                </a:solidFill>
                <a:latin typeface="Cambria Math" pitchFamily="34" charset="0"/>
                <a:ea typeface="Cambria Math" pitchFamily="34" charset="-122"/>
                <a:cs typeface="Cambria Math" pitchFamily="34" charset="-120"/>
              </a:rPr>
              <a:t>Rᵢ = π</a:t>
            </a:r>
            <a:pPr indent="0" marL="0">
              <a:buNone/>
            </a:pPr>
            <a:r>
              <a:rPr lang="en-US" sz="1700" baseline="-40000" dirty="0">
                <a:solidFill>
                  <a:schemeClr val="tx1"/>
                </a:solidFill>
                <a:latin typeface="Cambria Math" pitchFamily="34" charset="0"/>
                <a:ea typeface="Cambria Math" pitchFamily="34" charset="-122"/>
                <a:cs typeface="Cambria Math" pitchFamily="34" charset="-120"/>
              </a:rPr>
              <a:t>Aᵢ</a:t>
            </a:r>
            <a:pPr indent="0" marL="0">
              <a:buNone/>
            </a:pPr>
            <a:r>
              <a:rPr lang="en-US" sz="1700" dirty="0">
                <a:solidFill>
                  <a:schemeClr val="tx1"/>
                </a:solidFill>
                <a:latin typeface="Cambria Math" pitchFamily="34" charset="0"/>
                <a:ea typeface="Cambria Math" pitchFamily="34" charset="-122"/>
                <a:cs typeface="Cambria Math" pitchFamily="34" charset="-120"/>
              </a:rPr>
              <a:t>(R)</a:t>
            </a:r>
            <a:pPr indent="0" marL="0">
              <a:buNone/>
            </a:pPr>
            <a:r>
              <a:rPr lang="en-US" sz="1700" dirty="0">
                <a:solidFill>
                  <a:schemeClr val="tx1"/>
                </a:solidFill>
              </a:rPr>
              <a:t>, mỗi mảnh </a:t>
            </a:r>
            <a:pPr indent="0" marL="0">
              <a:buNone/>
            </a:pPr>
            <a:r>
              <a:rPr lang="en-US" sz="1700" b="1" dirty="0">
                <a:solidFill>
                  <a:schemeClr val="tx1"/>
                </a:solidFill>
              </a:rPr>
              <a:t>đều chứa khóa chính</a:t>
            </a:r>
            <a:endParaRPr lang="en-US" sz="1600" dirty="0"/>
          </a:p>
          <a:p>
            <a:pPr marL="228600" indent="-228600">
              <a:spcAft>
                <a:spcPts val="800"/>
              </a:spcAft>
              <a:buSzPct val="100000"/>
              <a:buChar char="•"/>
            </a:pPr>
            <a:r>
              <a:rPr lang="en-US" sz="1700" dirty="0">
                <a:solidFill>
                  <a:schemeClr val="tx1"/>
                </a:solidFill>
              </a:rPr>
              <a:t>Ví dụ NhanVien: thông tin công việc dùng ở chi nhánh, thông tin nhân sự chỉ phòng nhân sự dùng</a:t>
            </a:r>
            <a:endParaRPr lang="en-US" sz="1600" dirty="0"/>
          </a:p>
          <a:p>
            <a:pPr marL="228600" indent="-228600">
              <a:spcAft>
                <a:spcPts val="800"/>
              </a:spcAft>
              <a:buSzPct val="100000"/>
              <a:buChar char="•"/>
            </a:pPr>
            <a:r>
              <a:rPr lang="en-US" sz="1700" dirty="0">
                <a:solidFill>
                  <a:schemeClr val="tx1"/>
                </a:solidFill>
              </a:rPr>
              <a:t>Tái thiết bằng kết nối trên khóa: </a:t>
            </a:r>
            <a:pPr indent="0" marL="0">
              <a:buNone/>
            </a:pPr>
            <a:r>
              <a:rPr lang="en-US" sz="1700" dirty="0">
                <a:solidFill>
                  <a:schemeClr val="tx1"/>
                </a:solidFill>
                <a:latin typeface="Cambria Math" pitchFamily="34" charset="0"/>
                <a:ea typeface="Cambria Math" pitchFamily="34" charset="-122"/>
                <a:cs typeface="Cambria Math" pitchFamily="34" charset="-120"/>
              </a:rPr>
              <a:t>R = R₁ ⋈</a:t>
            </a:r>
            <a:pPr indent="0" marL="0">
              <a:buNone/>
            </a:pPr>
            <a:r>
              <a:rPr lang="en-US" sz="1700" baseline="-40000" dirty="0">
                <a:solidFill>
                  <a:schemeClr val="tx1"/>
                </a:solidFill>
                <a:latin typeface="Cambria Math" pitchFamily="34" charset="0"/>
                <a:ea typeface="Cambria Math" pitchFamily="34" charset="-122"/>
                <a:cs typeface="Cambria Math" pitchFamily="34" charset="-120"/>
              </a:rPr>
              <a:t>MaNV</a:t>
            </a:r>
            <a:pPr indent="0" marL="0">
              <a:buNone/>
            </a:pPr>
            <a:r>
              <a:rPr lang="en-US" sz="1700" dirty="0">
                <a:solidFill>
                  <a:schemeClr val="tx1"/>
                </a:solidFill>
                <a:latin typeface="Cambria Math" pitchFamily="34" charset="0"/>
                <a:ea typeface="Cambria Math" pitchFamily="34" charset="-122"/>
                <a:cs typeface="Cambria Math" pitchFamily="34" charset="-120"/>
              </a:rPr>
              <a:t> R₂</a:t>
            </a:r>
            <a:endParaRPr lang="en-US" sz="1600" dirty="0"/>
          </a:p>
        </p:txBody>
      </p:sp>
      <p:sp>
        <p:nvSpPr>
          <p:cNvPr id="6" name="nhom-cot"/>
          <p:cNvSpPr/>
          <p:nvPr/>
        </p:nvSpPr>
        <p:spPr>
          <a:xfrm>
            <a:off x="6400800" y="1645920"/>
            <a:ext cx="2514600" cy="502920"/>
          </a:xfrm>
          <a:prstGeom prst="roundRect">
            <a:avLst>
              <a:gd name="adj" fmla="val 21818"/>
            </a:avLst>
          </a:prstGeom>
          <a:solidFill>
            <a:schemeClr val="accent1"/>
          </a:solidFill>
          <a:ln w="12700">
            <a:solidFill>
              <a:schemeClr val="accent1"/>
            </a:solidFill>
            <a:prstDash val="solid"/>
          </a:ln>
        </p:spPr>
      </p:sp>
      <p:sp>
        <p:nvSpPr>
          <p:cNvPr id="7" name="Text 4"/>
          <p:cNvSpPr txBox="1"/>
          <p:nvPr/>
        </p:nvSpPr>
        <p:spPr>
          <a:xfrm>
            <a:off x="6400800" y="1645920"/>
            <a:ext cx="2514600" cy="502920"/>
          </a:xfrm>
          <a:prstGeom prst="rect">
            <a:avLst/>
          </a:prstGeom>
          <a:noFill/>
          <a:ln/>
        </p:spPr>
        <p:txBody>
          <a:bodyPr wrap="square" lIns="0" tIns="0" rIns="0" bIns="0" rtlCol="0" anchor="ctr"/>
          <a:lstStyle/>
          <a:p>
            <a:pPr algn="ctr" indent="0" marL="0">
              <a:buNone/>
            </a:pPr>
            <a:r>
              <a:rPr lang="en-US" sz="1500" b="1" dirty="0">
                <a:solidFill>
                  <a:schemeClr val="bg1"/>
                </a:solidFill>
              </a:rPr>
              <a:t>NV_CV · công việc</a:t>
            </a:r>
            <a:endParaRPr lang="en-US" sz="1500" dirty="0"/>
          </a:p>
        </p:txBody>
      </p:sp>
      <p:sp>
        <p:nvSpPr>
          <p:cNvPr id="8" name="cot"/>
          <p:cNvSpPr/>
          <p:nvPr/>
        </p:nvSpPr>
        <p:spPr>
          <a:xfrm>
            <a:off x="6400800" y="2240280"/>
            <a:ext cx="2514600" cy="365760"/>
          </a:xfrm>
          <a:prstGeom prst="roundRect">
            <a:avLst>
              <a:gd name="adj" fmla="val 30000"/>
            </a:avLst>
          </a:prstGeom>
          <a:solidFill>
            <a:srgbClr val="E5E7EB"/>
          </a:solidFill>
          <a:ln w="12700">
            <a:solidFill>
              <a:srgbClr val="E5E7EB"/>
            </a:solidFill>
            <a:prstDash val="solid"/>
          </a:ln>
        </p:spPr>
      </p:sp>
      <p:sp>
        <p:nvSpPr>
          <p:cNvPr id="9" name="Text 6"/>
          <p:cNvSpPr txBox="1"/>
          <p:nvPr/>
        </p:nvSpPr>
        <p:spPr>
          <a:xfrm>
            <a:off x="6583680" y="224028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MaNV (khóa)</a:t>
            </a:r>
            <a:endParaRPr lang="en-US" sz="1500" dirty="0"/>
          </a:p>
        </p:txBody>
      </p:sp>
      <p:sp>
        <p:nvSpPr>
          <p:cNvPr id="10" name="cot"/>
          <p:cNvSpPr/>
          <p:nvPr/>
        </p:nvSpPr>
        <p:spPr>
          <a:xfrm>
            <a:off x="6400800" y="2670048"/>
            <a:ext cx="2514600" cy="365760"/>
          </a:xfrm>
          <a:prstGeom prst="roundRect">
            <a:avLst>
              <a:gd name="adj" fmla="val 30000"/>
            </a:avLst>
          </a:prstGeom>
          <a:solidFill>
            <a:srgbClr val="FEF3C7"/>
          </a:solidFill>
          <a:ln w="12700">
            <a:solidFill>
              <a:srgbClr val="FEF3C7"/>
            </a:solidFill>
            <a:prstDash val="solid"/>
          </a:ln>
        </p:spPr>
      </p:sp>
      <p:sp>
        <p:nvSpPr>
          <p:cNvPr id="11" name="Text 8"/>
          <p:cNvSpPr txBox="1"/>
          <p:nvPr/>
        </p:nvSpPr>
        <p:spPr>
          <a:xfrm>
            <a:off x="6583680" y="2670048"/>
            <a:ext cx="2194560" cy="365760"/>
          </a:xfrm>
          <a:prstGeom prst="rect">
            <a:avLst/>
          </a:prstGeom>
          <a:noFill/>
          <a:ln/>
        </p:spPr>
        <p:txBody>
          <a:bodyPr wrap="square" lIns="0" tIns="0" rIns="0" bIns="0" rtlCol="0" anchor="ctr"/>
          <a:lstStyle/>
          <a:p>
            <a:pPr indent="0" marL="0">
              <a:buNone/>
            </a:pPr>
            <a:r>
              <a:rPr lang="en-US" sz="1500" dirty="0">
                <a:solidFill>
                  <a:schemeClr val="tx1"/>
                </a:solidFill>
              </a:rPr>
              <a:t>HoTen</a:t>
            </a:r>
            <a:endParaRPr lang="en-US" sz="1500" dirty="0"/>
          </a:p>
        </p:txBody>
      </p:sp>
      <p:sp>
        <p:nvSpPr>
          <p:cNvPr id="12" name="cot"/>
          <p:cNvSpPr/>
          <p:nvPr/>
        </p:nvSpPr>
        <p:spPr>
          <a:xfrm>
            <a:off x="6400800" y="3099816"/>
            <a:ext cx="2514600" cy="365760"/>
          </a:xfrm>
          <a:prstGeom prst="roundRect">
            <a:avLst>
              <a:gd name="adj" fmla="val 30000"/>
            </a:avLst>
          </a:prstGeom>
          <a:solidFill>
            <a:srgbClr val="FEF3C7"/>
          </a:solidFill>
          <a:ln w="12700">
            <a:solidFill>
              <a:srgbClr val="FEF3C7"/>
            </a:solidFill>
            <a:prstDash val="solid"/>
          </a:ln>
        </p:spPr>
      </p:sp>
      <p:sp>
        <p:nvSpPr>
          <p:cNvPr id="13" name="Text 10"/>
          <p:cNvSpPr txBox="1"/>
          <p:nvPr/>
        </p:nvSpPr>
        <p:spPr>
          <a:xfrm>
            <a:off x="6583680" y="3099816"/>
            <a:ext cx="2194560" cy="365760"/>
          </a:xfrm>
          <a:prstGeom prst="rect">
            <a:avLst/>
          </a:prstGeom>
          <a:noFill/>
          <a:ln/>
        </p:spPr>
        <p:txBody>
          <a:bodyPr wrap="square" lIns="0" tIns="0" rIns="0" bIns="0" rtlCol="0" anchor="ctr"/>
          <a:lstStyle/>
          <a:p>
            <a:pPr indent="0" marL="0">
              <a:buNone/>
            </a:pPr>
            <a:r>
              <a:rPr lang="en-US" sz="1500" dirty="0">
                <a:solidFill>
                  <a:schemeClr val="tx1"/>
                </a:solidFill>
              </a:rPr>
              <a:t>ChucVu</a:t>
            </a:r>
            <a:endParaRPr lang="en-US" sz="1500" dirty="0"/>
          </a:p>
        </p:txBody>
      </p:sp>
      <p:sp>
        <p:nvSpPr>
          <p:cNvPr id="14" name="cot"/>
          <p:cNvSpPr/>
          <p:nvPr/>
        </p:nvSpPr>
        <p:spPr>
          <a:xfrm>
            <a:off x="6400800" y="3529584"/>
            <a:ext cx="2514600" cy="365760"/>
          </a:xfrm>
          <a:prstGeom prst="roundRect">
            <a:avLst>
              <a:gd name="adj" fmla="val 30000"/>
            </a:avLst>
          </a:prstGeom>
          <a:solidFill>
            <a:srgbClr val="FEF3C7"/>
          </a:solidFill>
          <a:ln w="12700">
            <a:solidFill>
              <a:srgbClr val="FEF3C7"/>
            </a:solidFill>
            <a:prstDash val="solid"/>
          </a:ln>
        </p:spPr>
      </p:sp>
      <p:sp>
        <p:nvSpPr>
          <p:cNvPr id="15" name="Text 12"/>
          <p:cNvSpPr txBox="1"/>
          <p:nvPr/>
        </p:nvSpPr>
        <p:spPr>
          <a:xfrm>
            <a:off x="6583680" y="3529584"/>
            <a:ext cx="2194560" cy="365760"/>
          </a:xfrm>
          <a:prstGeom prst="rect">
            <a:avLst/>
          </a:prstGeom>
          <a:noFill/>
          <a:ln/>
        </p:spPr>
        <p:txBody>
          <a:bodyPr wrap="square" lIns="0" tIns="0" rIns="0" bIns="0" rtlCol="0" anchor="ctr"/>
          <a:lstStyle/>
          <a:p>
            <a:pPr indent="0" marL="0">
              <a:buNone/>
            </a:pPr>
            <a:r>
              <a:rPr lang="en-US" sz="1500" dirty="0">
                <a:solidFill>
                  <a:schemeClr val="tx1"/>
                </a:solidFill>
              </a:rPr>
              <a:t>SDT</a:t>
            </a:r>
            <a:endParaRPr lang="en-US" sz="1500" dirty="0"/>
          </a:p>
        </p:txBody>
      </p:sp>
      <p:sp>
        <p:nvSpPr>
          <p:cNvPr id="16" name="cot"/>
          <p:cNvSpPr/>
          <p:nvPr/>
        </p:nvSpPr>
        <p:spPr>
          <a:xfrm>
            <a:off x="6400800" y="3959352"/>
            <a:ext cx="2514600" cy="365760"/>
          </a:xfrm>
          <a:prstGeom prst="roundRect">
            <a:avLst>
              <a:gd name="adj" fmla="val 30000"/>
            </a:avLst>
          </a:prstGeom>
          <a:solidFill>
            <a:srgbClr val="FEF3C7"/>
          </a:solidFill>
          <a:ln w="12700">
            <a:solidFill>
              <a:srgbClr val="FEF3C7"/>
            </a:solidFill>
            <a:prstDash val="solid"/>
          </a:ln>
        </p:spPr>
      </p:sp>
      <p:sp>
        <p:nvSpPr>
          <p:cNvPr id="17" name="Text 14"/>
          <p:cNvSpPr txBox="1"/>
          <p:nvPr/>
        </p:nvSpPr>
        <p:spPr>
          <a:xfrm>
            <a:off x="6583680" y="3959352"/>
            <a:ext cx="2194560" cy="365760"/>
          </a:xfrm>
          <a:prstGeom prst="rect">
            <a:avLst/>
          </a:prstGeom>
          <a:noFill/>
          <a:ln/>
        </p:spPr>
        <p:txBody>
          <a:bodyPr wrap="square" lIns="0" tIns="0" rIns="0" bIns="0" rtlCol="0" anchor="ctr"/>
          <a:lstStyle/>
          <a:p>
            <a:pPr indent="0" marL="0">
              <a:buNone/>
            </a:pPr>
            <a:r>
              <a:rPr lang="en-US" sz="1500" dirty="0">
                <a:solidFill>
                  <a:schemeClr val="tx1"/>
                </a:solidFill>
              </a:rPr>
              <a:t>MaCN</a:t>
            </a:r>
            <a:endParaRPr lang="en-US" sz="1500" dirty="0"/>
          </a:p>
        </p:txBody>
      </p:sp>
      <p:sp>
        <p:nvSpPr>
          <p:cNvPr id="18" name="nhom-cot"/>
          <p:cNvSpPr/>
          <p:nvPr/>
        </p:nvSpPr>
        <p:spPr>
          <a:xfrm>
            <a:off x="9144000" y="1645920"/>
            <a:ext cx="2514600" cy="502920"/>
          </a:xfrm>
          <a:prstGeom prst="roundRect">
            <a:avLst>
              <a:gd name="adj" fmla="val 21818"/>
            </a:avLst>
          </a:prstGeom>
          <a:solidFill>
            <a:schemeClr val="accent2"/>
          </a:solidFill>
          <a:ln w="12700">
            <a:solidFill>
              <a:schemeClr val="accent2"/>
            </a:solidFill>
            <a:prstDash val="solid"/>
          </a:ln>
        </p:spPr>
      </p:sp>
      <p:sp>
        <p:nvSpPr>
          <p:cNvPr id="19" name="Text 16"/>
          <p:cNvSpPr txBox="1"/>
          <p:nvPr/>
        </p:nvSpPr>
        <p:spPr>
          <a:xfrm>
            <a:off x="9144000" y="1645920"/>
            <a:ext cx="2514600" cy="502920"/>
          </a:xfrm>
          <a:prstGeom prst="rect">
            <a:avLst/>
          </a:prstGeom>
          <a:noFill/>
          <a:ln/>
        </p:spPr>
        <p:txBody>
          <a:bodyPr wrap="square" lIns="0" tIns="0" rIns="0" bIns="0" rtlCol="0" anchor="ctr"/>
          <a:lstStyle/>
          <a:p>
            <a:pPr algn="ctr" indent="0" marL="0">
              <a:buNone/>
            </a:pPr>
            <a:r>
              <a:rPr lang="en-US" sz="1500" b="1" dirty="0">
                <a:solidFill>
                  <a:schemeClr val="bg1"/>
                </a:solidFill>
              </a:rPr>
              <a:t>NV_NS · nhân sự</a:t>
            </a:r>
            <a:endParaRPr lang="en-US" sz="1500" dirty="0"/>
          </a:p>
        </p:txBody>
      </p:sp>
      <p:sp>
        <p:nvSpPr>
          <p:cNvPr id="20" name="cot"/>
          <p:cNvSpPr/>
          <p:nvPr/>
        </p:nvSpPr>
        <p:spPr>
          <a:xfrm>
            <a:off x="9144000" y="2240280"/>
            <a:ext cx="2514600" cy="365760"/>
          </a:xfrm>
          <a:prstGeom prst="roundRect">
            <a:avLst>
              <a:gd name="adj" fmla="val 30000"/>
            </a:avLst>
          </a:prstGeom>
          <a:solidFill>
            <a:srgbClr val="E5E7EB"/>
          </a:solidFill>
          <a:ln w="12700">
            <a:solidFill>
              <a:srgbClr val="E5E7EB"/>
            </a:solidFill>
            <a:prstDash val="solid"/>
          </a:ln>
        </p:spPr>
      </p:sp>
      <p:sp>
        <p:nvSpPr>
          <p:cNvPr id="21" name="Text 18"/>
          <p:cNvSpPr txBox="1"/>
          <p:nvPr/>
        </p:nvSpPr>
        <p:spPr>
          <a:xfrm>
            <a:off x="9326880" y="224028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MaNV (khóa)</a:t>
            </a:r>
            <a:endParaRPr lang="en-US" sz="1500" dirty="0"/>
          </a:p>
        </p:txBody>
      </p:sp>
      <p:sp>
        <p:nvSpPr>
          <p:cNvPr id="22" name="cot"/>
          <p:cNvSpPr/>
          <p:nvPr/>
        </p:nvSpPr>
        <p:spPr>
          <a:xfrm>
            <a:off x="9144000" y="2670048"/>
            <a:ext cx="2514600" cy="365760"/>
          </a:xfrm>
          <a:prstGeom prst="roundRect">
            <a:avLst>
              <a:gd name="adj" fmla="val 30000"/>
            </a:avLst>
          </a:prstGeom>
          <a:solidFill>
            <a:srgbClr val="EDE9FE"/>
          </a:solidFill>
          <a:ln w="12700">
            <a:solidFill>
              <a:srgbClr val="EDE9FE"/>
            </a:solidFill>
            <a:prstDash val="solid"/>
          </a:ln>
        </p:spPr>
      </p:sp>
      <p:sp>
        <p:nvSpPr>
          <p:cNvPr id="23" name="Text 20"/>
          <p:cNvSpPr txBox="1"/>
          <p:nvPr/>
        </p:nvSpPr>
        <p:spPr>
          <a:xfrm>
            <a:off x="9326880" y="2670048"/>
            <a:ext cx="2194560" cy="365760"/>
          </a:xfrm>
          <a:prstGeom prst="rect">
            <a:avLst/>
          </a:prstGeom>
          <a:noFill/>
          <a:ln/>
        </p:spPr>
        <p:txBody>
          <a:bodyPr wrap="square" lIns="0" tIns="0" rIns="0" bIns="0" rtlCol="0" anchor="ctr"/>
          <a:lstStyle/>
          <a:p>
            <a:pPr indent="0" marL="0">
              <a:buNone/>
            </a:pPr>
            <a:r>
              <a:rPr lang="en-US" sz="1500" dirty="0">
                <a:solidFill>
                  <a:schemeClr val="tx1"/>
                </a:solidFill>
              </a:rPr>
              <a:t>NgaySinh</a:t>
            </a:r>
            <a:endParaRPr lang="en-US" sz="1500" dirty="0"/>
          </a:p>
        </p:txBody>
      </p:sp>
      <p:sp>
        <p:nvSpPr>
          <p:cNvPr id="24" name="cot"/>
          <p:cNvSpPr/>
          <p:nvPr/>
        </p:nvSpPr>
        <p:spPr>
          <a:xfrm>
            <a:off x="9144000" y="3099816"/>
            <a:ext cx="2514600" cy="365760"/>
          </a:xfrm>
          <a:prstGeom prst="roundRect">
            <a:avLst>
              <a:gd name="adj" fmla="val 30000"/>
            </a:avLst>
          </a:prstGeom>
          <a:solidFill>
            <a:srgbClr val="EDE9FE"/>
          </a:solidFill>
          <a:ln w="12700">
            <a:solidFill>
              <a:srgbClr val="EDE9FE"/>
            </a:solidFill>
            <a:prstDash val="solid"/>
          </a:ln>
        </p:spPr>
      </p:sp>
      <p:sp>
        <p:nvSpPr>
          <p:cNvPr id="25" name="Text 22"/>
          <p:cNvSpPr txBox="1"/>
          <p:nvPr/>
        </p:nvSpPr>
        <p:spPr>
          <a:xfrm>
            <a:off x="9326880" y="3099816"/>
            <a:ext cx="2194560" cy="365760"/>
          </a:xfrm>
          <a:prstGeom prst="rect">
            <a:avLst/>
          </a:prstGeom>
          <a:noFill/>
          <a:ln/>
        </p:spPr>
        <p:txBody>
          <a:bodyPr wrap="square" lIns="0" tIns="0" rIns="0" bIns="0" rtlCol="0" anchor="ctr"/>
          <a:lstStyle/>
          <a:p>
            <a:pPr indent="0" marL="0">
              <a:buNone/>
            </a:pPr>
            <a:r>
              <a:rPr lang="en-US" sz="1500" dirty="0">
                <a:solidFill>
                  <a:schemeClr val="tx1"/>
                </a:solidFill>
              </a:rPr>
              <a:t>CCCD</a:t>
            </a:r>
            <a:endParaRPr lang="en-US" sz="1500" dirty="0"/>
          </a:p>
        </p:txBody>
      </p:sp>
      <p:sp>
        <p:nvSpPr>
          <p:cNvPr id="26" name="cot"/>
          <p:cNvSpPr/>
          <p:nvPr/>
        </p:nvSpPr>
        <p:spPr>
          <a:xfrm>
            <a:off x="9144000" y="3529584"/>
            <a:ext cx="2514600" cy="365760"/>
          </a:xfrm>
          <a:prstGeom prst="roundRect">
            <a:avLst>
              <a:gd name="adj" fmla="val 30000"/>
            </a:avLst>
          </a:prstGeom>
          <a:solidFill>
            <a:srgbClr val="EDE9FE"/>
          </a:solidFill>
          <a:ln w="12700">
            <a:solidFill>
              <a:srgbClr val="EDE9FE"/>
            </a:solidFill>
            <a:prstDash val="solid"/>
          </a:ln>
        </p:spPr>
      </p:sp>
      <p:sp>
        <p:nvSpPr>
          <p:cNvPr id="27" name="Text 24"/>
          <p:cNvSpPr txBox="1"/>
          <p:nvPr/>
        </p:nvSpPr>
        <p:spPr>
          <a:xfrm>
            <a:off x="9326880" y="3529584"/>
            <a:ext cx="2194560" cy="365760"/>
          </a:xfrm>
          <a:prstGeom prst="rect">
            <a:avLst/>
          </a:prstGeom>
          <a:noFill/>
          <a:ln/>
        </p:spPr>
        <p:txBody>
          <a:bodyPr wrap="square" lIns="0" tIns="0" rIns="0" bIns="0" rtlCol="0" anchor="ctr"/>
          <a:lstStyle/>
          <a:p>
            <a:pPr indent="0" marL="0">
              <a:buNone/>
            </a:pPr>
            <a:r>
              <a:rPr lang="en-US" sz="1500" dirty="0">
                <a:solidFill>
                  <a:schemeClr val="tx1"/>
                </a:solidFill>
              </a:rPr>
              <a:t>Luong</a:t>
            </a:r>
            <a:endParaRPr lang="en-US" sz="1500" dirty="0"/>
          </a:p>
        </p:txBody>
      </p:sp>
      <p:sp>
        <p:nvSpPr>
          <p:cNvPr id="28" name="cot"/>
          <p:cNvSpPr/>
          <p:nvPr/>
        </p:nvSpPr>
        <p:spPr>
          <a:xfrm>
            <a:off x="9144000" y="3959352"/>
            <a:ext cx="2514600" cy="365760"/>
          </a:xfrm>
          <a:prstGeom prst="roundRect">
            <a:avLst>
              <a:gd name="adj" fmla="val 30000"/>
            </a:avLst>
          </a:prstGeom>
          <a:solidFill>
            <a:srgbClr val="EDE9FE"/>
          </a:solidFill>
          <a:ln w="12700">
            <a:solidFill>
              <a:srgbClr val="EDE9FE"/>
            </a:solidFill>
            <a:prstDash val="solid"/>
          </a:ln>
        </p:spPr>
      </p:sp>
      <p:sp>
        <p:nvSpPr>
          <p:cNvPr id="29" name="Text 26"/>
          <p:cNvSpPr txBox="1"/>
          <p:nvPr/>
        </p:nvSpPr>
        <p:spPr>
          <a:xfrm>
            <a:off x="9326880" y="3959352"/>
            <a:ext cx="2194560" cy="365760"/>
          </a:xfrm>
          <a:prstGeom prst="rect">
            <a:avLst/>
          </a:prstGeom>
          <a:noFill/>
          <a:ln/>
        </p:spPr>
        <p:txBody>
          <a:bodyPr wrap="square" lIns="0" tIns="0" rIns="0" bIns="0" rtlCol="0" anchor="ctr"/>
          <a:lstStyle/>
          <a:p>
            <a:pPr indent="0" marL="0">
              <a:buNone/>
            </a:pPr>
            <a:r>
              <a:rPr lang="en-US" sz="1500" dirty="0">
                <a:solidFill>
                  <a:schemeClr val="tx1"/>
                </a:solidFill>
              </a:rPr>
              <a:t>SoTaiKhoan</a:t>
            </a:r>
            <a:endParaRPr lang="en-US" sz="1500" dirty="0"/>
          </a:p>
        </p:txBody>
      </p:sp>
      <p:sp>
        <p:nvSpPr>
          <p:cNvPr id="30" name="Text 27"/>
          <p:cNvSpPr txBox="1"/>
          <p:nvPr/>
        </p:nvSpPr>
        <p:spPr>
          <a:xfrm>
            <a:off x="548640" y="4617720"/>
            <a:ext cx="5486400" cy="320040"/>
          </a:xfrm>
          <a:prstGeom prst="rect">
            <a:avLst/>
          </a:prstGeom>
          <a:noFill/>
          <a:ln/>
        </p:spPr>
        <p:txBody>
          <a:bodyPr wrap="square" lIns="0" tIns="0" rIns="0" bIns="0" rtlCol="0" anchor="t"/>
          <a:lstStyle/>
          <a:p>
            <a:pPr indent="0" marL="0">
              <a:buNone/>
            </a:pPr>
            <a:r>
              <a:rPr lang="en-US" sz="1400" b="1" spc="100" kern="0" dirty="0">
                <a:solidFill>
                  <a:schemeClr val="accent2"/>
                </a:solidFill>
              </a:rPr>
              <a:t>CÁCH NHÓM CỘT</a:t>
            </a:r>
            <a:endParaRPr lang="en-US" sz="1400" dirty="0"/>
          </a:p>
        </p:txBody>
      </p:sp>
      <p:sp>
        <p:nvSpPr>
          <p:cNvPr id="31" name="buoc"/>
          <p:cNvSpPr/>
          <p:nvPr/>
        </p:nvSpPr>
        <p:spPr>
          <a:xfrm>
            <a:off x="548640" y="5029200"/>
            <a:ext cx="2377440" cy="868680"/>
          </a:xfrm>
          <a:prstGeom prst="roundRect">
            <a:avLst>
              <a:gd name="adj" fmla="val 12632"/>
            </a:avLst>
          </a:prstGeom>
          <a:solidFill>
            <a:srgbClr val="EDE9FE"/>
          </a:solidFill>
          <a:ln w="12700">
            <a:solidFill>
              <a:srgbClr val="EDE9FE"/>
            </a:solidFill>
            <a:prstDash val="solid"/>
          </a:ln>
        </p:spPr>
      </p:sp>
      <p:sp>
        <p:nvSpPr>
          <p:cNvPr id="32" name="Text 29"/>
          <p:cNvSpPr txBox="1"/>
          <p:nvPr/>
        </p:nvSpPr>
        <p:spPr>
          <a:xfrm>
            <a:off x="685800" y="5029200"/>
            <a:ext cx="2103120" cy="868680"/>
          </a:xfrm>
          <a:prstGeom prst="rect">
            <a:avLst/>
          </a:prstGeom>
          <a:noFill/>
          <a:ln/>
        </p:spPr>
        <p:txBody>
          <a:bodyPr wrap="square" lIns="0" tIns="0" rIns="0" bIns="0" rtlCol="0" anchor="ctr"/>
          <a:lstStyle/>
          <a:p>
            <a:pPr algn="ctr" indent="0" marL="0">
              <a:buNone/>
            </a:pPr>
            <a:r>
              <a:rPr lang="en-US" sz="1600" b="1" dirty="0">
                <a:solidFill>
                  <a:schemeClr val="tx1"/>
                </a:solidFill>
              </a:rPr>
              <a:t>Ma trận sử dụng thuộc tính</a:t>
            </a:r>
            <a:endParaRPr lang="en-US" sz="1600" dirty="0"/>
          </a:p>
        </p:txBody>
      </p:sp>
      <p:sp>
        <p:nvSpPr>
          <p:cNvPr id="33" name="mui-ten"/>
          <p:cNvSpPr/>
          <p:nvPr/>
        </p:nvSpPr>
        <p:spPr>
          <a:xfrm>
            <a:off x="3043885" y="5330952"/>
            <a:ext cx="292608" cy="274320"/>
          </a:xfrm>
          <a:prstGeom prst="rightArrow">
            <a:avLst/>
          </a:prstGeom>
          <a:solidFill>
            <a:schemeClr val="accent2"/>
          </a:solidFill>
          <a:ln w="12700">
            <a:solidFill>
              <a:srgbClr val="7C3AED"/>
            </a:solidFill>
            <a:prstDash val="solid"/>
          </a:ln>
        </p:spPr>
      </p:sp>
      <p:sp>
        <p:nvSpPr>
          <p:cNvPr id="34" name="buoc"/>
          <p:cNvSpPr/>
          <p:nvPr/>
        </p:nvSpPr>
        <p:spPr>
          <a:xfrm>
            <a:off x="3454298" y="5029200"/>
            <a:ext cx="2377440" cy="868680"/>
          </a:xfrm>
          <a:prstGeom prst="roundRect">
            <a:avLst>
              <a:gd name="adj" fmla="val 12632"/>
            </a:avLst>
          </a:prstGeom>
          <a:solidFill>
            <a:srgbClr val="EDE9FE"/>
          </a:solidFill>
          <a:ln w="12700">
            <a:solidFill>
              <a:srgbClr val="EDE9FE"/>
            </a:solidFill>
            <a:prstDash val="solid"/>
          </a:ln>
        </p:spPr>
      </p:sp>
      <p:sp>
        <p:nvSpPr>
          <p:cNvPr id="35" name="Text 32"/>
          <p:cNvSpPr txBox="1"/>
          <p:nvPr/>
        </p:nvSpPr>
        <p:spPr>
          <a:xfrm>
            <a:off x="3591458" y="5029200"/>
            <a:ext cx="2103120" cy="868680"/>
          </a:xfrm>
          <a:prstGeom prst="rect">
            <a:avLst/>
          </a:prstGeom>
          <a:noFill/>
          <a:ln/>
        </p:spPr>
        <p:txBody>
          <a:bodyPr wrap="square" lIns="0" tIns="0" rIns="0" bIns="0" rtlCol="0" anchor="ctr"/>
          <a:lstStyle/>
          <a:p>
            <a:pPr algn="ctr" indent="0" marL="0">
              <a:buNone/>
            </a:pPr>
            <a:r>
              <a:rPr lang="en-US" sz="1600" b="1" dirty="0">
                <a:solidFill>
                  <a:schemeClr val="tx1"/>
                </a:solidFill>
              </a:rPr>
              <a:t>Ma trận ái lực</a:t>
            </a:r>
            <a:endParaRPr lang="en-US" sz="1600" dirty="0"/>
          </a:p>
        </p:txBody>
      </p:sp>
      <p:sp>
        <p:nvSpPr>
          <p:cNvPr id="36" name="mui-ten"/>
          <p:cNvSpPr/>
          <p:nvPr/>
        </p:nvSpPr>
        <p:spPr>
          <a:xfrm>
            <a:off x="5949544" y="5330952"/>
            <a:ext cx="292608" cy="274320"/>
          </a:xfrm>
          <a:prstGeom prst="rightArrow">
            <a:avLst/>
          </a:prstGeom>
          <a:solidFill>
            <a:schemeClr val="accent2"/>
          </a:solidFill>
          <a:ln w="12700">
            <a:solidFill>
              <a:srgbClr val="7C3AED"/>
            </a:solidFill>
            <a:prstDash val="solid"/>
          </a:ln>
        </p:spPr>
      </p:sp>
      <p:sp>
        <p:nvSpPr>
          <p:cNvPr id="37" name="buoc"/>
          <p:cNvSpPr/>
          <p:nvPr/>
        </p:nvSpPr>
        <p:spPr>
          <a:xfrm>
            <a:off x="6359957" y="5029200"/>
            <a:ext cx="2377440" cy="868680"/>
          </a:xfrm>
          <a:prstGeom prst="roundRect">
            <a:avLst>
              <a:gd name="adj" fmla="val 12632"/>
            </a:avLst>
          </a:prstGeom>
          <a:solidFill>
            <a:srgbClr val="EDE9FE"/>
          </a:solidFill>
          <a:ln w="12700">
            <a:solidFill>
              <a:srgbClr val="EDE9FE"/>
            </a:solidFill>
            <a:prstDash val="solid"/>
          </a:ln>
        </p:spPr>
      </p:sp>
      <p:sp>
        <p:nvSpPr>
          <p:cNvPr id="38" name="Text 35"/>
          <p:cNvSpPr txBox="1"/>
          <p:nvPr/>
        </p:nvSpPr>
        <p:spPr>
          <a:xfrm>
            <a:off x="6497117" y="5029200"/>
            <a:ext cx="2103120" cy="868680"/>
          </a:xfrm>
          <a:prstGeom prst="rect">
            <a:avLst/>
          </a:prstGeom>
          <a:noFill/>
          <a:ln/>
        </p:spPr>
        <p:txBody>
          <a:bodyPr wrap="square" lIns="0" tIns="0" rIns="0" bIns="0" rtlCol="0" anchor="ctr"/>
          <a:lstStyle/>
          <a:p>
            <a:pPr algn="ctr" indent="0" marL="0">
              <a:buNone/>
            </a:pPr>
            <a:r>
              <a:rPr lang="en-US" sz="1600" b="1" dirty="0">
                <a:solidFill>
                  <a:schemeClr val="tx1"/>
                </a:solidFill>
              </a:rPr>
              <a:t>BEA: gom cụm cột</a:t>
            </a:r>
            <a:endParaRPr lang="en-US" sz="1600" dirty="0"/>
          </a:p>
        </p:txBody>
      </p:sp>
      <p:sp>
        <p:nvSpPr>
          <p:cNvPr id="39" name="mui-ten"/>
          <p:cNvSpPr/>
          <p:nvPr/>
        </p:nvSpPr>
        <p:spPr>
          <a:xfrm>
            <a:off x="8855202" y="5330952"/>
            <a:ext cx="292608" cy="274320"/>
          </a:xfrm>
          <a:prstGeom prst="rightArrow">
            <a:avLst/>
          </a:prstGeom>
          <a:solidFill>
            <a:schemeClr val="accent2"/>
          </a:solidFill>
          <a:ln w="12700">
            <a:solidFill>
              <a:srgbClr val="7C3AED"/>
            </a:solidFill>
            <a:prstDash val="solid"/>
          </a:ln>
        </p:spPr>
      </p:sp>
      <p:sp>
        <p:nvSpPr>
          <p:cNvPr id="40" name="buoc"/>
          <p:cNvSpPr/>
          <p:nvPr/>
        </p:nvSpPr>
        <p:spPr>
          <a:xfrm>
            <a:off x="9265615" y="5029200"/>
            <a:ext cx="2377440" cy="868680"/>
          </a:xfrm>
          <a:prstGeom prst="roundRect">
            <a:avLst>
              <a:gd name="adj" fmla="val 12632"/>
            </a:avLst>
          </a:prstGeom>
          <a:solidFill>
            <a:srgbClr val="EDE9FE"/>
          </a:solidFill>
          <a:ln w="12700">
            <a:solidFill>
              <a:srgbClr val="EDE9FE"/>
            </a:solidFill>
            <a:prstDash val="solid"/>
          </a:ln>
        </p:spPr>
      </p:sp>
      <p:sp>
        <p:nvSpPr>
          <p:cNvPr id="41" name="Text 38"/>
          <p:cNvSpPr txBox="1"/>
          <p:nvPr/>
        </p:nvSpPr>
        <p:spPr>
          <a:xfrm>
            <a:off x="9402775" y="5029200"/>
            <a:ext cx="2103120" cy="868680"/>
          </a:xfrm>
          <a:prstGeom prst="rect">
            <a:avLst/>
          </a:prstGeom>
          <a:noFill/>
          <a:ln/>
        </p:spPr>
        <p:txBody>
          <a:bodyPr wrap="square" lIns="0" tIns="0" rIns="0" bIns="0" rtlCol="0" anchor="ctr"/>
          <a:lstStyle/>
          <a:p>
            <a:pPr algn="ctr" indent="0" marL="0">
              <a:buNone/>
            </a:pPr>
            <a:r>
              <a:rPr lang="en-US" sz="1600" b="1" dirty="0">
                <a:solidFill>
                  <a:schemeClr val="tx1"/>
                </a:solidFill>
              </a:rPr>
              <a:t>SPLIT: chọn điểm cắt</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3 · PHÂN MẢNH HỖN HỢP</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Phân mảnh hỗn hợp</a:t>
            </a:r>
            <a:endParaRPr lang="en-US" sz="3200" dirty="0"/>
          </a:p>
        </p:txBody>
      </p:sp>
      <p:sp>
        <p:nvSpPr>
          <p:cNvPr id="5" name="Text 2"/>
          <p:cNvSpPr txBox="1"/>
          <p:nvPr/>
        </p:nvSpPr>
        <p:spPr>
          <a:xfrm>
            <a:off x="548640" y="1600200"/>
            <a:ext cx="5760720" cy="3291840"/>
          </a:xfrm>
          <a:prstGeom prst="rect">
            <a:avLst/>
          </a:prstGeom>
          <a:noFill/>
          <a:ln/>
        </p:spPr>
        <p:txBody>
          <a:bodyPr wrap="square" lIns="0" tIns="0" rIns="0" bIns="0" rtlCol="0" anchor="t"/>
          <a:lstStyle/>
          <a:p>
            <a:pPr marL="228600" indent="-228600">
              <a:spcAft>
                <a:spcPts val="800"/>
              </a:spcAft>
              <a:buSzPct val="100000"/>
              <a:buChar char="•"/>
            </a:pPr>
            <a:r>
              <a:rPr lang="en-US" sz="1700" b="1" dirty="0">
                <a:solidFill>
                  <a:schemeClr val="tx1"/>
                </a:solidFill>
              </a:rPr>
              <a:t>Kết hợp</a:t>
            </a:r>
            <a:pPr indent="0" marL="0">
              <a:buNone/>
            </a:pPr>
            <a:r>
              <a:rPr lang="en-US" sz="1700" dirty="0">
                <a:solidFill>
                  <a:schemeClr val="tx1"/>
                </a:solidFill>
              </a:rPr>
              <a:t> phân mảnh ngang và dọc: áp dụng nối tiếp σ và π</a:t>
            </a:r>
            <a:endParaRPr lang="en-US" sz="1600" dirty="0"/>
          </a:p>
          <a:p>
            <a:pPr marL="228600" indent="-228600">
              <a:spcAft>
                <a:spcPts val="800"/>
              </a:spcAft>
              <a:buSzPct val="100000"/>
              <a:buChar char="•"/>
            </a:pPr>
            <a:r>
              <a:rPr lang="en-US" sz="1700" dirty="0">
                <a:solidFill>
                  <a:schemeClr val="tx1"/>
                </a:solidFill>
              </a:rPr>
              <a:t>Ứng dụng thực tế vừa chỉ dùng </a:t>
            </a:r>
            <a:pPr indent="0" marL="0">
              <a:buNone/>
            </a:pPr>
            <a:r>
              <a:rPr lang="en-US" sz="1700" b="1" dirty="0">
                <a:solidFill>
                  <a:schemeClr val="tx1"/>
                </a:solidFill>
              </a:rPr>
              <a:t>một số dòng</a:t>
            </a:r>
            <a:pPr indent="0" marL="0">
              <a:buNone/>
            </a:pPr>
            <a:r>
              <a:rPr lang="en-US" sz="1700" dirty="0">
                <a:solidFill>
                  <a:schemeClr val="tx1"/>
                </a:solidFill>
              </a:rPr>
              <a:t>, vừa chỉ dùng </a:t>
            </a:r>
            <a:pPr indent="0" marL="0">
              <a:buNone/>
            </a:pPr>
            <a:r>
              <a:rPr lang="en-US" sz="1700" b="1" dirty="0">
                <a:solidFill>
                  <a:schemeClr val="tx1"/>
                </a:solidFill>
              </a:rPr>
              <a:t>một số cột</a:t>
            </a:r>
            <a:endParaRPr lang="en-US" sz="1600" dirty="0"/>
          </a:p>
          <a:p>
            <a:pPr lvl="1" marL="457200" indent="-228600">
              <a:spcAft>
                <a:spcPts val="800"/>
              </a:spcAft>
              <a:buSzPct val="100000"/>
              <a:buChar char="•"/>
            </a:pPr>
            <a:r>
              <a:rPr lang="en-US" sz="1600" dirty="0">
                <a:solidFill>
                  <a:schemeClr val="tx1"/>
                </a:solidFill>
              </a:rPr>
              <a:t>Chi nhánh Hà Nội: chỉ </a:t>
            </a:r>
            <a:pPr indent="0" marL="0">
              <a:buNone/>
            </a:pPr>
            <a:r>
              <a:rPr lang="en-US" sz="1600" b="1" dirty="0">
                <a:solidFill>
                  <a:schemeClr val="tx1"/>
                </a:solidFill>
              </a:rPr>
              <a:t>khách Hà Nội</a:t>
            </a:r>
            <a:pPr indent="0" marL="0">
              <a:buNone/>
            </a:pPr>
            <a:r>
              <a:rPr lang="en-US" sz="1600" dirty="0">
                <a:solidFill>
                  <a:schemeClr val="tx1"/>
                </a:solidFill>
              </a:rPr>
              <a:t> + chỉ </a:t>
            </a:r>
            <a:pPr indent="0" marL="0">
              <a:buNone/>
            </a:pPr>
            <a:r>
              <a:rPr lang="en-US" sz="1600" b="1" dirty="0">
                <a:solidFill>
                  <a:schemeClr val="tx1"/>
                </a:solidFill>
              </a:rPr>
              <a:t>cột giao dịch</a:t>
            </a:r>
            <a:endParaRPr lang="en-US" sz="1600" dirty="0"/>
          </a:p>
          <a:p>
            <a:pPr lvl="1" marL="457200" indent="-228600">
              <a:spcAft>
                <a:spcPts val="800"/>
              </a:spcAft>
              <a:buSzPct val="100000"/>
              <a:buChar char="•"/>
            </a:pPr>
            <a:r>
              <a:rPr lang="en-US" sz="1600" dirty="0">
                <a:solidFill>
                  <a:schemeClr val="tx1"/>
                </a:solidFill>
              </a:rPr>
              <a:t>Kế toán trụ sở: </a:t>
            </a:r>
            <a:pPr indent="0" marL="0">
              <a:buNone/>
            </a:pPr>
            <a:r>
              <a:rPr lang="en-US" sz="1600" b="1" dirty="0">
                <a:solidFill>
                  <a:schemeClr val="tx1"/>
                </a:solidFill>
              </a:rPr>
              <a:t>mọi khách</a:t>
            </a:r>
            <a:pPr indent="0" marL="0">
              <a:buNone/>
            </a:pPr>
            <a:r>
              <a:rPr lang="en-US" sz="1600" dirty="0">
                <a:solidFill>
                  <a:schemeClr val="tx1"/>
                </a:solidFill>
              </a:rPr>
              <a:t> + chỉ </a:t>
            </a:r>
            <a:pPr indent="0" marL="0">
              <a:buNone/>
            </a:pPr>
            <a:r>
              <a:rPr lang="en-US" sz="1600" b="1" dirty="0">
                <a:solidFill>
                  <a:schemeClr val="tx1"/>
                </a:solidFill>
              </a:rPr>
              <a:t>cột công nợ</a:t>
            </a:r>
            <a:endParaRPr lang="en-US" sz="1600" dirty="0"/>
          </a:p>
          <a:p>
            <a:pPr marL="228600" indent="-228600">
              <a:spcAft>
                <a:spcPts val="800"/>
              </a:spcAft>
              <a:buSzPct val="100000"/>
              <a:buChar char="•"/>
            </a:pPr>
            <a:r>
              <a:rPr lang="en-US" sz="1700" dirty="0">
                <a:solidFill>
                  <a:schemeClr val="tx1"/>
                </a:solidFill>
              </a:rPr>
              <a:t>Chỉ chia ngang hoặc chỉ chia dọc → vẫn chuyển và lưu dữ liệu thừa</a:t>
            </a:r>
            <a:endParaRPr lang="en-US" sz="1600" dirty="0"/>
          </a:p>
        </p:txBody>
      </p:sp>
      <p:sp>
        <p:nvSpPr>
          <p:cNvPr id="6" name="cong-thuc"/>
          <p:cNvSpPr/>
          <p:nvPr/>
        </p:nvSpPr>
        <p:spPr>
          <a:xfrm>
            <a:off x="548640" y="4983480"/>
            <a:ext cx="5760720" cy="1005840"/>
          </a:xfrm>
          <a:prstGeom prst="roundRect">
            <a:avLst>
              <a:gd name="adj" fmla="val 10909"/>
            </a:avLst>
          </a:prstGeom>
          <a:solidFill>
            <a:schemeClr val="tx1"/>
          </a:solidFill>
          <a:ln w="12700">
            <a:solidFill>
              <a:schemeClr val="tx1"/>
            </a:solidFill>
            <a:prstDash val="solid"/>
          </a:ln>
        </p:spPr>
      </p:sp>
      <p:sp>
        <p:nvSpPr>
          <p:cNvPr id="7" name="Text 4"/>
          <p:cNvSpPr txBox="1"/>
          <p:nvPr/>
        </p:nvSpPr>
        <p:spPr>
          <a:xfrm>
            <a:off x="822960" y="4983480"/>
            <a:ext cx="5303520" cy="1005840"/>
          </a:xfrm>
          <a:prstGeom prst="rect">
            <a:avLst/>
          </a:prstGeom>
          <a:noFill/>
          <a:ln/>
        </p:spPr>
        <p:txBody>
          <a:bodyPr wrap="square" lIns="0" tIns="0" rIns="0" bIns="0" rtlCol="0" anchor="ctr"/>
          <a:lstStyle/>
          <a:p>
            <a:pPr indent="0" marL="0">
              <a:buNone/>
            </a:pPr>
            <a:r>
              <a:rPr lang="en-US" sz="2200" dirty="0">
                <a:solidFill>
                  <a:schemeClr val="bg1"/>
                </a:solidFill>
              </a:rPr>
              <a:t>Mảnh hỗn hợp:  </a:t>
            </a:r>
            <a:pPr indent="0" marL="0">
              <a:buNone/>
            </a:pPr>
            <a:r>
              <a:rPr lang="en-US" sz="2200" dirty="0">
                <a:solidFill>
                  <a:schemeClr val="bg1"/>
                </a:solidFill>
                <a:latin typeface="Cambria Math" pitchFamily="34" charset="0"/>
                <a:ea typeface="Cambria Math" pitchFamily="34" charset="-122"/>
                <a:cs typeface="Cambria Math" pitchFamily="34" charset="-120"/>
              </a:rPr>
              <a:t>π</a:t>
            </a:r>
            <a:pPr indent="0" marL="0">
              <a:buNone/>
            </a:pPr>
            <a:r>
              <a:rPr lang="en-US" sz="2200" baseline="-40000" dirty="0">
                <a:solidFill>
                  <a:schemeClr val="bg1"/>
                </a:solidFill>
                <a:latin typeface="Cambria Math" pitchFamily="34" charset="0"/>
                <a:ea typeface="Cambria Math" pitchFamily="34" charset="-122"/>
                <a:cs typeface="Cambria Math" pitchFamily="34" charset="-120"/>
              </a:rPr>
              <a:t>A</a:t>
            </a:r>
            <a:pPr indent="0" marL="0">
              <a:buNone/>
            </a:pPr>
            <a:r>
              <a:rPr lang="en-US" sz="2200" dirty="0">
                <a:solidFill>
                  <a:schemeClr val="bg1"/>
                </a:solidFill>
                <a:latin typeface="Cambria Math" pitchFamily="34" charset="0"/>
                <a:ea typeface="Cambria Math" pitchFamily="34" charset="-122"/>
                <a:cs typeface="Cambria Math" pitchFamily="34" charset="-120"/>
              </a:rPr>
              <a:t>(σ</a:t>
            </a:r>
            <a:pPr indent="0" marL="0">
              <a:buNone/>
            </a:pPr>
            <a:r>
              <a:rPr lang="en-US" sz="2200" baseline="-40000" dirty="0">
                <a:solidFill>
                  <a:schemeClr val="bg1"/>
                </a:solidFill>
                <a:latin typeface="Cambria Math" pitchFamily="34" charset="0"/>
                <a:ea typeface="Cambria Math" pitchFamily="34" charset="-122"/>
                <a:cs typeface="Cambria Math" pitchFamily="34" charset="-120"/>
              </a:rPr>
              <a:t>F</a:t>
            </a:r>
            <a:pPr indent="0" marL="0">
              <a:buNone/>
            </a:pPr>
            <a:r>
              <a:rPr lang="en-US" sz="2200" dirty="0">
                <a:solidFill>
                  <a:schemeClr val="bg1"/>
                </a:solidFill>
                <a:latin typeface="Cambria Math" pitchFamily="34" charset="0"/>
                <a:ea typeface="Cambria Math" pitchFamily="34" charset="-122"/>
                <a:cs typeface="Cambria Math" pitchFamily="34" charset="-120"/>
              </a:rPr>
              <a:t>(R))</a:t>
            </a:r>
            <a:pPr indent="0" marL="0">
              <a:buNone/>
            </a:pPr>
            <a:r>
              <a:rPr lang="en-US" sz="2200" dirty="0">
                <a:solidFill>
                  <a:schemeClr val="bg1"/>
                </a:solidFill>
              </a:rPr>
              <a:t>  hoặc  </a:t>
            </a:r>
            <a:pPr indent="0" marL="0">
              <a:buNone/>
            </a:pPr>
            <a:r>
              <a:rPr lang="en-US" sz="2200" dirty="0">
                <a:solidFill>
                  <a:schemeClr val="bg1"/>
                </a:solidFill>
                <a:latin typeface="Cambria Math" pitchFamily="34" charset="0"/>
                <a:ea typeface="Cambria Math" pitchFamily="34" charset="-122"/>
                <a:cs typeface="Cambria Math" pitchFamily="34" charset="-120"/>
              </a:rPr>
              <a:t>σ</a:t>
            </a:r>
            <a:pPr indent="0" marL="0">
              <a:buNone/>
            </a:pPr>
            <a:r>
              <a:rPr lang="en-US" sz="2200" baseline="-40000" dirty="0">
                <a:solidFill>
                  <a:schemeClr val="bg1"/>
                </a:solidFill>
                <a:latin typeface="Cambria Math" pitchFamily="34" charset="0"/>
                <a:ea typeface="Cambria Math" pitchFamily="34" charset="-122"/>
                <a:cs typeface="Cambria Math" pitchFamily="34" charset="-120"/>
              </a:rPr>
              <a:t>F</a:t>
            </a:r>
            <a:pPr indent="0" marL="0">
              <a:buNone/>
            </a:pPr>
            <a:r>
              <a:rPr lang="en-US" sz="2200" dirty="0">
                <a:solidFill>
                  <a:schemeClr val="bg1"/>
                </a:solidFill>
                <a:latin typeface="Cambria Math" pitchFamily="34" charset="0"/>
                <a:ea typeface="Cambria Math" pitchFamily="34" charset="-122"/>
                <a:cs typeface="Cambria Math" pitchFamily="34" charset="-120"/>
              </a:rPr>
              <a:t>(π</a:t>
            </a:r>
            <a:pPr indent="0" marL="0">
              <a:buNone/>
            </a:pPr>
            <a:r>
              <a:rPr lang="en-US" sz="2200" baseline="-40000" dirty="0">
                <a:solidFill>
                  <a:schemeClr val="bg1"/>
                </a:solidFill>
                <a:latin typeface="Cambria Math" pitchFamily="34" charset="0"/>
                <a:ea typeface="Cambria Math" pitchFamily="34" charset="-122"/>
                <a:cs typeface="Cambria Math" pitchFamily="34" charset="-120"/>
              </a:rPr>
              <a:t>A</a:t>
            </a:r>
            <a:pPr indent="0" marL="0">
              <a:buNone/>
            </a:pPr>
            <a:r>
              <a:rPr lang="en-US" sz="2200" dirty="0">
                <a:solidFill>
                  <a:schemeClr val="bg1"/>
                </a:solidFill>
                <a:latin typeface="Cambria Math" pitchFamily="34" charset="0"/>
                <a:ea typeface="Cambria Math" pitchFamily="34" charset="-122"/>
                <a:cs typeface="Cambria Math" pitchFamily="34" charset="-120"/>
              </a:rPr>
              <a:t>(R))</a:t>
            </a:r>
            <a:endParaRPr lang="en-US" sz="2200" dirty="0"/>
          </a:p>
        </p:txBody>
      </p:sp>
      <p:sp>
        <p:nvSpPr>
          <p:cNvPr id="8" name="Text 5"/>
          <p:cNvSpPr txBox="1"/>
          <p:nvPr/>
        </p:nvSpPr>
        <p:spPr>
          <a:xfrm>
            <a:off x="7863840" y="173736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Giao dịch</a:t>
            </a:r>
            <a:endParaRPr lang="en-US" sz="1500" dirty="0"/>
          </a:p>
        </p:txBody>
      </p:sp>
      <p:sp>
        <p:nvSpPr>
          <p:cNvPr id="9" name="Text 6"/>
          <p:cNvSpPr txBox="1"/>
          <p:nvPr/>
        </p:nvSpPr>
        <p:spPr>
          <a:xfrm>
            <a:off x="9802368" y="173736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Tài chính</a:t>
            </a:r>
            <a:endParaRPr lang="en-US" sz="1500" dirty="0"/>
          </a:p>
        </p:txBody>
      </p:sp>
      <p:sp>
        <p:nvSpPr>
          <p:cNvPr id="10" name="Text 7"/>
          <p:cNvSpPr txBox="1"/>
          <p:nvPr/>
        </p:nvSpPr>
        <p:spPr>
          <a:xfrm>
            <a:off x="6400800" y="2148840"/>
            <a:ext cx="1325880" cy="1051560"/>
          </a:xfrm>
          <a:prstGeom prst="rect">
            <a:avLst/>
          </a:prstGeom>
          <a:noFill/>
          <a:ln/>
        </p:spPr>
        <p:txBody>
          <a:bodyPr wrap="square" lIns="0" tIns="0" rIns="0" bIns="0" rtlCol="0" anchor="ctr"/>
          <a:lstStyle/>
          <a:p>
            <a:pPr algn="r" indent="0" marL="0">
              <a:buNone/>
            </a:pPr>
            <a:r>
              <a:rPr lang="en-US" sz="1500" b="1" dirty="0">
                <a:solidFill>
                  <a:schemeClr val="tx2"/>
                </a:solidFill>
              </a:rPr>
              <a:t>Hà Nội</a:t>
            </a:r>
            <a:endParaRPr lang="en-US" sz="1500" dirty="0"/>
          </a:p>
        </p:txBody>
      </p:sp>
      <p:sp>
        <p:nvSpPr>
          <p:cNvPr id="11" name="o-luoi"/>
          <p:cNvSpPr/>
          <p:nvPr/>
        </p:nvSpPr>
        <p:spPr>
          <a:xfrm>
            <a:off x="7863840" y="2148840"/>
            <a:ext cx="1828800" cy="1051560"/>
          </a:xfrm>
          <a:prstGeom prst="roundRect">
            <a:avLst>
              <a:gd name="adj" fmla="val 10435"/>
            </a:avLst>
          </a:prstGeom>
          <a:solidFill>
            <a:schemeClr val="accent3"/>
          </a:solidFill>
          <a:ln w="12700">
            <a:solidFill>
              <a:schemeClr val="accent3"/>
            </a:solidFill>
            <a:prstDash val="solid"/>
          </a:ln>
        </p:spPr>
      </p:sp>
      <p:sp>
        <p:nvSpPr>
          <p:cNvPr id="12" name="Text 9"/>
          <p:cNvSpPr txBox="1"/>
          <p:nvPr/>
        </p:nvSpPr>
        <p:spPr>
          <a:xfrm>
            <a:off x="7955280" y="2148840"/>
            <a:ext cx="1645920" cy="1051560"/>
          </a:xfrm>
          <a:prstGeom prst="rect">
            <a:avLst/>
          </a:prstGeom>
          <a:noFill/>
          <a:ln/>
        </p:spPr>
        <p:txBody>
          <a:bodyPr wrap="square" lIns="0" tIns="0" rIns="0" bIns="0" rtlCol="0" anchor="ctr"/>
          <a:lstStyle/>
          <a:p>
            <a:pPr algn="ctr" indent="0" marL="0">
              <a:buNone/>
            </a:pPr>
            <a:r>
              <a:rPr lang="en-US" sz="1500" b="1" dirty="0">
                <a:solidFill>
                  <a:schemeClr val="bg1"/>
                </a:solidFill>
              </a:rPr>
              <a:t>Chi nhánh Hà Nội dùng</a:t>
            </a:r>
            <a:endParaRPr lang="en-US" sz="1500" dirty="0"/>
          </a:p>
        </p:txBody>
      </p:sp>
      <p:sp>
        <p:nvSpPr>
          <p:cNvPr id="13" name="o-luoi"/>
          <p:cNvSpPr/>
          <p:nvPr/>
        </p:nvSpPr>
        <p:spPr>
          <a:xfrm>
            <a:off x="9802368" y="2148840"/>
            <a:ext cx="1828800" cy="1051560"/>
          </a:xfrm>
          <a:prstGeom prst="roundRect">
            <a:avLst>
              <a:gd name="adj" fmla="val 10435"/>
            </a:avLst>
          </a:prstGeom>
          <a:solidFill>
            <a:schemeClr val="accent6"/>
          </a:solidFill>
          <a:ln w="12700">
            <a:solidFill>
              <a:schemeClr val="accent6"/>
            </a:solidFill>
            <a:prstDash val="solid"/>
          </a:ln>
        </p:spPr>
      </p:sp>
      <p:sp>
        <p:nvSpPr>
          <p:cNvPr id="14" name="Text 11"/>
          <p:cNvSpPr txBox="1"/>
          <p:nvPr/>
        </p:nvSpPr>
        <p:spPr>
          <a:xfrm>
            <a:off x="9893808" y="2148840"/>
            <a:ext cx="1645920" cy="1051560"/>
          </a:xfrm>
          <a:prstGeom prst="rect">
            <a:avLst/>
          </a:prstGeom>
          <a:noFill/>
          <a:ln/>
        </p:spPr>
        <p:txBody>
          <a:bodyPr wrap="square" lIns="0" tIns="0" rIns="0" bIns="0" rtlCol="0" anchor="ctr"/>
          <a:lstStyle/>
          <a:p>
            <a:pPr algn="ctr" indent="0" marL="0">
              <a:buNone/>
            </a:pPr>
            <a:r>
              <a:rPr lang="en-US" sz="1500" b="1" dirty="0">
                <a:solidFill>
                  <a:schemeClr val="bg1"/>
                </a:solidFill>
              </a:rPr>
              <a:t>Kế toán dùng</a:t>
            </a:r>
            <a:endParaRPr lang="en-US" sz="1500" dirty="0"/>
          </a:p>
        </p:txBody>
      </p:sp>
      <p:sp>
        <p:nvSpPr>
          <p:cNvPr id="15" name="Text 12"/>
          <p:cNvSpPr txBox="1"/>
          <p:nvPr/>
        </p:nvSpPr>
        <p:spPr>
          <a:xfrm>
            <a:off x="6400800" y="3310128"/>
            <a:ext cx="1325880" cy="1051560"/>
          </a:xfrm>
          <a:prstGeom prst="rect">
            <a:avLst/>
          </a:prstGeom>
          <a:noFill/>
          <a:ln/>
        </p:spPr>
        <p:txBody>
          <a:bodyPr wrap="square" lIns="0" tIns="0" rIns="0" bIns="0" rtlCol="0" anchor="ctr"/>
          <a:lstStyle/>
          <a:p>
            <a:pPr algn="r" indent="0" marL="0">
              <a:buNone/>
            </a:pPr>
            <a:r>
              <a:rPr lang="en-US" sz="1500" b="1" dirty="0">
                <a:solidFill>
                  <a:schemeClr val="tx2"/>
                </a:solidFill>
              </a:rPr>
              <a:t>Đà Nẵng</a:t>
            </a:r>
            <a:endParaRPr lang="en-US" sz="1500" dirty="0"/>
          </a:p>
        </p:txBody>
      </p:sp>
      <p:sp>
        <p:nvSpPr>
          <p:cNvPr id="16" name="o-luoi"/>
          <p:cNvSpPr/>
          <p:nvPr/>
        </p:nvSpPr>
        <p:spPr>
          <a:xfrm>
            <a:off x="7863840" y="3310128"/>
            <a:ext cx="1828800" cy="1051560"/>
          </a:xfrm>
          <a:prstGeom prst="roundRect">
            <a:avLst>
              <a:gd name="adj" fmla="val 10435"/>
            </a:avLst>
          </a:prstGeom>
          <a:solidFill>
            <a:schemeClr val="bg2"/>
          </a:solidFill>
          <a:ln w="12700">
            <a:solidFill>
              <a:schemeClr val="bg2"/>
            </a:solidFill>
            <a:prstDash val="solid"/>
          </a:ln>
        </p:spPr>
      </p:sp>
      <p:sp>
        <p:nvSpPr>
          <p:cNvPr id="17" name="o-luoi"/>
          <p:cNvSpPr/>
          <p:nvPr/>
        </p:nvSpPr>
        <p:spPr>
          <a:xfrm>
            <a:off x="9802368" y="3310128"/>
            <a:ext cx="1828800" cy="1051560"/>
          </a:xfrm>
          <a:prstGeom prst="roundRect">
            <a:avLst>
              <a:gd name="adj" fmla="val 10435"/>
            </a:avLst>
          </a:prstGeom>
          <a:solidFill>
            <a:schemeClr val="accent6"/>
          </a:solidFill>
          <a:ln w="12700">
            <a:solidFill>
              <a:schemeClr val="accent6"/>
            </a:solidFill>
            <a:prstDash val="solid"/>
          </a:ln>
        </p:spPr>
      </p:sp>
      <p:sp>
        <p:nvSpPr>
          <p:cNvPr id="18" name="Text 15"/>
          <p:cNvSpPr txBox="1"/>
          <p:nvPr/>
        </p:nvSpPr>
        <p:spPr>
          <a:xfrm>
            <a:off x="9893808" y="3310128"/>
            <a:ext cx="1645920" cy="1051560"/>
          </a:xfrm>
          <a:prstGeom prst="rect">
            <a:avLst/>
          </a:prstGeom>
          <a:noFill/>
          <a:ln/>
        </p:spPr>
        <p:txBody>
          <a:bodyPr wrap="square" lIns="0" tIns="0" rIns="0" bIns="0" rtlCol="0" anchor="ctr"/>
          <a:lstStyle/>
          <a:p>
            <a:pPr algn="ctr" indent="0" marL="0">
              <a:buNone/>
            </a:pPr>
            <a:r>
              <a:rPr lang="en-US" sz="1500" b="1" dirty="0">
                <a:solidFill>
                  <a:schemeClr val="bg1"/>
                </a:solidFill>
              </a:rPr>
              <a:t>Kế toán dùng</a:t>
            </a:r>
            <a:endParaRPr lang="en-US" sz="1500" dirty="0"/>
          </a:p>
        </p:txBody>
      </p:sp>
      <p:sp>
        <p:nvSpPr>
          <p:cNvPr id="19" name="Text 16"/>
          <p:cNvSpPr txBox="1"/>
          <p:nvPr/>
        </p:nvSpPr>
        <p:spPr>
          <a:xfrm>
            <a:off x="6400800" y="4471416"/>
            <a:ext cx="1325880" cy="1051560"/>
          </a:xfrm>
          <a:prstGeom prst="rect">
            <a:avLst/>
          </a:prstGeom>
          <a:noFill/>
          <a:ln/>
        </p:spPr>
        <p:txBody>
          <a:bodyPr wrap="square" lIns="0" tIns="0" rIns="0" bIns="0" rtlCol="0" anchor="ctr"/>
          <a:lstStyle/>
          <a:p>
            <a:pPr algn="r" indent="0" marL="0">
              <a:buNone/>
            </a:pPr>
            <a:r>
              <a:rPr lang="en-US" sz="1500" b="1" dirty="0">
                <a:solidFill>
                  <a:schemeClr val="tx2"/>
                </a:solidFill>
              </a:rPr>
              <a:t>TP.HCM</a:t>
            </a:r>
            <a:endParaRPr lang="en-US" sz="1500" dirty="0"/>
          </a:p>
        </p:txBody>
      </p:sp>
      <p:sp>
        <p:nvSpPr>
          <p:cNvPr id="20" name="o-luoi"/>
          <p:cNvSpPr/>
          <p:nvPr/>
        </p:nvSpPr>
        <p:spPr>
          <a:xfrm>
            <a:off x="7863840" y="4471416"/>
            <a:ext cx="1828800" cy="1051560"/>
          </a:xfrm>
          <a:prstGeom prst="roundRect">
            <a:avLst>
              <a:gd name="adj" fmla="val 10435"/>
            </a:avLst>
          </a:prstGeom>
          <a:solidFill>
            <a:schemeClr val="bg2"/>
          </a:solidFill>
          <a:ln w="12700">
            <a:solidFill>
              <a:schemeClr val="bg2"/>
            </a:solidFill>
            <a:prstDash val="solid"/>
          </a:ln>
        </p:spPr>
      </p:sp>
      <p:sp>
        <p:nvSpPr>
          <p:cNvPr id="21" name="o-luoi"/>
          <p:cNvSpPr/>
          <p:nvPr/>
        </p:nvSpPr>
        <p:spPr>
          <a:xfrm>
            <a:off x="9802368" y="4471416"/>
            <a:ext cx="1828800" cy="1051560"/>
          </a:xfrm>
          <a:prstGeom prst="roundRect">
            <a:avLst>
              <a:gd name="adj" fmla="val 10435"/>
            </a:avLst>
          </a:prstGeom>
          <a:solidFill>
            <a:schemeClr val="accent6"/>
          </a:solidFill>
          <a:ln w="12700">
            <a:solidFill>
              <a:schemeClr val="accent6"/>
            </a:solidFill>
            <a:prstDash val="solid"/>
          </a:ln>
        </p:spPr>
      </p:sp>
      <p:sp>
        <p:nvSpPr>
          <p:cNvPr id="22" name="Text 19"/>
          <p:cNvSpPr txBox="1"/>
          <p:nvPr/>
        </p:nvSpPr>
        <p:spPr>
          <a:xfrm>
            <a:off x="9893808" y="4471416"/>
            <a:ext cx="1645920" cy="1051560"/>
          </a:xfrm>
          <a:prstGeom prst="rect">
            <a:avLst/>
          </a:prstGeom>
          <a:noFill/>
          <a:ln/>
        </p:spPr>
        <p:txBody>
          <a:bodyPr wrap="square" lIns="0" tIns="0" rIns="0" bIns="0" rtlCol="0" anchor="ctr"/>
          <a:lstStyle/>
          <a:p>
            <a:pPr algn="ctr" indent="0" marL="0">
              <a:buNone/>
            </a:pPr>
            <a:r>
              <a:rPr lang="en-US" sz="1500" b="1" dirty="0">
                <a:solidFill>
                  <a:schemeClr val="bg1"/>
                </a:solidFill>
              </a:rPr>
              <a:t>Kế toán dùng</a:t>
            </a:r>
            <a:endParaRPr lang="en-US" sz="1500" dirty="0"/>
          </a:p>
        </p:txBody>
      </p:sp>
      <p:sp>
        <p:nvSpPr>
          <p:cNvPr id="23" name="Text 20"/>
          <p:cNvSpPr txBox="1"/>
          <p:nvPr/>
        </p:nvSpPr>
        <p:spPr>
          <a:xfrm>
            <a:off x="6400800" y="5623560"/>
            <a:ext cx="5257800" cy="320040"/>
          </a:xfrm>
          <a:prstGeom prst="rect">
            <a:avLst/>
          </a:prstGeom>
          <a:noFill/>
          <a:ln/>
        </p:spPr>
        <p:txBody>
          <a:bodyPr wrap="square" lIns="0" tIns="0" rIns="0" bIns="0" rtlCol="0" anchor="t"/>
          <a:lstStyle/>
          <a:p>
            <a:pPr algn="r" indent="0" marL="0">
              <a:buNone/>
            </a:pPr>
            <a:r>
              <a:rPr lang="en-US" sz="1400" i="1" dirty="0">
                <a:solidFill>
                  <a:schemeClr val="tx2"/>
                </a:solidFill>
              </a:rPr>
              <a:t>Mỗi mảnh là một ô trên lưới dòng × cột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3 · PHÂN MẢNH HỖN HỢP</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Hai chiến lược: HV và VH</a:t>
            </a:r>
            <a:endParaRPr lang="en-US" sz="3200" dirty="0"/>
          </a:p>
        </p:txBody>
      </p:sp>
      <p:sp>
        <p:nvSpPr>
          <p:cNvPr id="5" name="chien-luoc"/>
          <p:cNvSpPr/>
          <p:nvPr/>
        </p:nvSpPr>
        <p:spPr>
          <a:xfrm>
            <a:off x="548640" y="1554480"/>
            <a:ext cx="5394960" cy="502920"/>
          </a:xfrm>
          <a:prstGeom prst="roundRect">
            <a:avLst>
              <a:gd name="adj" fmla="val 21818"/>
            </a:avLst>
          </a:prstGeom>
          <a:solidFill>
            <a:schemeClr val="accent1"/>
          </a:solidFill>
          <a:ln w="12700">
            <a:solidFill>
              <a:schemeClr val="accent1"/>
            </a:solidFill>
            <a:prstDash val="solid"/>
          </a:ln>
        </p:spPr>
      </p:sp>
      <p:sp>
        <p:nvSpPr>
          <p:cNvPr id="6" name="Text 3"/>
          <p:cNvSpPr txBox="1"/>
          <p:nvPr/>
        </p:nvSpPr>
        <p:spPr>
          <a:xfrm>
            <a:off x="777240" y="1554480"/>
            <a:ext cx="4937760" cy="502920"/>
          </a:xfrm>
          <a:prstGeom prst="rect">
            <a:avLst/>
          </a:prstGeom>
          <a:noFill/>
          <a:ln/>
        </p:spPr>
        <p:txBody>
          <a:bodyPr wrap="square" lIns="0" tIns="0" rIns="0" bIns="0" rtlCol="0" anchor="ctr"/>
          <a:lstStyle/>
          <a:p>
            <a:pPr indent="0" marL="0">
              <a:buNone/>
            </a:pPr>
            <a:r>
              <a:rPr lang="en-US" sz="1800" b="1" dirty="0">
                <a:solidFill>
                  <a:schemeClr val="bg1"/>
                </a:solidFill>
              </a:rPr>
              <a:t>HV · Ngang trước, dọc sau</a:t>
            </a:r>
            <a:endParaRPr lang="en-US" sz="1800" dirty="0"/>
          </a:p>
        </p:txBody>
      </p:sp>
      <p:sp>
        <p:nvSpPr>
          <p:cNvPr id="7" name="Text 4"/>
          <p:cNvSpPr txBox="1"/>
          <p:nvPr/>
        </p:nvSpPr>
        <p:spPr>
          <a:xfrm>
            <a:off x="640080" y="2176272"/>
            <a:ext cx="5212080" cy="731520"/>
          </a:xfrm>
          <a:prstGeom prst="rect">
            <a:avLst/>
          </a:prstGeom>
          <a:noFill/>
          <a:ln/>
        </p:spPr>
        <p:txBody>
          <a:bodyPr wrap="square" lIns="0" tIns="0" rIns="0" bIns="0" rtlCol="0" anchor="t"/>
          <a:lstStyle/>
          <a:p>
            <a:pPr indent="0" marL="0">
              <a:spcAft>
                <a:spcPts val="200"/>
              </a:spcAft>
              <a:buNone/>
            </a:pPr>
            <a:r>
              <a:rPr lang="en-US" sz="1500" dirty="0">
                <a:solidFill>
                  <a:schemeClr val="tx1"/>
                </a:solidFill>
              </a:rPr>
              <a:t>R → σ thành R₁…Rₙ → π từng Rᵢ</a:t>
            </a:r>
            <a:endParaRPr lang="en-US" sz="1600" dirty="0"/>
          </a:p>
          <a:p>
            <a:pPr indent="0" marL="0">
              <a:spcAft>
                <a:spcPts val="200"/>
              </a:spcAft>
              <a:buNone/>
            </a:pPr>
            <a:r>
              <a:rPr lang="en-US" sz="1500" dirty="0">
                <a:solidFill>
                  <a:schemeClr val="tx1"/>
                </a:solidFill>
              </a:rPr>
              <a:t>Mỗi mảnh ngang có thể chia dọc </a:t>
            </a:r>
            <a:pPr indent="0" marL="0">
              <a:buNone/>
            </a:pPr>
            <a:r>
              <a:rPr lang="en-US" sz="1500" b="1" dirty="0">
                <a:solidFill>
                  <a:schemeClr val="tx1"/>
                </a:solidFill>
              </a:rPr>
              <a:t>khác nhau</a:t>
            </a:r>
            <a:pPr indent="0" marL="0">
              <a:buNone/>
            </a:pPr>
            <a:r>
              <a:rPr lang="en-US" sz="1500" dirty="0">
                <a:solidFill>
                  <a:schemeClr val="tx1"/>
                </a:solidFill>
              </a:rPr>
              <a:t> · ví dụ </a:t>
            </a:r>
            <a:pPr indent="0" marL="0">
              <a:buNone/>
            </a:pPr>
            <a:r>
              <a:rPr lang="en-US" sz="1500" b="1" dirty="0">
                <a:solidFill>
                  <a:schemeClr val="tx1"/>
                </a:solidFill>
              </a:rPr>
              <a:t>KhachHang</a:t>
            </a:r>
            <a:endParaRPr lang="en-US" sz="1600" dirty="0"/>
          </a:p>
        </p:txBody>
      </p:sp>
      <p:pic>
        <p:nvPicPr>
          <p:cNvPr id="8" name="Image 0" descr="Cây phân mảnh HV của KhachHang">    </p:cNvPr>
          <p:cNvPicPr>
            <a:picLocks noChangeAspect="1"/>
          </p:cNvPicPr>
          <p:nvPr/>
        </p:nvPicPr>
        <p:blipFill>
          <a:blip r:embed="rId1"/>
          <a:stretch>
            <a:fillRect/>
          </a:stretch>
        </p:blipFill>
        <p:spPr>
          <a:xfrm>
            <a:off x="548640" y="2971800"/>
            <a:ext cx="5394960" cy="2690917"/>
          </a:xfrm>
          <a:prstGeom prst="rect">
            <a:avLst/>
          </a:prstGeom>
        </p:spPr>
      </p:pic>
      <p:sp>
        <p:nvSpPr>
          <p:cNvPr id="9" name="chien-luoc"/>
          <p:cNvSpPr/>
          <p:nvPr/>
        </p:nvSpPr>
        <p:spPr>
          <a:xfrm>
            <a:off x="6245352" y="1554480"/>
            <a:ext cx="5394960" cy="502920"/>
          </a:xfrm>
          <a:prstGeom prst="roundRect">
            <a:avLst>
              <a:gd name="adj" fmla="val 21818"/>
            </a:avLst>
          </a:prstGeom>
          <a:solidFill>
            <a:schemeClr val="accent2"/>
          </a:solidFill>
          <a:ln w="12700">
            <a:solidFill>
              <a:schemeClr val="accent2"/>
            </a:solidFill>
            <a:prstDash val="solid"/>
          </a:ln>
        </p:spPr>
      </p:sp>
      <p:sp>
        <p:nvSpPr>
          <p:cNvPr id="10" name="Text 6"/>
          <p:cNvSpPr txBox="1"/>
          <p:nvPr/>
        </p:nvSpPr>
        <p:spPr>
          <a:xfrm>
            <a:off x="6473952" y="1554480"/>
            <a:ext cx="4937760" cy="502920"/>
          </a:xfrm>
          <a:prstGeom prst="rect">
            <a:avLst/>
          </a:prstGeom>
          <a:noFill/>
          <a:ln/>
        </p:spPr>
        <p:txBody>
          <a:bodyPr wrap="square" lIns="0" tIns="0" rIns="0" bIns="0" rtlCol="0" anchor="ctr"/>
          <a:lstStyle/>
          <a:p>
            <a:pPr indent="0" marL="0">
              <a:buNone/>
            </a:pPr>
            <a:r>
              <a:rPr lang="en-US" sz="1800" b="1" dirty="0">
                <a:solidFill>
                  <a:schemeClr val="bg1"/>
                </a:solidFill>
              </a:rPr>
              <a:t>VH · Dọc trước, ngang sau</a:t>
            </a:r>
            <a:endParaRPr lang="en-US" sz="1800" dirty="0"/>
          </a:p>
        </p:txBody>
      </p:sp>
      <p:sp>
        <p:nvSpPr>
          <p:cNvPr id="11" name="Text 7"/>
          <p:cNvSpPr txBox="1"/>
          <p:nvPr/>
        </p:nvSpPr>
        <p:spPr>
          <a:xfrm>
            <a:off x="6336792" y="2176272"/>
            <a:ext cx="5212080" cy="731520"/>
          </a:xfrm>
          <a:prstGeom prst="rect">
            <a:avLst/>
          </a:prstGeom>
          <a:noFill/>
          <a:ln/>
        </p:spPr>
        <p:txBody>
          <a:bodyPr wrap="square" lIns="0" tIns="0" rIns="0" bIns="0" rtlCol="0" anchor="t"/>
          <a:lstStyle/>
          <a:p>
            <a:pPr indent="0" marL="0">
              <a:spcAft>
                <a:spcPts val="200"/>
              </a:spcAft>
              <a:buNone/>
            </a:pPr>
            <a:r>
              <a:rPr lang="en-US" sz="1500" dirty="0">
                <a:solidFill>
                  <a:schemeClr val="tx1"/>
                </a:solidFill>
              </a:rPr>
              <a:t>R → π thành nhóm cột → σ trên nhóm cần chia</a:t>
            </a:r>
            <a:endParaRPr lang="en-US" sz="1600" dirty="0"/>
          </a:p>
          <a:p>
            <a:pPr indent="0" marL="0">
              <a:spcAft>
                <a:spcPts val="200"/>
              </a:spcAft>
              <a:buNone/>
            </a:pPr>
            <a:r>
              <a:rPr lang="en-US" sz="1500" dirty="0">
                <a:solidFill>
                  <a:schemeClr val="tx1"/>
                </a:solidFill>
              </a:rPr>
              <a:t>Chỉ chia ngang </a:t>
            </a:r>
            <a:pPr indent="0" marL="0">
              <a:buNone/>
            </a:pPr>
            <a:r>
              <a:rPr lang="en-US" sz="1500" b="1" dirty="0">
                <a:solidFill>
                  <a:schemeClr val="tx1"/>
                </a:solidFill>
              </a:rPr>
              <a:t>những nhóm cột cần</a:t>
            </a:r>
            <a:pPr indent="0" marL="0">
              <a:buNone/>
            </a:pPr>
            <a:r>
              <a:rPr lang="en-US" sz="1500" dirty="0">
                <a:solidFill>
                  <a:schemeClr val="tx1"/>
                </a:solidFill>
              </a:rPr>
              <a:t> · ví dụ </a:t>
            </a:r>
            <a:pPr indent="0" marL="0">
              <a:buNone/>
            </a:pPr>
            <a:r>
              <a:rPr lang="en-US" sz="1500" b="1" dirty="0">
                <a:solidFill>
                  <a:schemeClr val="tx1"/>
                </a:solidFill>
              </a:rPr>
              <a:t>NhanVien</a:t>
            </a:r>
            <a:endParaRPr lang="en-US" sz="1600" dirty="0"/>
          </a:p>
        </p:txBody>
      </p:sp>
      <p:pic>
        <p:nvPicPr>
          <p:cNvPr id="12" name="Image 1" descr="Cây phân mảnh VH của NhanVien">    </p:cNvPr>
          <p:cNvPicPr>
            <a:picLocks noChangeAspect="1"/>
          </p:cNvPicPr>
          <p:nvPr/>
        </p:nvPicPr>
        <p:blipFill>
          <a:blip r:embed="rId2"/>
          <a:stretch>
            <a:fillRect/>
          </a:stretch>
        </p:blipFill>
        <p:spPr>
          <a:xfrm>
            <a:off x="6442729" y="2971800"/>
            <a:ext cx="5000207" cy="2697480"/>
          </a:xfrm>
          <a:prstGeom prst="rect">
            <a:avLst/>
          </a:prstGeom>
        </p:spPr>
      </p:pic>
      <p:sp>
        <p:nvSpPr>
          <p:cNvPr id="13" name="Text 8"/>
          <p:cNvSpPr txBox="1"/>
          <p:nvPr/>
        </p:nvSpPr>
        <p:spPr>
          <a:xfrm>
            <a:off x="548640" y="5806440"/>
            <a:ext cx="11094415" cy="365760"/>
          </a:xfrm>
          <a:prstGeom prst="rect">
            <a:avLst/>
          </a:prstGeom>
          <a:noFill/>
          <a:ln/>
        </p:spPr>
        <p:txBody>
          <a:bodyPr wrap="square" lIns="0" tIns="0" rIns="0" bIns="0" rtlCol="0" anchor="t"/>
          <a:lstStyle/>
          <a:p>
            <a:pPr algn="ctr" indent="0" marL="0">
              <a:buNone/>
            </a:pPr>
            <a:r>
              <a:rPr lang="en-US" sz="1600" b="1" dirty="0">
                <a:solidFill>
                  <a:schemeClr val="tx1"/>
                </a:solidFill>
              </a:rPr>
              <a:t>Cây phân mảnh:</a:t>
            </a:r>
            <a:pPr algn="ctr" indent="0" marL="0">
              <a:buNone/>
            </a:pPr>
            <a:r>
              <a:rPr lang="en-US" sz="1600" dirty="0">
                <a:solidFill>
                  <a:schemeClr val="tx1"/>
                </a:solidFill>
              </a:rPr>
              <a:t> gốc là R, nút trong là σ hoặc π, </a:t>
            </a:r>
            <a:pPr algn="ctr" indent="0" marL="0">
              <a:buNone/>
            </a:pPr>
            <a:r>
              <a:rPr lang="en-US" sz="1600" b="1" dirty="0">
                <a:solidFill>
                  <a:schemeClr val="tx1"/>
                </a:solidFill>
              </a:rPr>
              <a:t>lá là mảnh được cấp phát</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3 · PHÂN MẢNH HỖN HỢP</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Tái thiết và tính đúng đắn</a:t>
            </a:r>
            <a:endParaRPr lang="en-US" sz="3200" dirty="0"/>
          </a:p>
        </p:txBody>
      </p:sp>
      <p:sp>
        <p:nvSpPr>
          <p:cNvPr id="5" name="Text 2"/>
          <p:cNvSpPr txBox="1"/>
          <p:nvPr/>
        </p:nvSpPr>
        <p:spPr>
          <a:xfrm>
            <a:off x="548640" y="1554480"/>
            <a:ext cx="5486400"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TÁI THIẾT: ĐI TỪ LÁ LÊN GỐC</a:t>
            </a:r>
            <a:endParaRPr lang="en-US" sz="1400" dirty="0"/>
          </a:p>
        </p:txBody>
      </p:sp>
      <p:sp>
        <p:nvSpPr>
          <p:cNvPr id="6" name="quy-tac-tai-thiet"/>
          <p:cNvSpPr/>
          <p:nvPr/>
        </p:nvSpPr>
        <p:spPr>
          <a:xfrm>
            <a:off x="548640" y="1965960"/>
            <a:ext cx="2606040" cy="822960"/>
          </a:xfrm>
          <a:prstGeom prst="roundRect">
            <a:avLst>
              <a:gd name="adj" fmla="val 13333"/>
            </a:avLst>
          </a:prstGeom>
          <a:solidFill>
            <a:srgbClr val="FEF3C7"/>
          </a:solidFill>
          <a:ln w="12700">
            <a:solidFill>
              <a:srgbClr val="FEF3C7"/>
            </a:solidFill>
            <a:prstDash val="solid"/>
          </a:ln>
        </p:spPr>
      </p:sp>
      <p:sp>
        <p:nvSpPr>
          <p:cNvPr id="7" name="Text 4"/>
          <p:cNvSpPr txBox="1"/>
          <p:nvPr/>
        </p:nvSpPr>
        <p:spPr>
          <a:xfrm>
            <a:off x="548640" y="1965960"/>
            <a:ext cx="2606040" cy="822960"/>
          </a:xfrm>
          <a:prstGeom prst="rect">
            <a:avLst/>
          </a:prstGeom>
          <a:noFill/>
          <a:ln/>
        </p:spPr>
        <p:txBody>
          <a:bodyPr wrap="square" lIns="0" tIns="0" rIns="0" bIns="0" rtlCol="0" anchor="ctr"/>
          <a:lstStyle/>
          <a:p>
            <a:pPr algn="ctr" indent="0" marL="0">
              <a:buNone/>
            </a:pPr>
            <a:r>
              <a:rPr lang="en-US" sz="1900" b="1" dirty="0">
                <a:solidFill>
                  <a:schemeClr val="tx1"/>
                </a:solidFill>
              </a:rPr>
              <a:t>Nút σ  →  </a:t>
            </a:r>
            <a:pPr algn="ctr" indent="0" marL="0">
              <a:buNone/>
            </a:pPr>
            <a:r>
              <a:rPr lang="en-US" sz="1900" b="1" dirty="0">
                <a:solidFill>
                  <a:schemeClr val="tx1"/>
                </a:solidFill>
                <a:latin typeface="Cambria Math" pitchFamily="34" charset="0"/>
                <a:ea typeface="Cambria Math" pitchFamily="34" charset="-122"/>
                <a:cs typeface="Cambria Math" pitchFamily="34" charset="-120"/>
              </a:rPr>
              <a:t>∪</a:t>
            </a:r>
            <a:pPr algn="ctr" indent="0" marL="0">
              <a:buNone/>
            </a:pPr>
            <a:r>
              <a:rPr lang="en-US" sz="1900" b="1" dirty="0">
                <a:solidFill>
                  <a:schemeClr val="tx1"/>
                </a:solidFill>
              </a:rPr>
              <a:t>  (hợp)</a:t>
            </a:r>
            <a:endParaRPr lang="en-US" sz="1900" dirty="0"/>
          </a:p>
        </p:txBody>
      </p:sp>
      <p:sp>
        <p:nvSpPr>
          <p:cNvPr id="8" name="quy-tac-tai-thiet"/>
          <p:cNvSpPr/>
          <p:nvPr/>
        </p:nvSpPr>
        <p:spPr>
          <a:xfrm>
            <a:off x="3337560" y="1965960"/>
            <a:ext cx="2606040" cy="822960"/>
          </a:xfrm>
          <a:prstGeom prst="roundRect">
            <a:avLst>
              <a:gd name="adj" fmla="val 13333"/>
            </a:avLst>
          </a:prstGeom>
          <a:solidFill>
            <a:srgbClr val="EDE9FE"/>
          </a:solidFill>
          <a:ln w="12700">
            <a:solidFill>
              <a:srgbClr val="EDE9FE"/>
            </a:solidFill>
            <a:prstDash val="solid"/>
          </a:ln>
        </p:spPr>
      </p:sp>
      <p:sp>
        <p:nvSpPr>
          <p:cNvPr id="9" name="Text 6"/>
          <p:cNvSpPr txBox="1"/>
          <p:nvPr/>
        </p:nvSpPr>
        <p:spPr>
          <a:xfrm>
            <a:off x="3337560" y="1965960"/>
            <a:ext cx="2606040" cy="822960"/>
          </a:xfrm>
          <a:prstGeom prst="rect">
            <a:avLst/>
          </a:prstGeom>
          <a:noFill/>
          <a:ln/>
        </p:spPr>
        <p:txBody>
          <a:bodyPr wrap="square" lIns="0" tIns="0" rIns="0" bIns="0" rtlCol="0" anchor="ctr"/>
          <a:lstStyle/>
          <a:p>
            <a:pPr algn="ctr" indent="0" marL="0">
              <a:buNone/>
            </a:pPr>
            <a:r>
              <a:rPr lang="en-US" sz="1900" b="1" dirty="0">
                <a:solidFill>
                  <a:schemeClr val="tx1"/>
                </a:solidFill>
              </a:rPr>
              <a:t>Nút π  →  </a:t>
            </a:r>
            <a:pPr algn="ctr" indent="0" marL="0">
              <a:buNone/>
            </a:pPr>
            <a:r>
              <a:rPr lang="en-US" sz="1900" b="1" dirty="0">
                <a:solidFill>
                  <a:schemeClr val="tx1"/>
                </a:solidFill>
                <a:latin typeface="Cambria Math" pitchFamily="34" charset="0"/>
                <a:ea typeface="Cambria Math" pitchFamily="34" charset="-122"/>
                <a:cs typeface="Cambria Math" pitchFamily="34" charset="-120"/>
              </a:rPr>
              <a:t>⋈</a:t>
            </a:r>
            <a:pPr algn="ctr" indent="0" marL="0">
              <a:buNone/>
            </a:pPr>
            <a:r>
              <a:rPr lang="en-US" sz="1900" b="1" dirty="0">
                <a:solidFill>
                  <a:schemeClr val="tx1"/>
                </a:solidFill>
              </a:rPr>
              <a:t>  trên khóa</a:t>
            </a:r>
            <a:endParaRPr lang="en-US" sz="1900" dirty="0"/>
          </a:p>
        </p:txBody>
      </p:sp>
      <p:sp>
        <p:nvSpPr>
          <p:cNvPr id="10" name="cong-thuc"/>
          <p:cNvSpPr/>
          <p:nvPr/>
        </p:nvSpPr>
        <p:spPr>
          <a:xfrm>
            <a:off x="548640" y="3063240"/>
            <a:ext cx="5440680" cy="1143000"/>
          </a:xfrm>
          <a:prstGeom prst="roundRect">
            <a:avLst>
              <a:gd name="adj" fmla="val 9600"/>
            </a:avLst>
          </a:prstGeom>
          <a:solidFill>
            <a:schemeClr val="bg2"/>
          </a:solidFill>
          <a:ln w="12700">
            <a:solidFill>
              <a:schemeClr val="bg2"/>
            </a:solidFill>
            <a:prstDash val="solid"/>
          </a:ln>
        </p:spPr>
      </p:sp>
      <p:sp>
        <p:nvSpPr>
          <p:cNvPr id="11" name="Text 8"/>
          <p:cNvSpPr txBox="1"/>
          <p:nvPr/>
        </p:nvSpPr>
        <p:spPr>
          <a:xfrm>
            <a:off x="822960" y="3063240"/>
            <a:ext cx="822960" cy="11430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HV</a:t>
            </a:r>
            <a:endParaRPr lang="en-US" sz="2200" dirty="0"/>
          </a:p>
        </p:txBody>
      </p:sp>
      <p:sp>
        <p:nvSpPr>
          <p:cNvPr id="12" name="Text 9"/>
          <p:cNvSpPr txBox="1"/>
          <p:nvPr/>
        </p:nvSpPr>
        <p:spPr>
          <a:xfrm>
            <a:off x="1691640" y="3063240"/>
            <a:ext cx="4206240" cy="1143000"/>
          </a:xfrm>
          <a:prstGeom prst="rect">
            <a:avLst/>
          </a:prstGeom>
          <a:noFill/>
          <a:ln/>
        </p:spPr>
        <p:txBody>
          <a:bodyPr wrap="square" lIns="0" tIns="0" rIns="0" bIns="0" rtlCol="0" anchor="ctr"/>
          <a:lstStyle/>
          <a:p>
            <a:pPr indent="0" marL="0">
              <a:buNone/>
            </a:pPr>
            <a:r>
              <a:rPr lang="en-US" sz="2400" dirty="0">
                <a:solidFill>
                  <a:schemeClr val="tx1"/>
                </a:solidFill>
                <a:latin typeface="Cambria Math" pitchFamily="34" charset="0"/>
                <a:ea typeface="Cambria Math" pitchFamily="34" charset="-122"/>
                <a:cs typeface="Cambria Math" pitchFamily="34" charset="-120"/>
              </a:rPr>
              <a:t>R = ⋃</a:t>
            </a:r>
            <a:pPr indent="0" marL="0">
              <a:buNone/>
            </a:pPr>
            <a:r>
              <a:rPr lang="en-US" sz="2400" baseline="-40000" dirty="0">
                <a:solidFill>
                  <a:schemeClr val="tx1"/>
                </a:solidFill>
                <a:latin typeface="Cambria Math" pitchFamily="34" charset="0"/>
                <a:ea typeface="Cambria Math" pitchFamily="34" charset="-122"/>
                <a:cs typeface="Cambria Math" pitchFamily="34" charset="-120"/>
              </a:rPr>
              <a:t>i</a:t>
            </a:r>
            <a:pPr indent="0" marL="0">
              <a:buNone/>
            </a:pPr>
            <a:r>
              <a:rPr lang="en-US" sz="2400" dirty="0">
                <a:solidFill>
                  <a:schemeClr val="tx1"/>
                </a:solidFill>
                <a:latin typeface="Cambria Math" pitchFamily="34" charset="0"/>
                <a:ea typeface="Cambria Math" pitchFamily="34" charset="-122"/>
                <a:cs typeface="Cambria Math" pitchFamily="34" charset="-120"/>
              </a:rPr>
              <a:t> (R</a:t>
            </a:r>
            <a:pPr indent="0" marL="0">
              <a:buNone/>
            </a:pPr>
            <a:r>
              <a:rPr lang="en-US" sz="2400" baseline="-40000" dirty="0">
                <a:solidFill>
                  <a:schemeClr val="tx1"/>
                </a:solidFill>
                <a:latin typeface="Cambria Math" pitchFamily="34" charset="0"/>
                <a:ea typeface="Cambria Math" pitchFamily="34" charset="-122"/>
                <a:cs typeface="Cambria Math" pitchFamily="34" charset="-120"/>
              </a:rPr>
              <a:t>i1</a:t>
            </a:r>
            <a:pPr indent="0" marL="0">
              <a:buNone/>
            </a:pPr>
            <a:r>
              <a:rPr lang="en-US" sz="2400" dirty="0">
                <a:solidFill>
                  <a:schemeClr val="tx1"/>
                </a:solidFill>
                <a:latin typeface="Cambria Math" pitchFamily="34" charset="0"/>
                <a:ea typeface="Cambria Math" pitchFamily="34" charset="-122"/>
                <a:cs typeface="Cambria Math" pitchFamily="34" charset="-120"/>
              </a:rPr>
              <a:t> ⋈ R</a:t>
            </a:r>
            <a:pPr indent="0" marL="0">
              <a:buNone/>
            </a:pPr>
            <a:r>
              <a:rPr lang="en-US" sz="2400" baseline="-40000" dirty="0">
                <a:solidFill>
                  <a:schemeClr val="tx1"/>
                </a:solidFill>
                <a:latin typeface="Cambria Math" pitchFamily="34" charset="0"/>
                <a:ea typeface="Cambria Math" pitchFamily="34" charset="-122"/>
                <a:cs typeface="Cambria Math" pitchFamily="34" charset="-120"/>
              </a:rPr>
              <a:t>i2</a:t>
            </a:r>
            <a:pPr indent="0" marL="0">
              <a:buNone/>
            </a:pPr>
            <a:r>
              <a:rPr lang="en-US" sz="2400" dirty="0">
                <a:solidFill>
                  <a:schemeClr val="tx1"/>
                </a:solidFill>
                <a:latin typeface="Cambria Math" pitchFamily="34" charset="0"/>
                <a:ea typeface="Cambria Math" pitchFamily="34" charset="-122"/>
                <a:cs typeface="Cambria Math" pitchFamily="34" charset="-120"/>
              </a:rPr>
              <a:t>)</a:t>
            </a:r>
            <a:endParaRPr lang="en-US" sz="2400" dirty="0"/>
          </a:p>
        </p:txBody>
      </p:sp>
      <p:sp>
        <p:nvSpPr>
          <p:cNvPr id="13" name="cong-thuc"/>
          <p:cNvSpPr/>
          <p:nvPr/>
        </p:nvSpPr>
        <p:spPr>
          <a:xfrm>
            <a:off x="548640" y="4434840"/>
            <a:ext cx="5440680" cy="1143000"/>
          </a:xfrm>
          <a:prstGeom prst="roundRect">
            <a:avLst>
              <a:gd name="adj" fmla="val 9600"/>
            </a:avLst>
          </a:prstGeom>
          <a:solidFill>
            <a:schemeClr val="bg2"/>
          </a:solidFill>
          <a:ln w="12700">
            <a:solidFill>
              <a:schemeClr val="bg2"/>
            </a:solidFill>
            <a:prstDash val="solid"/>
          </a:ln>
        </p:spPr>
      </p:sp>
      <p:sp>
        <p:nvSpPr>
          <p:cNvPr id="14" name="Text 11"/>
          <p:cNvSpPr txBox="1"/>
          <p:nvPr/>
        </p:nvSpPr>
        <p:spPr>
          <a:xfrm>
            <a:off x="822960" y="4434840"/>
            <a:ext cx="822960" cy="11430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VH</a:t>
            </a:r>
            <a:endParaRPr lang="en-US" sz="2200" dirty="0"/>
          </a:p>
        </p:txBody>
      </p:sp>
      <p:sp>
        <p:nvSpPr>
          <p:cNvPr id="15" name="Text 12"/>
          <p:cNvSpPr txBox="1"/>
          <p:nvPr/>
        </p:nvSpPr>
        <p:spPr>
          <a:xfrm>
            <a:off x="1691640" y="4434840"/>
            <a:ext cx="4206240" cy="1143000"/>
          </a:xfrm>
          <a:prstGeom prst="rect">
            <a:avLst/>
          </a:prstGeom>
          <a:noFill/>
          <a:ln/>
        </p:spPr>
        <p:txBody>
          <a:bodyPr wrap="square" lIns="0" tIns="0" rIns="0" bIns="0" rtlCol="0" anchor="ctr"/>
          <a:lstStyle/>
          <a:p>
            <a:pPr indent="0" marL="0">
              <a:buNone/>
            </a:pPr>
            <a:r>
              <a:rPr lang="en-US" sz="2400" dirty="0">
                <a:solidFill>
                  <a:schemeClr val="tx1"/>
                </a:solidFill>
                <a:latin typeface="Cambria Math" pitchFamily="34" charset="0"/>
                <a:ea typeface="Cambria Math" pitchFamily="34" charset="-122"/>
                <a:cs typeface="Cambria Math" pitchFamily="34" charset="-120"/>
              </a:rPr>
              <a:t>R = (R</a:t>
            </a:r>
            <a:pPr indent="0" marL="0">
              <a:buNone/>
            </a:pPr>
            <a:r>
              <a:rPr lang="en-US" sz="2400" baseline="-40000" dirty="0">
                <a:solidFill>
                  <a:schemeClr val="tx1"/>
                </a:solidFill>
                <a:latin typeface="Cambria Math" pitchFamily="34" charset="0"/>
                <a:ea typeface="Cambria Math" pitchFamily="34" charset="-122"/>
                <a:cs typeface="Cambria Math" pitchFamily="34" charset="-120"/>
              </a:rPr>
              <a:t>11</a:t>
            </a:r>
            <a:pPr indent="0" marL="0">
              <a:buNone/>
            </a:pPr>
            <a:r>
              <a:rPr lang="en-US" sz="2400" dirty="0">
                <a:solidFill>
                  <a:schemeClr val="tx1"/>
                </a:solidFill>
                <a:latin typeface="Cambria Math" pitchFamily="34" charset="0"/>
                <a:ea typeface="Cambria Math" pitchFamily="34" charset="-122"/>
                <a:cs typeface="Cambria Math" pitchFamily="34" charset="-120"/>
              </a:rPr>
              <a:t> ∪ … ∪ R</a:t>
            </a:r>
            <a:pPr indent="0" marL="0">
              <a:buNone/>
            </a:pPr>
            <a:r>
              <a:rPr lang="en-US" sz="2400" baseline="-40000" dirty="0">
                <a:solidFill>
                  <a:schemeClr val="tx1"/>
                </a:solidFill>
                <a:latin typeface="Cambria Math" pitchFamily="34" charset="0"/>
                <a:ea typeface="Cambria Math" pitchFamily="34" charset="-122"/>
                <a:cs typeface="Cambria Math" pitchFamily="34" charset="-120"/>
              </a:rPr>
              <a:t>1n</a:t>
            </a:r>
            <a:pPr indent="0" marL="0">
              <a:buNone/>
            </a:pPr>
            <a:r>
              <a:rPr lang="en-US" sz="2400" dirty="0">
                <a:solidFill>
                  <a:schemeClr val="tx1"/>
                </a:solidFill>
                <a:latin typeface="Cambria Math" pitchFamily="34" charset="0"/>
                <a:ea typeface="Cambria Math" pitchFamily="34" charset="-122"/>
                <a:cs typeface="Cambria Math" pitchFamily="34" charset="-120"/>
              </a:rPr>
              <a:t>) ⋈ R</a:t>
            </a:r>
            <a:pPr indent="0" marL="0">
              <a:buNone/>
            </a:pPr>
            <a:r>
              <a:rPr lang="en-US" sz="2400" baseline="-40000" dirty="0">
                <a:solidFill>
                  <a:schemeClr val="tx1"/>
                </a:solidFill>
                <a:latin typeface="Cambria Math" pitchFamily="34" charset="0"/>
                <a:ea typeface="Cambria Math" pitchFamily="34" charset="-122"/>
                <a:cs typeface="Cambria Math" pitchFamily="34" charset="-120"/>
              </a:rPr>
              <a:t>2</a:t>
            </a:r>
            <a:endParaRPr lang="en-US" sz="2400" dirty="0"/>
          </a:p>
        </p:txBody>
      </p:sp>
      <p:sp>
        <p:nvSpPr>
          <p:cNvPr id="16" name="the-ghi-chu"/>
          <p:cNvSpPr/>
          <p:nvPr/>
        </p:nvSpPr>
        <p:spPr>
          <a:xfrm>
            <a:off x="6446520" y="1600200"/>
            <a:ext cx="5212080" cy="1783080"/>
          </a:xfrm>
          <a:prstGeom prst="roundRect">
            <a:avLst>
              <a:gd name="adj" fmla="val 6154"/>
            </a:avLst>
          </a:prstGeom>
          <a:solidFill>
            <a:schemeClr val="bg2"/>
          </a:solidFill>
          <a:ln w="12700">
            <a:solidFill>
              <a:schemeClr val="bg2"/>
            </a:solidFill>
            <a:prstDash val="solid"/>
          </a:ln>
        </p:spPr>
      </p:sp>
      <p:sp>
        <p:nvSpPr>
          <p:cNvPr id="17" name="icon-nen"/>
          <p:cNvSpPr/>
          <p:nvPr/>
        </p:nvSpPr>
        <p:spPr>
          <a:xfrm>
            <a:off x="6720840" y="1874520"/>
            <a:ext cx="548640" cy="548640"/>
          </a:xfrm>
          <a:prstGeom prst="ellipse">
            <a:avLst/>
          </a:prstGeom>
          <a:solidFill>
            <a:schemeClr val="accent4"/>
          </a:solidFill>
          <a:ln w="12700">
            <a:solidFill>
              <a:schemeClr val="accent4"/>
            </a:solidFill>
            <a:prstDash val="solid"/>
          </a:ln>
        </p:spPr>
      </p:sp>
      <p:pic>
        <p:nvPicPr>
          <p:cNvPr id="18" name="Image 0" descr="FaCircleCheck">    </p:cNvPr>
          <p:cNvPicPr>
            <a:picLocks noChangeAspect="1"/>
          </p:cNvPicPr>
          <p:nvPr/>
        </p:nvPicPr>
        <p:blipFill>
          <a:blip r:embed="rId1"/>
          <a:stretch>
            <a:fillRect/>
          </a:stretch>
        </p:blipFill>
        <p:spPr>
          <a:xfrm>
            <a:off x="6858000" y="2011680"/>
            <a:ext cx="274320" cy="274320"/>
          </a:xfrm>
          <a:prstGeom prst="rect">
            <a:avLst/>
          </a:prstGeom>
        </p:spPr>
      </p:pic>
      <p:sp>
        <p:nvSpPr>
          <p:cNvPr id="19" name="Text 15"/>
          <p:cNvSpPr txBox="1"/>
          <p:nvPr/>
        </p:nvSpPr>
        <p:spPr>
          <a:xfrm>
            <a:off x="7452360" y="1874520"/>
            <a:ext cx="3977640" cy="164592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Đúng đắn</a:t>
            </a:r>
            <a:endParaRPr lang="en-US" sz="1600" dirty="0"/>
          </a:p>
          <a:p>
            <a:pPr indent="0" marL="0">
              <a:spcAft>
                <a:spcPts val="800"/>
              </a:spcAft>
              <a:buNone/>
            </a:pPr>
            <a:r>
              <a:rPr lang="en-US" sz="1600" dirty="0">
                <a:solidFill>
                  <a:schemeClr val="tx1"/>
                </a:solidFill>
              </a:rPr>
              <a:t>Mỗi bước ngang và dọc thỏa </a:t>
            </a:r>
            <a:pPr indent="0" marL="0">
              <a:buNone/>
            </a:pPr>
            <a:r>
              <a:rPr lang="en-US" sz="1600" b="1" dirty="0">
                <a:solidFill>
                  <a:schemeClr val="tx1"/>
                </a:solidFill>
              </a:rPr>
              <a:t>đầy đủ – tái thiết – rời nhau</a:t>
            </a:r>
            <a:pPr indent="0" marL="0">
              <a:buNone/>
            </a:pPr>
            <a:r>
              <a:rPr lang="en-US" sz="1600" dirty="0">
                <a:solidFill>
                  <a:schemeClr val="tx1"/>
                </a:solidFill>
              </a:rPr>
              <a:t> </a:t>
            </a:r>
            <a:pPr indent="0" marL="0">
              <a:buNone/>
            </a:pPr>
            <a:r>
              <a:rPr lang="en-US" sz="1600" dirty="0">
                <a:solidFill>
                  <a:schemeClr val="tx1"/>
                </a:solidFill>
                <a:latin typeface="Cambria Math" pitchFamily="34" charset="0"/>
                <a:ea typeface="Cambria Math" pitchFamily="34" charset="-122"/>
                <a:cs typeface="Cambria Math" pitchFamily="34" charset="-120"/>
              </a:rPr>
              <a:t>⇒</a:t>
            </a:r>
            <a:pPr indent="0" marL="0">
              <a:buNone/>
            </a:pPr>
            <a:r>
              <a:rPr lang="en-US" sz="1600" dirty="0">
                <a:solidFill>
                  <a:schemeClr val="tx1"/>
                </a:solidFill>
              </a:rPr>
              <a:t> cả cây thỏa</a:t>
            </a:r>
            <a:endParaRPr lang="en-US" sz="1600" dirty="0"/>
          </a:p>
        </p:txBody>
      </p:sp>
      <p:sp>
        <p:nvSpPr>
          <p:cNvPr id="20" name="the-ghi-chu"/>
          <p:cNvSpPr/>
          <p:nvPr/>
        </p:nvSpPr>
        <p:spPr>
          <a:xfrm>
            <a:off x="6446520" y="3749040"/>
            <a:ext cx="5212080" cy="1783080"/>
          </a:xfrm>
          <a:prstGeom prst="roundRect">
            <a:avLst>
              <a:gd name="adj" fmla="val 6154"/>
            </a:avLst>
          </a:prstGeom>
          <a:solidFill>
            <a:schemeClr val="bg2"/>
          </a:solidFill>
          <a:ln w="12700">
            <a:solidFill>
              <a:schemeClr val="bg2"/>
            </a:solidFill>
            <a:prstDash val="solid"/>
          </a:ln>
        </p:spPr>
      </p:sp>
      <p:sp>
        <p:nvSpPr>
          <p:cNvPr id="21" name="icon-nen"/>
          <p:cNvSpPr/>
          <p:nvPr/>
        </p:nvSpPr>
        <p:spPr>
          <a:xfrm>
            <a:off x="6720840" y="4023360"/>
            <a:ext cx="548640" cy="548640"/>
          </a:xfrm>
          <a:prstGeom prst="ellipse">
            <a:avLst/>
          </a:prstGeom>
          <a:solidFill>
            <a:schemeClr val="accent1"/>
          </a:solidFill>
          <a:ln w="12700">
            <a:solidFill>
              <a:schemeClr val="accent1"/>
            </a:solidFill>
            <a:prstDash val="solid"/>
          </a:ln>
        </p:spPr>
      </p:sp>
      <p:pic>
        <p:nvPicPr>
          <p:cNvPr id="22" name="Image 1" descr="FaTriangleExclamation">    </p:cNvPr>
          <p:cNvPicPr>
            <a:picLocks noChangeAspect="1"/>
          </p:cNvPicPr>
          <p:nvPr/>
        </p:nvPicPr>
        <p:blipFill>
          <a:blip r:embed="rId2"/>
          <a:stretch>
            <a:fillRect/>
          </a:stretch>
        </p:blipFill>
        <p:spPr>
          <a:xfrm>
            <a:off x="6858000" y="4160520"/>
            <a:ext cx="274320" cy="274320"/>
          </a:xfrm>
          <a:prstGeom prst="rect">
            <a:avLst/>
          </a:prstGeom>
        </p:spPr>
      </p:pic>
      <p:sp>
        <p:nvSpPr>
          <p:cNvPr id="23" name="Text 18"/>
          <p:cNvSpPr txBox="1"/>
          <p:nvPr/>
        </p:nvSpPr>
        <p:spPr>
          <a:xfrm>
            <a:off x="7452360" y="4023360"/>
            <a:ext cx="3977640" cy="164592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Lưu ý ở VH</a:t>
            </a:r>
            <a:endParaRPr lang="en-US" sz="1600" dirty="0"/>
          </a:p>
          <a:p>
            <a:pPr indent="0" marL="0">
              <a:spcAft>
                <a:spcPts val="800"/>
              </a:spcAft>
              <a:buNone/>
            </a:pPr>
            <a:r>
              <a:rPr lang="en-US" sz="1600" dirty="0">
                <a:solidFill>
                  <a:schemeClr val="tx1"/>
                </a:solidFill>
              </a:rPr>
              <a:t>Chỉ chia ngang được mảnh dọc </a:t>
            </a:r>
            <a:pPr indent="0" marL="0">
              <a:buNone/>
            </a:pPr>
            <a:r>
              <a:rPr lang="en-US" sz="1600" b="1" dirty="0">
                <a:solidFill>
                  <a:schemeClr val="tx1"/>
                </a:solidFill>
              </a:rPr>
              <a:t>có chứa thuộc tính của vị từ</a:t>
            </a:r>
            <a:pPr indent="0" marL="0">
              <a:buNone/>
            </a:pPr>
            <a:r>
              <a:rPr lang="en-US" sz="1600" dirty="0">
                <a:solidFill>
                  <a:schemeClr val="tx1"/>
                </a:solidFill>
              </a:rPr>
              <a:t> (ví dụ MaCN). NV_NS không có MaCN nên không chia theo chi nhánh được.</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4 · ỨNG DỤNG CHO QUẢN LÝ ĐƠN HÀNG</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Bài toán quản lý đơn hàng</a:t>
            </a:r>
            <a:endParaRPr lang="en-US" sz="3200" dirty="0"/>
          </a:p>
        </p:txBody>
      </p:sp>
      <p:sp>
        <p:nvSpPr>
          <p:cNvPr id="5" name="Text 2"/>
          <p:cNvSpPr txBox="1"/>
          <p:nvPr/>
        </p:nvSpPr>
        <p:spPr>
          <a:xfrm>
            <a:off x="548640" y="1554480"/>
            <a:ext cx="11094415" cy="411480"/>
          </a:xfrm>
          <a:prstGeom prst="rect">
            <a:avLst/>
          </a:prstGeom>
          <a:noFill/>
          <a:ln/>
        </p:spPr>
        <p:txBody>
          <a:bodyPr wrap="square" lIns="0" tIns="0" rIns="0" bIns="0" rtlCol="0" anchor="t"/>
          <a:lstStyle/>
          <a:p>
            <a:pPr indent="0" marL="0">
              <a:buNone/>
            </a:pPr>
            <a:r>
              <a:rPr lang="en-US" sz="1800" dirty="0">
                <a:solidFill>
                  <a:schemeClr val="tx1"/>
                </a:solidFill>
              </a:rPr>
              <a:t>Công ty thương mại X: </a:t>
            </a:r>
            <a:pPr indent="0" marL="0">
              <a:buNone/>
            </a:pPr>
            <a:r>
              <a:rPr lang="en-US" sz="1800" b="1" dirty="0">
                <a:solidFill>
                  <a:schemeClr val="tx1"/>
                </a:solidFill>
              </a:rPr>
              <a:t>3 chi nhánh</a:t>
            </a:r>
            <a:pPr indent="0" marL="0">
              <a:buNone/>
            </a:pPr>
            <a:r>
              <a:rPr lang="en-US" sz="1800" dirty="0">
                <a:solidFill>
                  <a:schemeClr val="tx1"/>
                </a:solidFill>
              </a:rPr>
              <a:t> và </a:t>
            </a:r>
            <a:pPr indent="0" marL="0">
              <a:buNone/>
            </a:pPr>
            <a:r>
              <a:rPr lang="en-US" sz="1800" b="1" dirty="0">
                <a:solidFill>
                  <a:schemeClr val="tx1"/>
                </a:solidFill>
              </a:rPr>
              <a:t>trụ sở chính</a:t>
            </a:r>
            <a:pPr indent="0" marL="0">
              <a:buNone/>
            </a:pPr>
            <a:r>
              <a:rPr lang="en-US" sz="1800" dirty="0">
                <a:solidFill>
                  <a:schemeClr val="tx1"/>
                </a:solidFill>
              </a:rPr>
              <a:t> · mỗi khách hàng do </a:t>
            </a:r>
            <a:pPr indent="0" marL="0">
              <a:buNone/>
            </a:pPr>
            <a:r>
              <a:rPr lang="en-US" sz="1800" b="1" dirty="0">
                <a:solidFill>
                  <a:schemeClr val="tx1"/>
                </a:solidFill>
              </a:rPr>
              <a:t>một</a:t>
            </a:r>
            <a:pPr indent="0" marL="0">
              <a:buNone/>
            </a:pPr>
            <a:r>
              <a:rPr lang="en-US" sz="1800" dirty="0">
                <a:solidFill>
                  <a:schemeClr val="tx1"/>
                </a:solidFill>
              </a:rPr>
              <a:t> chi nhánh quản lý</a:t>
            </a:r>
            <a:endParaRPr lang="en-US" sz="1800" dirty="0"/>
          </a:p>
        </p:txBody>
      </p:sp>
      <p:sp>
        <p:nvSpPr>
          <p:cNvPr id="6" name="chi-nhanh"/>
          <p:cNvSpPr/>
          <p:nvPr/>
        </p:nvSpPr>
        <p:spPr>
          <a:xfrm>
            <a:off x="548640" y="2240280"/>
            <a:ext cx="5120640" cy="2697480"/>
          </a:xfrm>
          <a:prstGeom prst="roundRect">
            <a:avLst>
              <a:gd name="adj" fmla="val 4068"/>
            </a:avLst>
          </a:prstGeom>
          <a:solidFill>
            <a:schemeClr val="bg2"/>
          </a:solidFill>
          <a:ln w="12700">
            <a:solidFill>
              <a:schemeClr val="bg2"/>
            </a:solidFill>
            <a:prstDash val="solid"/>
          </a:ln>
        </p:spPr>
      </p:sp>
      <p:sp>
        <p:nvSpPr>
          <p:cNvPr id="7" name="Text 4"/>
          <p:cNvSpPr txBox="1"/>
          <p:nvPr/>
        </p:nvSpPr>
        <p:spPr>
          <a:xfrm>
            <a:off x="868680" y="2423160"/>
            <a:ext cx="3657600" cy="411480"/>
          </a:xfrm>
          <a:prstGeom prst="rect">
            <a:avLst/>
          </a:prstGeom>
          <a:noFill/>
          <a:ln/>
        </p:spPr>
        <p:txBody>
          <a:bodyPr wrap="square" lIns="0" tIns="0" rIns="0" bIns="0" rtlCol="0" anchor="t"/>
          <a:lstStyle/>
          <a:p>
            <a:pPr indent="0" marL="0">
              <a:buNone/>
            </a:pPr>
            <a:r>
              <a:rPr lang="en-US" sz="2000" b="1" dirty="0">
                <a:solidFill>
                  <a:schemeClr val="tx1"/>
                </a:solidFill>
              </a:rPr>
              <a:t>Chi nhánh</a:t>
            </a:r>
            <a:endParaRPr lang="en-US" sz="2000" dirty="0"/>
          </a:p>
        </p:txBody>
      </p:sp>
      <p:sp>
        <p:nvSpPr>
          <p:cNvPr id="8" name="nhan-chi-nhanh"/>
          <p:cNvSpPr/>
          <p:nvPr/>
        </p:nvSpPr>
        <p:spPr>
          <a:xfrm>
            <a:off x="868680" y="2971800"/>
            <a:ext cx="1371600" cy="457200"/>
          </a:xfrm>
          <a:prstGeom prst="roundRect">
            <a:avLst>
              <a:gd name="adj" fmla="val 24000"/>
            </a:avLst>
          </a:prstGeom>
          <a:solidFill>
            <a:schemeClr val="accent3"/>
          </a:solidFill>
          <a:ln w="12700">
            <a:solidFill>
              <a:schemeClr val="accent3"/>
            </a:solidFill>
            <a:prstDash val="solid"/>
          </a:ln>
        </p:spPr>
      </p:sp>
      <p:sp>
        <p:nvSpPr>
          <p:cNvPr id="9" name="Text 6"/>
          <p:cNvSpPr txBox="1"/>
          <p:nvPr/>
        </p:nvSpPr>
        <p:spPr>
          <a:xfrm>
            <a:off x="868680" y="2971800"/>
            <a:ext cx="1371600" cy="457200"/>
          </a:xfrm>
          <a:prstGeom prst="rect">
            <a:avLst/>
          </a:prstGeom>
          <a:noFill/>
          <a:ln/>
        </p:spPr>
        <p:txBody>
          <a:bodyPr wrap="square" lIns="0" tIns="0" rIns="0" bIns="0" rtlCol="0" anchor="ctr"/>
          <a:lstStyle/>
          <a:p>
            <a:pPr algn="ctr" indent="0" marL="0">
              <a:buNone/>
            </a:pPr>
            <a:r>
              <a:rPr lang="en-US" sz="1500" b="1" dirty="0">
                <a:solidFill>
                  <a:schemeClr val="bg1"/>
                </a:solidFill>
              </a:rPr>
              <a:t>Hà Nội</a:t>
            </a:r>
            <a:endParaRPr lang="en-US" sz="1500" dirty="0"/>
          </a:p>
        </p:txBody>
      </p:sp>
      <p:sp>
        <p:nvSpPr>
          <p:cNvPr id="10" name="nhan-chi-nhanh"/>
          <p:cNvSpPr/>
          <p:nvPr/>
        </p:nvSpPr>
        <p:spPr>
          <a:xfrm>
            <a:off x="2377440" y="2971800"/>
            <a:ext cx="1371600" cy="457200"/>
          </a:xfrm>
          <a:prstGeom prst="roundRect">
            <a:avLst>
              <a:gd name="adj" fmla="val 24000"/>
            </a:avLst>
          </a:prstGeom>
          <a:solidFill>
            <a:schemeClr val="accent4"/>
          </a:solidFill>
          <a:ln w="12700">
            <a:solidFill>
              <a:schemeClr val="accent4"/>
            </a:solidFill>
            <a:prstDash val="solid"/>
          </a:ln>
        </p:spPr>
      </p:sp>
      <p:sp>
        <p:nvSpPr>
          <p:cNvPr id="11" name="Text 8"/>
          <p:cNvSpPr txBox="1"/>
          <p:nvPr/>
        </p:nvSpPr>
        <p:spPr>
          <a:xfrm>
            <a:off x="2377440" y="2971800"/>
            <a:ext cx="1371600" cy="457200"/>
          </a:xfrm>
          <a:prstGeom prst="rect">
            <a:avLst/>
          </a:prstGeom>
          <a:noFill/>
          <a:ln/>
        </p:spPr>
        <p:txBody>
          <a:bodyPr wrap="square" lIns="0" tIns="0" rIns="0" bIns="0" rtlCol="0" anchor="ctr"/>
          <a:lstStyle/>
          <a:p>
            <a:pPr algn="ctr" indent="0" marL="0">
              <a:buNone/>
            </a:pPr>
            <a:r>
              <a:rPr lang="en-US" sz="1500" b="1" dirty="0">
                <a:solidFill>
                  <a:schemeClr val="bg1"/>
                </a:solidFill>
              </a:rPr>
              <a:t>Đà Nẵng</a:t>
            </a:r>
            <a:endParaRPr lang="en-US" sz="1500" dirty="0"/>
          </a:p>
        </p:txBody>
      </p:sp>
      <p:sp>
        <p:nvSpPr>
          <p:cNvPr id="12" name="nhan-chi-nhanh"/>
          <p:cNvSpPr/>
          <p:nvPr/>
        </p:nvSpPr>
        <p:spPr>
          <a:xfrm>
            <a:off x="3886200" y="2971800"/>
            <a:ext cx="1371600" cy="457200"/>
          </a:xfrm>
          <a:prstGeom prst="roundRect">
            <a:avLst>
              <a:gd name="adj" fmla="val 24000"/>
            </a:avLst>
          </a:prstGeom>
          <a:solidFill>
            <a:schemeClr val="accent5"/>
          </a:solidFill>
          <a:ln w="12700">
            <a:solidFill>
              <a:schemeClr val="accent5"/>
            </a:solidFill>
            <a:prstDash val="solid"/>
          </a:ln>
        </p:spPr>
      </p:sp>
      <p:sp>
        <p:nvSpPr>
          <p:cNvPr id="13" name="Text 10"/>
          <p:cNvSpPr txBox="1"/>
          <p:nvPr/>
        </p:nvSpPr>
        <p:spPr>
          <a:xfrm>
            <a:off x="3886200" y="2971800"/>
            <a:ext cx="1371600" cy="457200"/>
          </a:xfrm>
          <a:prstGeom prst="rect">
            <a:avLst/>
          </a:prstGeom>
          <a:noFill/>
          <a:ln/>
        </p:spPr>
        <p:txBody>
          <a:bodyPr wrap="square" lIns="0" tIns="0" rIns="0" bIns="0" rtlCol="0" anchor="ctr"/>
          <a:lstStyle/>
          <a:p>
            <a:pPr algn="ctr" indent="0" marL="0">
              <a:buNone/>
            </a:pPr>
            <a:r>
              <a:rPr lang="en-US" sz="1500" b="1" dirty="0">
                <a:solidFill>
                  <a:schemeClr val="bg1"/>
                </a:solidFill>
              </a:rPr>
              <a:t>TP.HCM</a:t>
            </a:r>
            <a:endParaRPr lang="en-US" sz="1500" dirty="0"/>
          </a:p>
        </p:txBody>
      </p:sp>
      <p:sp>
        <p:nvSpPr>
          <p:cNvPr id="14" name="Text 11"/>
          <p:cNvSpPr txBox="1"/>
          <p:nvPr/>
        </p:nvSpPr>
        <p:spPr>
          <a:xfrm>
            <a:off x="868680" y="3657600"/>
            <a:ext cx="4572000" cy="109728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Tra cứu khách, lập và xử lý đơn hàng của khách mình</a:t>
            </a:r>
            <a:endParaRPr lang="en-US" sz="1600" dirty="0"/>
          </a:p>
          <a:p>
            <a:pPr indent="0" marL="0">
              <a:spcAft>
                <a:spcPts val="800"/>
              </a:spcAft>
              <a:buNone/>
            </a:pPr>
            <a:r>
              <a:rPr lang="en-US" sz="1600" dirty="0">
                <a:solidFill>
                  <a:schemeClr val="tx2"/>
                </a:solidFill>
              </a:rPr>
              <a:t>Tần suất </a:t>
            </a:r>
            <a:pPr indent="0" marL="0">
              <a:buNone/>
            </a:pPr>
            <a:r>
              <a:rPr lang="en-US" sz="1600" b="1" dirty="0">
                <a:solidFill>
                  <a:schemeClr val="tx2"/>
                </a:solidFill>
              </a:rPr>
              <a:t>rất cao</a:t>
            </a:r>
            <a:endParaRPr lang="en-US" sz="1600" dirty="0"/>
          </a:p>
        </p:txBody>
      </p:sp>
      <p:sp>
        <p:nvSpPr>
          <p:cNvPr id="15" name="tru-so"/>
          <p:cNvSpPr/>
          <p:nvPr/>
        </p:nvSpPr>
        <p:spPr>
          <a:xfrm>
            <a:off x="5989320" y="2240280"/>
            <a:ext cx="5650992" cy="2697480"/>
          </a:xfrm>
          <a:prstGeom prst="roundRect">
            <a:avLst>
              <a:gd name="adj" fmla="val 4068"/>
            </a:avLst>
          </a:prstGeom>
          <a:solidFill>
            <a:schemeClr val="bg2"/>
          </a:solidFill>
          <a:ln w="12700">
            <a:solidFill>
              <a:schemeClr val="bg2"/>
            </a:solidFill>
            <a:prstDash val="solid"/>
          </a:ln>
        </p:spPr>
      </p:sp>
      <p:sp>
        <p:nvSpPr>
          <p:cNvPr id="16" name="Text 13"/>
          <p:cNvSpPr txBox="1"/>
          <p:nvPr/>
        </p:nvSpPr>
        <p:spPr>
          <a:xfrm>
            <a:off x="6309360" y="2423160"/>
            <a:ext cx="4572000" cy="411480"/>
          </a:xfrm>
          <a:prstGeom prst="rect">
            <a:avLst/>
          </a:prstGeom>
          <a:noFill/>
          <a:ln/>
        </p:spPr>
        <p:txBody>
          <a:bodyPr wrap="square" lIns="0" tIns="0" rIns="0" bIns="0" rtlCol="0" anchor="t"/>
          <a:lstStyle/>
          <a:p>
            <a:pPr indent="0" marL="0">
              <a:buNone/>
            </a:pPr>
            <a:r>
              <a:rPr lang="en-US" sz="2000" b="1" dirty="0">
                <a:solidFill>
                  <a:schemeClr val="tx1"/>
                </a:solidFill>
              </a:rPr>
              <a:t>Trụ sở chính (S0)</a:t>
            </a:r>
            <a:endParaRPr lang="en-US" sz="2000" dirty="0"/>
          </a:p>
        </p:txBody>
      </p:sp>
      <p:sp>
        <p:nvSpPr>
          <p:cNvPr id="17" name="icon-nen"/>
          <p:cNvSpPr/>
          <p:nvPr/>
        </p:nvSpPr>
        <p:spPr>
          <a:xfrm>
            <a:off x="6309360" y="2971800"/>
            <a:ext cx="457200" cy="457200"/>
          </a:xfrm>
          <a:prstGeom prst="ellipse">
            <a:avLst/>
          </a:prstGeom>
          <a:solidFill>
            <a:schemeClr val="accent6"/>
          </a:solidFill>
          <a:ln w="12700">
            <a:solidFill>
              <a:schemeClr val="accent6"/>
            </a:solidFill>
            <a:prstDash val="solid"/>
          </a:ln>
        </p:spPr>
      </p:sp>
      <p:pic>
        <p:nvPicPr>
          <p:cNvPr id="18" name="Image 0" descr="FaCalculator">    </p:cNvPr>
          <p:cNvPicPr>
            <a:picLocks noChangeAspect="1"/>
          </p:cNvPicPr>
          <p:nvPr/>
        </p:nvPicPr>
        <p:blipFill>
          <a:blip r:embed="rId1"/>
          <a:stretch>
            <a:fillRect/>
          </a:stretch>
        </p:blipFill>
        <p:spPr>
          <a:xfrm>
            <a:off x="6423660" y="3086100"/>
            <a:ext cx="228600" cy="228600"/>
          </a:xfrm>
          <a:prstGeom prst="rect">
            <a:avLst/>
          </a:prstGeom>
        </p:spPr>
      </p:pic>
      <p:sp>
        <p:nvSpPr>
          <p:cNvPr id="19" name="Text 15"/>
          <p:cNvSpPr txBox="1"/>
          <p:nvPr/>
        </p:nvSpPr>
        <p:spPr>
          <a:xfrm>
            <a:off x="6903720" y="2971800"/>
            <a:ext cx="4572000" cy="457200"/>
          </a:xfrm>
          <a:prstGeom prst="rect">
            <a:avLst/>
          </a:prstGeom>
          <a:noFill/>
          <a:ln/>
        </p:spPr>
        <p:txBody>
          <a:bodyPr wrap="square" lIns="0" tIns="0" rIns="0" bIns="0" rtlCol="0" anchor="ctr"/>
          <a:lstStyle/>
          <a:p>
            <a:pPr indent="0" marL="0">
              <a:buNone/>
            </a:pPr>
            <a:r>
              <a:rPr lang="en-US" sz="1600" b="1" dirty="0">
                <a:solidFill>
                  <a:schemeClr val="tx1"/>
                </a:solidFill>
              </a:rPr>
              <a:t>Kế toán:</a:t>
            </a:r>
            <a:pPr indent="0" marL="0">
              <a:buNone/>
            </a:pPr>
            <a:r>
              <a:rPr lang="en-US" sz="1600" dirty="0">
                <a:solidFill>
                  <a:schemeClr val="tx1"/>
                </a:solidFill>
              </a:rPr>
              <a:t> hạn mức, công nợ khách ở cả 3 miền</a:t>
            </a:r>
            <a:endParaRPr lang="en-US" sz="1600" dirty="0"/>
          </a:p>
        </p:txBody>
      </p:sp>
      <p:sp>
        <p:nvSpPr>
          <p:cNvPr id="20" name="icon-nen"/>
          <p:cNvSpPr/>
          <p:nvPr/>
        </p:nvSpPr>
        <p:spPr>
          <a:xfrm>
            <a:off x="6309360" y="3593592"/>
            <a:ext cx="457200" cy="457200"/>
          </a:xfrm>
          <a:prstGeom prst="ellipse">
            <a:avLst/>
          </a:prstGeom>
          <a:solidFill>
            <a:schemeClr val="accent6"/>
          </a:solidFill>
          <a:ln w="12700">
            <a:solidFill>
              <a:schemeClr val="accent6"/>
            </a:solidFill>
            <a:prstDash val="solid"/>
          </a:ln>
        </p:spPr>
      </p:sp>
      <p:pic>
        <p:nvPicPr>
          <p:cNvPr id="21" name="Image 1" descr="FaLock">    </p:cNvPr>
          <p:cNvPicPr>
            <a:picLocks noChangeAspect="1"/>
          </p:cNvPicPr>
          <p:nvPr/>
        </p:nvPicPr>
        <p:blipFill>
          <a:blip r:embed="rId2"/>
          <a:stretch>
            <a:fillRect/>
          </a:stretch>
        </p:blipFill>
        <p:spPr>
          <a:xfrm>
            <a:off x="6423660" y="3707892"/>
            <a:ext cx="228600" cy="228600"/>
          </a:xfrm>
          <a:prstGeom prst="rect">
            <a:avLst/>
          </a:prstGeom>
        </p:spPr>
      </p:pic>
      <p:sp>
        <p:nvSpPr>
          <p:cNvPr id="22" name="Text 17"/>
          <p:cNvSpPr txBox="1"/>
          <p:nvPr/>
        </p:nvSpPr>
        <p:spPr>
          <a:xfrm>
            <a:off x="6903720" y="3593592"/>
            <a:ext cx="4572000" cy="457200"/>
          </a:xfrm>
          <a:prstGeom prst="rect">
            <a:avLst/>
          </a:prstGeom>
          <a:noFill/>
          <a:ln/>
        </p:spPr>
        <p:txBody>
          <a:bodyPr wrap="square" lIns="0" tIns="0" rIns="0" bIns="0" rtlCol="0" anchor="ctr"/>
          <a:lstStyle/>
          <a:p>
            <a:pPr indent="0" marL="0">
              <a:buNone/>
            </a:pPr>
            <a:r>
              <a:rPr lang="en-US" sz="1600" b="1" dirty="0">
                <a:solidFill>
                  <a:schemeClr val="tx1"/>
                </a:solidFill>
              </a:rPr>
              <a:t>Nhân sự:</a:t>
            </a:r>
            <a:pPr indent="0" marL="0">
              <a:buNone/>
            </a:pPr>
            <a:r>
              <a:rPr lang="en-US" sz="1600" dirty="0">
                <a:solidFill>
                  <a:schemeClr val="tx1"/>
                </a:solidFill>
              </a:rPr>
              <a:t> lương, CCCD, tài khoản ngân hàng (nhạy cảm)</a:t>
            </a:r>
            <a:endParaRPr lang="en-US" sz="1600" dirty="0"/>
          </a:p>
        </p:txBody>
      </p:sp>
      <p:sp>
        <p:nvSpPr>
          <p:cNvPr id="23" name="icon-nen"/>
          <p:cNvSpPr/>
          <p:nvPr/>
        </p:nvSpPr>
        <p:spPr>
          <a:xfrm>
            <a:off x="6309360" y="4215384"/>
            <a:ext cx="457200" cy="457200"/>
          </a:xfrm>
          <a:prstGeom prst="ellipse">
            <a:avLst/>
          </a:prstGeom>
          <a:solidFill>
            <a:schemeClr val="accent6"/>
          </a:solidFill>
          <a:ln w="12700">
            <a:solidFill>
              <a:schemeClr val="accent6"/>
            </a:solidFill>
            <a:prstDash val="solid"/>
          </a:ln>
        </p:spPr>
      </p:sp>
      <p:pic>
        <p:nvPicPr>
          <p:cNvPr id="24" name="Image 2" descr="FaChartLine">    </p:cNvPr>
          <p:cNvPicPr>
            <a:picLocks noChangeAspect="1"/>
          </p:cNvPicPr>
          <p:nvPr/>
        </p:nvPicPr>
        <p:blipFill>
          <a:blip r:embed="rId3"/>
          <a:stretch>
            <a:fillRect/>
          </a:stretch>
        </p:blipFill>
        <p:spPr>
          <a:xfrm>
            <a:off x="6423660" y="4329684"/>
            <a:ext cx="228600" cy="228600"/>
          </a:xfrm>
          <a:prstGeom prst="rect">
            <a:avLst/>
          </a:prstGeom>
        </p:spPr>
      </p:pic>
      <p:sp>
        <p:nvSpPr>
          <p:cNvPr id="25" name="Text 19"/>
          <p:cNvSpPr txBox="1"/>
          <p:nvPr/>
        </p:nvSpPr>
        <p:spPr>
          <a:xfrm>
            <a:off x="6903720" y="4215384"/>
            <a:ext cx="4572000" cy="457200"/>
          </a:xfrm>
          <a:prstGeom prst="rect">
            <a:avLst/>
          </a:prstGeom>
          <a:noFill/>
          <a:ln/>
        </p:spPr>
        <p:txBody>
          <a:bodyPr wrap="square" lIns="0" tIns="0" rIns="0" bIns="0" rtlCol="0" anchor="ctr"/>
          <a:lstStyle/>
          <a:p>
            <a:pPr indent="0" marL="0">
              <a:buNone/>
            </a:pPr>
            <a:r>
              <a:rPr lang="en-US" sz="1600" b="1" dirty="0">
                <a:solidFill>
                  <a:schemeClr val="tx1"/>
                </a:solidFill>
              </a:rPr>
              <a:t>Ban giám đốc:</a:t>
            </a:r>
            <a:pPr indent="0" marL="0">
              <a:buNone/>
            </a:pPr>
            <a:r>
              <a:rPr lang="en-US" sz="1600" dirty="0">
                <a:solidFill>
                  <a:schemeClr val="tx1"/>
                </a:solidFill>
              </a:rPr>
              <a:t> báo cáo doanh thu toàn công ty</a:t>
            </a:r>
            <a:endParaRPr lang="en-US" sz="1600" dirty="0"/>
          </a:p>
        </p:txBody>
      </p:sp>
      <p:sp>
        <p:nvSpPr>
          <p:cNvPr id="26" name="ket-luan-bai-toan"/>
          <p:cNvSpPr/>
          <p:nvPr/>
        </p:nvSpPr>
        <p:spPr>
          <a:xfrm>
            <a:off x="548640" y="5212080"/>
            <a:ext cx="11094415" cy="822960"/>
          </a:xfrm>
          <a:prstGeom prst="roundRect">
            <a:avLst>
              <a:gd name="adj" fmla="val 13333"/>
            </a:avLst>
          </a:prstGeom>
          <a:solidFill>
            <a:schemeClr val="tx1"/>
          </a:solidFill>
          <a:ln w="12700">
            <a:solidFill>
              <a:schemeClr val="tx1"/>
            </a:solidFill>
            <a:prstDash val="solid"/>
          </a:ln>
        </p:spPr>
      </p:sp>
      <p:sp>
        <p:nvSpPr>
          <p:cNvPr id="27" name="Text 21"/>
          <p:cNvSpPr txBox="1"/>
          <p:nvPr/>
        </p:nvSpPr>
        <p:spPr>
          <a:xfrm>
            <a:off x="868680" y="5212080"/>
            <a:ext cx="10454335" cy="822960"/>
          </a:xfrm>
          <a:prstGeom prst="rect">
            <a:avLst/>
          </a:prstGeom>
          <a:noFill/>
          <a:ln/>
        </p:spPr>
        <p:txBody>
          <a:bodyPr wrap="square" lIns="0" tIns="0" rIns="0" bIns="0" rtlCol="0" anchor="ctr"/>
          <a:lstStyle/>
          <a:p>
            <a:pPr indent="0" marL="0">
              <a:buNone/>
            </a:pPr>
            <a:r>
              <a:rPr lang="en-US" sz="1800" dirty="0">
                <a:solidFill>
                  <a:schemeClr val="bg1"/>
                </a:solidFill>
              </a:rPr>
              <a:t>Mỗi nơi cần một phần dữ liệu khác nhau, </a:t>
            </a:r>
            <a:pPr indent="0" marL="0">
              <a:buNone/>
            </a:pPr>
            <a:r>
              <a:rPr lang="en-US" sz="1800" b="1" dirty="0">
                <a:solidFill>
                  <a:schemeClr val="bg1"/>
                </a:solidFill>
              </a:rPr>
              <a:t>cả theo dòng lẫn theo cột</a:t>
            </a:r>
            <a:pPr indent="0" marL="0">
              <a:buNone/>
            </a:pPr>
            <a:r>
              <a:rPr lang="en-US" sz="1800" dirty="0">
                <a:solidFill>
                  <a:schemeClr val="bg1"/>
                </a:solidFill>
              </a:rPr>
              <a:t> → phù hợp với phân mảnh hỗn hợp</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4 · ỨNG DỤNG CHO QUẢN LÝ ĐƠN HÀNG</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Lược đồ toàn cục và phân tích truy vấn</a:t>
            </a:r>
            <a:endParaRPr lang="en-US" sz="3200" dirty="0"/>
          </a:p>
        </p:txBody>
      </p:sp>
      <p:pic>
        <p:nvPicPr>
          <p:cNvPr id="5" name="Image 0" descr="Lược đồ quan hệ toàn cục 6 bảng">    </p:cNvPr>
          <p:cNvPicPr>
            <a:picLocks noChangeAspect="1"/>
          </p:cNvPicPr>
          <p:nvPr/>
        </p:nvPicPr>
        <p:blipFill>
          <a:blip r:embed="rId1"/>
          <a:stretch>
            <a:fillRect/>
          </a:stretch>
        </p:blipFill>
        <p:spPr>
          <a:xfrm>
            <a:off x="548640" y="1554480"/>
            <a:ext cx="5394960" cy="2953802"/>
          </a:xfrm>
          <a:prstGeom prst="rect">
            <a:avLst/>
          </a:prstGeom>
        </p:spPr>
      </p:pic>
      <p:sp>
        <p:nvSpPr>
          <p:cNvPr id="6" name="Text 2"/>
          <p:cNvSpPr txBox="1"/>
          <p:nvPr/>
        </p:nvSpPr>
        <p:spPr>
          <a:xfrm>
            <a:off x="548640" y="4617720"/>
            <a:ext cx="5394960" cy="548640"/>
          </a:xfrm>
          <a:prstGeom prst="rect">
            <a:avLst/>
          </a:prstGeom>
          <a:noFill/>
          <a:ln/>
        </p:spPr>
        <p:txBody>
          <a:bodyPr wrap="square" lIns="0" tIns="0" rIns="0" bIns="0" rtlCol="0" anchor="t"/>
          <a:lstStyle/>
          <a:p>
            <a:pPr indent="0" marL="0">
              <a:buNone/>
            </a:pPr>
            <a:r>
              <a:rPr lang="en-US" sz="1500" dirty="0">
                <a:solidFill>
                  <a:schemeClr val="tx2"/>
                </a:solidFill>
              </a:rPr>
              <a:t>6 quan hệ: ChiNhanh, KhachHang, NhanVien, SanPham, DonHang, ChiTietDonHang</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63640" y="1554480"/>
          <a:ext cx="5376672" cy="914400"/>
        </p:xfrm>
        <a:graphic>
          <a:graphicData uri="http://schemas.openxmlformats.org/drawingml/2006/table">
            <a:tbl>
              <a:tblPr/>
              <a:tblGrid>
                <a:gridCol w="731520"/>
                <a:gridCol w="2514600"/>
                <a:gridCol w="1005840"/>
                <a:gridCol w="1124712"/>
              </a:tblGrid>
              <a:tr h="365760">
                <a:tc>
                  <a:txBody>
                    <a:bodyPr/>
                    <a:lstStyle/>
                    <a:p>
                      <a:pPr indent="0" marL="0">
                        <a:buNone/>
                      </a:pP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937"/>
                    </a:solidFill>
                  </a:tcPr>
                </a:tc>
                <a:tc>
                  <a:txBody>
                    <a:bodyPr/>
                    <a:lstStyle/>
                    <a:p>
                      <a:pPr indent="0" marL="0">
                        <a:buNone/>
                      </a:pPr>
                      <a:r>
                        <a:rPr lang="en-US" sz="1400" b="1" dirty="0">
                          <a:solidFill>
                            <a:srgbClr val="FFFFFF"/>
                          </a:solidFill>
                        </a:rPr>
                        <a:t>Ứng dụng</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937"/>
                    </a:solidFill>
                  </a:tcPr>
                </a:tc>
                <a:tc>
                  <a:txBody>
                    <a:bodyPr/>
                    <a:lstStyle/>
                    <a:p>
                      <a:pPr indent="0" marL="0">
                        <a:buNone/>
                      </a:pPr>
                      <a:r>
                        <a:rPr lang="en-US" sz="1400" b="1" dirty="0">
                          <a:solidFill>
                            <a:srgbClr val="FFFFFF"/>
                          </a:solidFill>
                        </a:rPr>
                        <a:t>Tại</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937"/>
                    </a:solidFill>
                  </a:tcPr>
                </a:tc>
                <a:tc>
                  <a:txBody>
                    <a:bodyPr/>
                    <a:lstStyle/>
                    <a:p>
                      <a:pPr indent="0" marL="0">
                        <a:buNone/>
                      </a:pPr>
                      <a:r>
                        <a:rPr lang="en-US" sz="1400" b="1" dirty="0">
                          <a:solidFill>
                            <a:srgbClr val="FFFFFF"/>
                          </a:solidFill>
                        </a:rPr>
                        <a:t>Tần suất</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937"/>
                    </a:solidFill>
                  </a:tcPr>
                </a:tc>
              </a:tr>
              <a:tr h="365760">
                <a:tc>
                  <a:txBody>
                    <a:bodyPr/>
                    <a:lstStyle/>
                    <a:p>
                      <a:pPr indent="0" marL="0">
                        <a:buNone/>
                      </a:pPr>
                      <a:r>
                        <a:rPr lang="en-US" sz="1400" b="1" dirty="0">
                          <a:solidFill>
                            <a:srgbClr val="1F2937"/>
                          </a:solidFill>
                        </a:rPr>
                        <a:t>Q1–Q2</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400" dirty="0">
                          <a:solidFill>
                            <a:srgbClr val="1F2937"/>
                          </a:solidFill>
                        </a:rPr>
                        <a:t>Tra cứu khách, lập/xử lý đơn</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400" dirty="0">
                          <a:solidFill>
                            <a:srgbClr val="1F2937"/>
                          </a:solidFill>
                        </a:rPr>
                        <a:t>Chi nhánh</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400" dirty="0">
                          <a:solidFill>
                            <a:srgbClr val="1F2937"/>
                          </a:solidFill>
                        </a:rPr>
                        <a:t>Rất cao</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2E2"/>
                    </a:solidFill>
                  </a:tcPr>
                </a:tc>
              </a:tr>
              <a:tr h="365760">
                <a:tc>
                  <a:txBody>
                    <a:bodyPr/>
                    <a:lstStyle/>
                    <a:p>
                      <a:pPr indent="0" marL="0">
                        <a:buNone/>
                      </a:pPr>
                      <a:r>
                        <a:rPr lang="en-US" sz="1400" b="1" dirty="0">
                          <a:solidFill>
                            <a:srgbClr val="1F2937"/>
                          </a:solidFill>
                        </a:rPr>
                        <a:t>Q3</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Hạn mức, công nợ theo miền</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Trụ sở</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Trung bình</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C7"/>
                    </a:solidFill>
                  </a:tcPr>
                </a:tc>
              </a:tr>
              <a:tr h="365760">
                <a:tc>
                  <a:txBody>
                    <a:bodyPr/>
                    <a:lstStyle/>
                    <a:p>
                      <a:pPr indent="0" marL="0">
                        <a:buNone/>
                      </a:pPr>
                      <a:r>
                        <a:rPr lang="en-US" sz="1400" b="1" dirty="0">
                          <a:solidFill>
                            <a:srgbClr val="1F2937"/>
                          </a:solidFill>
                        </a:rPr>
                        <a:t>Q4</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400" dirty="0">
                          <a:solidFill>
                            <a:srgbClr val="1F2937"/>
                          </a:solidFill>
                        </a:rPr>
                        <a:t>Danh sách nhân viên chi nhánh</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400" dirty="0">
                          <a:solidFill>
                            <a:srgbClr val="1F2937"/>
                          </a:solidFill>
                        </a:rPr>
                        <a:t>Chi nhánh</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400" dirty="0">
                          <a:solidFill>
                            <a:srgbClr val="1F2937"/>
                          </a:solidFill>
                        </a:rPr>
                        <a:t>Trung bình</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F3C7"/>
                    </a:solidFill>
                  </a:tcPr>
                </a:tc>
              </a:tr>
              <a:tr h="365760">
                <a:tc>
                  <a:txBody>
                    <a:bodyPr/>
                    <a:lstStyle/>
                    <a:p>
                      <a:pPr indent="0" marL="0">
                        <a:buNone/>
                      </a:pPr>
                      <a:r>
                        <a:rPr lang="en-US" sz="1400" b="1" dirty="0">
                          <a:solidFill>
                            <a:srgbClr val="1F2937"/>
                          </a:solidFill>
                        </a:rPr>
                        <a:t>Q5</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Tính lương</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Trụ sở</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Thấp</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7EB"/>
                    </a:solidFill>
                  </a:tcPr>
                </a:tc>
              </a:tr>
              <a:tr h="365760">
                <a:tc>
                  <a:txBody>
                    <a:bodyPr/>
                    <a:lstStyle/>
                    <a:p>
                      <a:pPr indent="0" marL="0">
                        <a:buNone/>
                      </a:pPr>
                      <a:r>
                        <a:rPr lang="en-US" sz="1400" b="1" dirty="0">
                          <a:solidFill>
                            <a:srgbClr val="1F2937"/>
                          </a:solidFill>
                        </a:rPr>
                        <a:t>Q6</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400" dirty="0">
                          <a:solidFill>
                            <a:srgbClr val="1F2937"/>
                          </a:solidFill>
                        </a:rPr>
                        <a:t>Báo cáo doanh thu</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400" dirty="0">
                          <a:solidFill>
                            <a:srgbClr val="1F2937"/>
                          </a:solidFill>
                        </a:rPr>
                        <a:t>Trụ sở</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indent="0" marL="0">
                        <a:buNone/>
                      </a:pPr>
                      <a:r>
                        <a:rPr lang="en-US" sz="1400" dirty="0">
                          <a:solidFill>
                            <a:srgbClr val="1F2937"/>
                          </a:solidFill>
                        </a:rPr>
                        <a:t>Thấp</a:t>
                      </a:r>
                      <a:endParaRPr lang="en-US" sz="14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E7EB"/>
                    </a:solidFill>
                  </a:tcPr>
                </a:tc>
              </a:tr>
            </a:tbl>
          </a:graphicData>
        </a:graphic>
      </p:graphicFrame>
      <p:pic>
        <p:nvPicPr>
          <p:cNvPr id="8" name="Image 1" descr="Ma trận sử dụng thuộc tính của KhachHang">    </p:cNvPr>
          <p:cNvPicPr>
            <a:picLocks noChangeAspect="1"/>
          </p:cNvPicPr>
          <p:nvPr/>
        </p:nvPicPr>
        <p:blipFill>
          <a:blip r:embed="rId2"/>
          <a:stretch>
            <a:fillRect/>
          </a:stretch>
        </p:blipFill>
        <p:spPr>
          <a:xfrm>
            <a:off x="6263640" y="3977640"/>
            <a:ext cx="5376672" cy="1734709"/>
          </a:xfrm>
          <a:prstGeom prst="rect">
            <a:avLst/>
          </a:prstGeom>
        </p:spPr>
      </p:pic>
      <p:sp>
        <p:nvSpPr>
          <p:cNvPr id="9" name="Text 3"/>
          <p:cNvSpPr txBox="1"/>
          <p:nvPr/>
        </p:nvSpPr>
        <p:spPr>
          <a:xfrm>
            <a:off x="6263640" y="5760720"/>
            <a:ext cx="5376672" cy="365760"/>
          </a:xfrm>
          <a:prstGeom prst="rect">
            <a:avLst/>
          </a:prstGeom>
          <a:noFill/>
          <a:ln/>
        </p:spPr>
        <p:txBody>
          <a:bodyPr wrap="square" lIns="0" tIns="0" rIns="0" bIns="0" rtlCol="0" anchor="t"/>
          <a:lstStyle/>
          <a:p>
            <a:pPr indent="0" marL="0">
              <a:buNone/>
            </a:pPr>
            <a:r>
              <a:rPr lang="en-US" sz="1500" dirty="0">
                <a:solidFill>
                  <a:schemeClr val="tx1"/>
                </a:solidFill>
              </a:rPr>
              <a:t>Ma trận sử dụng KhachHang → 2 nhóm cột: </a:t>
            </a:r>
            <a:pPr indent="0" marL="0">
              <a:buNone/>
            </a:pPr>
            <a:r>
              <a:rPr lang="en-US" sz="1500" b="1" dirty="0">
                <a:solidFill>
                  <a:schemeClr val="tx1"/>
                </a:solidFill>
              </a:rPr>
              <a:t>giao dịch</a:t>
            </a:r>
            <a:pPr indent="0" marL="0">
              <a:buNone/>
            </a:pPr>
            <a:r>
              <a:rPr lang="en-US" sz="1500" dirty="0">
                <a:solidFill>
                  <a:schemeClr val="tx1"/>
                </a:solidFill>
              </a:rPr>
              <a:t> và </a:t>
            </a:r>
            <a:pPr indent="0" marL="0">
              <a:buNone/>
            </a:pPr>
            <a:r>
              <a:rPr lang="en-US" sz="1500" b="1" dirty="0">
                <a:solidFill>
                  <a:schemeClr val="tx1"/>
                </a:solidFill>
              </a:rPr>
              <a:t>tài chính</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4 · ỨNG DỤNG CHO QUẢN LÝ ĐƠN HÀNG</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Thiết kế KhachHang: chiến lược HV</a:t>
            </a:r>
            <a:endParaRPr lang="en-US" sz="3200" dirty="0"/>
          </a:p>
        </p:txBody>
      </p:sp>
      <p:sp>
        <p:nvSpPr>
          <p:cNvPr id="5" name="Text 2"/>
          <p:cNvSpPr txBox="1"/>
          <p:nvPr/>
        </p:nvSpPr>
        <p:spPr>
          <a:xfrm>
            <a:off x="548640" y="1600200"/>
            <a:ext cx="5212080" cy="3840480"/>
          </a:xfrm>
          <a:prstGeom prst="rect">
            <a:avLst/>
          </a:prstGeom>
          <a:noFill/>
          <a:ln/>
        </p:spPr>
        <p:txBody>
          <a:bodyPr wrap="square" lIns="0" tIns="0" rIns="0" bIns="0" rtlCol="0" anchor="t"/>
          <a:lstStyle/>
          <a:p>
            <a:pPr indent="0" marL="0">
              <a:spcAft>
                <a:spcPts val="200"/>
              </a:spcAft>
              <a:buNone/>
            </a:pPr>
            <a:r>
              <a:rPr lang="en-US" sz="1700" b="1" dirty="0">
                <a:solidFill>
                  <a:schemeClr val="accent1"/>
                </a:solidFill>
              </a:rPr>
              <a:t>Bước 1 – ngang</a:t>
            </a:r>
            <a:endParaRPr lang="en-US" sz="1600" dirty="0"/>
          </a:p>
          <a:p>
            <a:pPr indent="0" marL="0">
              <a:spcAft>
                <a:spcPts val="1200"/>
              </a:spcAft>
              <a:buNone/>
            </a:pPr>
            <a:r>
              <a:rPr lang="en-US" sz="1700" dirty="0">
                <a:solidFill>
                  <a:schemeClr val="tx1"/>
                </a:solidFill>
                <a:latin typeface="Cambria Math" pitchFamily="34" charset="0"/>
                <a:ea typeface="Cambria Math" pitchFamily="34" charset="-122"/>
                <a:cs typeface="Cambria Math" pitchFamily="34" charset="-120"/>
              </a:rPr>
              <a:t>KHᵢ = σ</a:t>
            </a:r>
            <a:pPr indent="0" marL="0">
              <a:buNone/>
            </a:pPr>
            <a:r>
              <a:rPr lang="en-US" sz="1700" baseline="-40000" dirty="0">
                <a:solidFill>
                  <a:schemeClr val="tx1"/>
                </a:solidFill>
                <a:latin typeface="Cambria Math" pitchFamily="34" charset="0"/>
                <a:ea typeface="Cambria Math" pitchFamily="34" charset="-122"/>
                <a:cs typeface="Cambria Math" pitchFamily="34" charset="-120"/>
              </a:rPr>
              <a:t>MaCN='CN0i'</a:t>
            </a:r>
            <a:pPr indent="0" marL="0">
              <a:buNone/>
            </a:pPr>
            <a:r>
              <a:rPr lang="en-US" sz="1700" dirty="0">
                <a:solidFill>
                  <a:schemeClr val="tx1"/>
                </a:solidFill>
                <a:latin typeface="Cambria Math" pitchFamily="34" charset="0"/>
                <a:ea typeface="Cambria Math" pitchFamily="34" charset="-122"/>
                <a:cs typeface="Cambria Math" pitchFamily="34" charset="-120"/>
              </a:rPr>
              <a:t>(KhachHang)</a:t>
            </a:r>
            <a:pPr indent="0" marL="0">
              <a:buNone/>
            </a:pPr>
            <a:r>
              <a:rPr lang="en-US" sz="1700" dirty="0">
                <a:solidFill>
                  <a:schemeClr val="tx1"/>
                </a:solidFill>
              </a:rPr>
              <a:t>, i = 1..3</a:t>
            </a:r>
            <a:endParaRPr lang="en-US" sz="1600" dirty="0"/>
          </a:p>
          <a:p>
            <a:pPr indent="0" marL="0">
              <a:spcAft>
                <a:spcPts val="200"/>
              </a:spcAft>
              <a:buNone/>
            </a:pPr>
            <a:r>
              <a:rPr lang="en-US" sz="1700" b="1" dirty="0">
                <a:solidFill>
                  <a:schemeClr val="accent2"/>
                </a:solidFill>
              </a:rPr>
              <a:t>Bước 2 – dọc trên từng KHᵢ</a:t>
            </a:r>
            <a:endParaRPr lang="en-US" sz="1600" dirty="0"/>
          </a:p>
          <a:p>
            <a:pPr marL="228600" indent="-228600">
              <a:spcAft>
                <a:spcPts val="800"/>
              </a:spcAft>
              <a:buSzPct val="100000"/>
              <a:buChar char="•"/>
            </a:pPr>
            <a:r>
              <a:rPr lang="en-US" sz="1500" dirty="0">
                <a:solidFill>
                  <a:schemeClr val="tx1"/>
                </a:solidFill>
                <a:latin typeface="Cambria Math" pitchFamily="34" charset="0"/>
                <a:ea typeface="Cambria Math" pitchFamily="34" charset="-122"/>
                <a:cs typeface="Cambria Math" pitchFamily="34" charset="-120"/>
              </a:rPr>
              <a:t>KHᵢ_GD = π</a:t>
            </a:r>
            <a:pPr indent="0" marL="0">
              <a:buNone/>
            </a:pPr>
            <a:r>
              <a:rPr lang="en-US" sz="1500" baseline="-40000" dirty="0">
                <a:solidFill>
                  <a:schemeClr val="tx1"/>
                </a:solidFill>
                <a:latin typeface="Cambria Math" pitchFamily="34" charset="0"/>
                <a:ea typeface="Cambria Math" pitchFamily="34" charset="-122"/>
                <a:cs typeface="Cambria Math" pitchFamily="34" charset="-120"/>
              </a:rPr>
              <a:t>MaKH, HoTen, SDT, Email, DiaChi, MaCN</a:t>
            </a:r>
            <a:pPr indent="0" marL="0">
              <a:buNone/>
            </a:pPr>
            <a:r>
              <a:rPr lang="en-US" sz="1500" dirty="0">
                <a:solidFill>
                  <a:schemeClr val="tx1"/>
                </a:solidFill>
                <a:latin typeface="Cambria Math" pitchFamily="34" charset="0"/>
                <a:ea typeface="Cambria Math" pitchFamily="34" charset="-122"/>
                <a:cs typeface="Cambria Math" pitchFamily="34" charset="-120"/>
              </a:rPr>
              <a:t>(KHᵢ)</a:t>
            </a:r>
            <a:pPr indent="0" marL="0">
              <a:buNone/>
            </a:pPr>
            <a:r>
              <a:rPr lang="en-US" sz="1500" dirty="0">
                <a:solidFill>
                  <a:schemeClr val="tx1"/>
                </a:solidFill>
              </a:rPr>
              <a:t> → đặt tại </a:t>
            </a:r>
            <a:pPr indent="0" marL="0">
              <a:buNone/>
            </a:pPr>
            <a:r>
              <a:rPr lang="en-US" sz="1500" b="1" dirty="0">
                <a:solidFill>
                  <a:schemeClr val="tx1"/>
                </a:solidFill>
              </a:rPr>
              <a:t>chi nhánh i</a:t>
            </a:r>
            <a:endParaRPr lang="en-US" sz="1600" dirty="0"/>
          </a:p>
          <a:p>
            <a:pPr marL="228600" indent="-228600">
              <a:spcAft>
                <a:spcPts val="1200"/>
              </a:spcAft>
              <a:buSzPct val="100000"/>
              <a:buChar char="•"/>
            </a:pPr>
            <a:r>
              <a:rPr lang="en-US" sz="1500" dirty="0">
                <a:solidFill>
                  <a:schemeClr val="tx1"/>
                </a:solidFill>
                <a:latin typeface="Cambria Math" pitchFamily="34" charset="0"/>
                <a:ea typeface="Cambria Math" pitchFamily="34" charset="-122"/>
                <a:cs typeface="Cambria Math" pitchFamily="34" charset="-120"/>
              </a:rPr>
              <a:t>KHᵢ_TC = π</a:t>
            </a:r>
            <a:pPr indent="0" marL="0">
              <a:buNone/>
            </a:pPr>
            <a:r>
              <a:rPr lang="en-US" sz="1500" baseline="-40000" dirty="0">
                <a:solidFill>
                  <a:schemeClr val="tx1"/>
                </a:solidFill>
                <a:latin typeface="Cambria Math" pitchFamily="34" charset="0"/>
                <a:ea typeface="Cambria Math" pitchFamily="34" charset="-122"/>
                <a:cs typeface="Cambria Math" pitchFamily="34" charset="-120"/>
              </a:rPr>
              <a:t>MaKH, HanMucNo, CongNo, DiemTichLuy</a:t>
            </a:r>
            <a:pPr indent="0" marL="0">
              <a:buNone/>
            </a:pPr>
            <a:r>
              <a:rPr lang="en-US" sz="1500" dirty="0">
                <a:solidFill>
                  <a:schemeClr val="tx1"/>
                </a:solidFill>
                <a:latin typeface="Cambria Math" pitchFamily="34" charset="0"/>
                <a:ea typeface="Cambria Math" pitchFamily="34" charset="-122"/>
                <a:cs typeface="Cambria Math" pitchFamily="34" charset="-120"/>
              </a:rPr>
              <a:t>(KHᵢ)</a:t>
            </a:r>
            <a:pPr indent="0" marL="0">
              <a:buNone/>
            </a:pPr>
            <a:r>
              <a:rPr lang="en-US" sz="1500" dirty="0">
                <a:solidFill>
                  <a:schemeClr val="tx1"/>
                </a:solidFill>
              </a:rPr>
              <a:t> → đặt tại </a:t>
            </a:r>
            <a:pPr indent="0" marL="0">
              <a:buNone/>
            </a:pPr>
            <a:r>
              <a:rPr lang="en-US" sz="1500" b="1" dirty="0">
                <a:solidFill>
                  <a:schemeClr val="tx1"/>
                </a:solidFill>
              </a:rPr>
              <a:t>trụ sở</a:t>
            </a:r>
            <a:endParaRPr lang="en-US" sz="1600" dirty="0"/>
          </a:p>
          <a:p>
            <a:pPr indent="0" marL="0">
              <a:spcAft>
                <a:spcPts val="800"/>
              </a:spcAft>
              <a:buNone/>
            </a:pPr>
            <a:r>
              <a:rPr lang="en-US" sz="1700" b="1" dirty="0">
                <a:solidFill>
                  <a:schemeClr val="tx1"/>
                </a:solidFill>
              </a:rPr>
              <a:t>Tái thiết:</a:t>
            </a:r>
            <a:pPr indent="0" marL="0">
              <a:buNone/>
            </a:pPr>
            <a:r>
              <a:rPr lang="en-US" sz="1700" dirty="0">
                <a:solidFill>
                  <a:schemeClr val="tx1"/>
                </a:solidFill>
              </a:rPr>
              <a:t> </a:t>
            </a:r>
            <a:pPr indent="0" marL="0">
              <a:buNone/>
            </a:pPr>
            <a:r>
              <a:rPr lang="en-US" sz="1700" dirty="0">
                <a:solidFill>
                  <a:schemeClr val="tx1"/>
                </a:solidFill>
                <a:latin typeface="Cambria Math" pitchFamily="34" charset="0"/>
                <a:ea typeface="Cambria Math" pitchFamily="34" charset="-122"/>
                <a:cs typeface="Cambria Math" pitchFamily="34" charset="-120"/>
              </a:rPr>
              <a:t>KhachHang = ⋃</a:t>
            </a:r>
            <a:pPr indent="0" marL="0">
              <a:buNone/>
            </a:pPr>
            <a:r>
              <a:rPr lang="en-US" sz="1700" baseline="-40000" dirty="0">
                <a:solidFill>
                  <a:schemeClr val="tx1"/>
                </a:solidFill>
                <a:latin typeface="Cambria Math" pitchFamily="34" charset="0"/>
                <a:ea typeface="Cambria Math" pitchFamily="34" charset="-122"/>
                <a:cs typeface="Cambria Math" pitchFamily="34" charset="-120"/>
              </a:rPr>
              <a:t>i</a:t>
            </a:r>
            <a:pPr indent="0" marL="0">
              <a:buNone/>
            </a:pPr>
            <a:r>
              <a:rPr lang="en-US" sz="1700" dirty="0">
                <a:solidFill>
                  <a:schemeClr val="tx1"/>
                </a:solidFill>
                <a:latin typeface="Cambria Math" pitchFamily="34" charset="0"/>
                <a:ea typeface="Cambria Math" pitchFamily="34" charset="-122"/>
                <a:cs typeface="Cambria Math" pitchFamily="34" charset="-120"/>
              </a:rPr>
              <a:t> (KHᵢ_GD ⋈</a:t>
            </a:r>
            <a:pPr indent="0" marL="0">
              <a:buNone/>
            </a:pPr>
            <a:r>
              <a:rPr lang="en-US" sz="1700" baseline="-40000" dirty="0">
                <a:solidFill>
                  <a:schemeClr val="tx1"/>
                </a:solidFill>
                <a:latin typeface="Cambria Math" pitchFamily="34" charset="0"/>
                <a:ea typeface="Cambria Math" pitchFamily="34" charset="-122"/>
                <a:cs typeface="Cambria Math" pitchFamily="34" charset="-120"/>
              </a:rPr>
              <a:t>MaKH</a:t>
            </a:r>
            <a:pPr indent="0" marL="0">
              <a:buNone/>
            </a:pPr>
            <a:r>
              <a:rPr lang="en-US" sz="1700" dirty="0">
                <a:solidFill>
                  <a:schemeClr val="tx1"/>
                </a:solidFill>
                <a:latin typeface="Cambria Math" pitchFamily="34" charset="0"/>
                <a:ea typeface="Cambria Math" pitchFamily="34" charset="-122"/>
                <a:cs typeface="Cambria Math" pitchFamily="34" charset="-120"/>
              </a:rPr>
              <a:t> KHᵢ_TC)</a:t>
            </a:r>
            <a:endParaRPr lang="en-US" sz="1600" dirty="0"/>
          </a:p>
        </p:txBody>
      </p:sp>
      <p:pic>
        <p:nvPicPr>
          <p:cNvPr id="6" name="Image 0" descr="Cây phân mảnh HV của KhachHang, 6 lá">    </p:cNvPr>
          <p:cNvPicPr>
            <a:picLocks noChangeAspect="1"/>
          </p:cNvPicPr>
          <p:nvPr/>
        </p:nvPicPr>
        <p:blipFill>
          <a:blip r:embed="rId1"/>
          <a:stretch>
            <a:fillRect/>
          </a:stretch>
        </p:blipFill>
        <p:spPr>
          <a:xfrm>
            <a:off x="5989320" y="1554480"/>
            <a:ext cx="5669280" cy="2827743"/>
          </a:xfrm>
          <a:prstGeom prst="rect">
            <a:avLst/>
          </a:prstGeom>
        </p:spPr>
      </p:pic>
      <p:sp>
        <p:nvSpPr>
          <p:cNvPr id="7" name="vi-sao"/>
          <p:cNvSpPr/>
          <p:nvPr/>
        </p:nvSpPr>
        <p:spPr>
          <a:xfrm>
            <a:off x="5989320" y="4572000"/>
            <a:ext cx="5669280" cy="1417320"/>
          </a:xfrm>
          <a:prstGeom prst="roundRect">
            <a:avLst>
              <a:gd name="adj" fmla="val 7742"/>
            </a:avLst>
          </a:prstGeom>
          <a:solidFill>
            <a:srgbClr val="FEF3C7"/>
          </a:solidFill>
          <a:ln w="12700">
            <a:solidFill>
              <a:srgbClr val="FEF3C7"/>
            </a:solidFill>
            <a:prstDash val="solid"/>
          </a:ln>
        </p:spPr>
      </p:sp>
      <p:sp>
        <p:nvSpPr>
          <p:cNvPr id="8" name="Text 4"/>
          <p:cNvSpPr txBox="1"/>
          <p:nvPr/>
        </p:nvSpPr>
        <p:spPr>
          <a:xfrm>
            <a:off x="6263640" y="4709160"/>
            <a:ext cx="5120640" cy="11887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Vì sao chọn HV?</a:t>
            </a:r>
            <a:endParaRPr lang="en-US" sz="1600" dirty="0"/>
          </a:p>
          <a:p>
            <a:pPr indent="0" marL="0">
              <a:spcAft>
                <a:spcPts val="800"/>
              </a:spcAft>
              <a:buNone/>
            </a:pPr>
            <a:r>
              <a:rPr lang="en-US" sz="1600" dirty="0">
                <a:solidFill>
                  <a:schemeClr val="tx1"/>
                </a:solidFill>
              </a:rPr>
              <a:t>Kế toán cần </a:t>
            </a:r>
            <a:pPr indent="0" marL="0">
              <a:buNone/>
            </a:pPr>
            <a:r>
              <a:rPr lang="en-US" sz="1600" b="1" dirty="0">
                <a:solidFill>
                  <a:schemeClr val="tx1"/>
                </a:solidFill>
              </a:rPr>
              <a:t>báo cáo công nợ theo từng miền</a:t>
            </a:r>
            <a:pPr indent="0" marL="0">
              <a:buNone/>
            </a:pPr>
            <a:r>
              <a:rPr lang="en-US" sz="1600" dirty="0">
                <a:solidFill>
                  <a:schemeClr val="tx1"/>
                </a:solidFill>
              </a:rPr>
              <a:t>, nên phần TC vẫn được tách theo miền</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4 · ỨNG DỤNG CHO QUẢN LÝ ĐƠN HÀNG</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Thiết kế NhanVien (VH) và DonHang</a:t>
            </a:r>
            <a:endParaRPr lang="en-US" sz="3200" dirty="0"/>
          </a:p>
        </p:txBody>
      </p:sp>
      <p:sp>
        <p:nvSpPr>
          <p:cNvPr id="5" name="Text 2"/>
          <p:cNvSpPr txBox="1"/>
          <p:nvPr/>
        </p:nvSpPr>
        <p:spPr>
          <a:xfrm>
            <a:off x="548640" y="1554480"/>
            <a:ext cx="5394960" cy="365760"/>
          </a:xfrm>
          <a:prstGeom prst="rect">
            <a:avLst/>
          </a:prstGeom>
          <a:noFill/>
          <a:ln/>
        </p:spPr>
        <p:txBody>
          <a:bodyPr wrap="square" lIns="0" tIns="0" rIns="0" bIns="0" rtlCol="0" anchor="t"/>
          <a:lstStyle/>
          <a:p>
            <a:pPr indent="0" marL="0">
              <a:buNone/>
            </a:pPr>
            <a:r>
              <a:rPr lang="en-US" sz="1800" b="1" dirty="0">
                <a:solidFill>
                  <a:schemeClr val="accent2"/>
                </a:solidFill>
              </a:rPr>
              <a:t>NhanVien · chiến lược VH</a:t>
            </a:r>
            <a:endParaRPr lang="en-US" sz="1800" dirty="0"/>
          </a:p>
        </p:txBody>
      </p:sp>
      <p:pic>
        <p:nvPicPr>
          <p:cNvPr id="6" name="Image 0" descr="Cây phân mảnh VH của NhanVien">    </p:cNvPr>
          <p:cNvPicPr>
            <a:picLocks noChangeAspect="1"/>
          </p:cNvPicPr>
          <p:nvPr/>
        </p:nvPicPr>
        <p:blipFill>
          <a:blip r:embed="rId1"/>
          <a:stretch>
            <a:fillRect/>
          </a:stretch>
        </p:blipFill>
        <p:spPr>
          <a:xfrm>
            <a:off x="548640" y="1965960"/>
            <a:ext cx="5394960" cy="2910439"/>
          </a:xfrm>
          <a:prstGeom prst="rect">
            <a:avLst/>
          </a:prstGeom>
        </p:spPr>
      </p:pic>
      <p:sp>
        <p:nvSpPr>
          <p:cNvPr id="7" name="Text 3"/>
          <p:cNvSpPr txBox="1"/>
          <p:nvPr/>
        </p:nvSpPr>
        <p:spPr>
          <a:xfrm>
            <a:off x="548640" y="4983480"/>
            <a:ext cx="5394960" cy="109728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chemeClr val="tx1"/>
                </a:solidFill>
              </a:rPr>
              <a:t>NV_NS (lương, CCCD, tài khoản) chỉ đặt tại </a:t>
            </a:r>
            <a:pPr indent="0" marL="0">
              <a:buNone/>
            </a:pPr>
            <a:r>
              <a:rPr lang="en-US" sz="1500" b="1" dirty="0">
                <a:solidFill>
                  <a:schemeClr val="tx1"/>
                </a:solidFill>
              </a:rPr>
              <a:t>trụ sở</a:t>
            </a:r>
            <a:endParaRPr lang="en-US" sz="1600" dirty="0"/>
          </a:p>
          <a:p>
            <a:pPr marL="228600" indent="-228600">
              <a:spcAft>
                <a:spcPts val="800"/>
              </a:spcAft>
              <a:buSzPct val="100000"/>
              <a:buChar char="•"/>
            </a:pPr>
            <a:r>
              <a:rPr lang="en-US" sz="1500" dirty="0">
                <a:solidFill>
                  <a:schemeClr val="tx1"/>
                </a:solidFill>
                <a:latin typeface="Cambria Math" pitchFamily="34" charset="0"/>
                <a:ea typeface="Cambria Math" pitchFamily="34" charset="-122"/>
                <a:cs typeface="Cambria Math" pitchFamily="34" charset="-120"/>
              </a:rPr>
              <a:t>NhanVien = (NV_CV₁ ∪ NV_CV₂ ∪ NV_CV₃) ⋈</a:t>
            </a:r>
            <a:pPr indent="0" marL="0">
              <a:buNone/>
            </a:pPr>
            <a:r>
              <a:rPr lang="en-US" sz="1500" baseline="-40000" dirty="0">
                <a:solidFill>
                  <a:schemeClr val="tx1"/>
                </a:solidFill>
                <a:latin typeface="Cambria Math" pitchFamily="34" charset="0"/>
                <a:ea typeface="Cambria Math" pitchFamily="34" charset="-122"/>
                <a:cs typeface="Cambria Math" pitchFamily="34" charset="-120"/>
              </a:rPr>
              <a:t>MaNV</a:t>
            </a:r>
            <a:pPr indent="0" marL="0">
              <a:buNone/>
            </a:pPr>
            <a:r>
              <a:rPr lang="en-US" sz="1500" dirty="0">
                <a:solidFill>
                  <a:schemeClr val="tx1"/>
                </a:solidFill>
                <a:latin typeface="Cambria Math" pitchFamily="34" charset="0"/>
                <a:ea typeface="Cambria Math" pitchFamily="34" charset="-122"/>
                <a:cs typeface="Cambria Math" pitchFamily="34" charset="-120"/>
              </a:rPr>
              <a:t> NV_NS</a:t>
            </a:r>
            <a:endParaRPr lang="en-US" sz="1600" dirty="0"/>
          </a:p>
        </p:txBody>
      </p:sp>
      <p:sp>
        <p:nvSpPr>
          <p:cNvPr id="8" name="Text 4"/>
          <p:cNvSpPr txBox="1"/>
          <p:nvPr/>
        </p:nvSpPr>
        <p:spPr>
          <a:xfrm>
            <a:off x="6263640" y="1554480"/>
            <a:ext cx="5376672" cy="365760"/>
          </a:xfrm>
          <a:prstGeom prst="rect">
            <a:avLst/>
          </a:prstGeom>
          <a:noFill/>
          <a:ln/>
        </p:spPr>
        <p:txBody>
          <a:bodyPr wrap="square" lIns="0" tIns="0" rIns="0" bIns="0" rtlCol="0" anchor="t"/>
          <a:lstStyle/>
          <a:p>
            <a:pPr indent="0" marL="0">
              <a:buNone/>
            </a:pPr>
            <a:r>
              <a:rPr lang="en-US" sz="1800" b="1" dirty="0">
                <a:solidFill>
                  <a:schemeClr val="accent1"/>
                </a:solidFill>
              </a:rPr>
              <a:t>DonHang, ChiTietDonHang · ngang dẫn xuất</a:t>
            </a:r>
            <a:endParaRPr lang="en-US" sz="1800" dirty="0"/>
          </a:p>
        </p:txBody>
      </p:sp>
      <p:sp>
        <p:nvSpPr>
          <p:cNvPr id="9" name="Text 5"/>
          <p:cNvSpPr txBox="1"/>
          <p:nvPr/>
        </p:nvSpPr>
        <p:spPr>
          <a:xfrm>
            <a:off x="6263640" y="2057400"/>
            <a:ext cx="5376672" cy="868680"/>
          </a:xfrm>
          <a:prstGeom prst="rect">
            <a:avLst/>
          </a:prstGeom>
          <a:noFill/>
          <a:ln/>
        </p:spPr>
        <p:txBody>
          <a:bodyPr wrap="square" lIns="0" tIns="0" rIns="0" bIns="0" rtlCol="0" anchor="t"/>
          <a:lstStyle/>
          <a:p>
            <a:pPr indent="0" marL="0">
              <a:spcAft>
                <a:spcPts val="400"/>
              </a:spcAft>
              <a:buNone/>
            </a:pPr>
            <a:r>
              <a:rPr lang="en-US" sz="2000" dirty="0">
                <a:solidFill>
                  <a:schemeClr val="tx1"/>
                </a:solidFill>
                <a:latin typeface="Cambria Math" pitchFamily="34" charset="0"/>
                <a:ea typeface="Cambria Math" pitchFamily="34" charset="-122"/>
                <a:cs typeface="Cambria Math" pitchFamily="34" charset="-120"/>
              </a:rPr>
              <a:t>DHᵢ = DonHang ⋉ KHᵢ</a:t>
            </a:r>
            <a:endParaRPr lang="en-US" sz="1600" dirty="0"/>
          </a:p>
          <a:p>
            <a:pPr indent="0" marL="0">
              <a:spcAft>
                <a:spcPts val="800"/>
              </a:spcAft>
              <a:buNone/>
            </a:pPr>
            <a:r>
              <a:rPr lang="en-US" sz="2000" dirty="0">
                <a:solidFill>
                  <a:schemeClr val="tx1"/>
                </a:solidFill>
                <a:latin typeface="Cambria Math" pitchFamily="34" charset="0"/>
                <a:ea typeface="Cambria Math" pitchFamily="34" charset="-122"/>
                <a:cs typeface="Cambria Math" pitchFamily="34" charset="-120"/>
              </a:rPr>
              <a:t>CTDHᵢ = ChiTietDonHang ⋉ DHᵢ</a:t>
            </a:r>
            <a:endParaRPr lang="en-US" sz="1600" dirty="0"/>
          </a:p>
        </p:txBody>
      </p:sp>
      <p:pic>
        <p:nvPicPr>
          <p:cNvPr id="10" name="Image 1" descr="Chuỗi phân mảnh dẫn xuất KH → DH → CTDH">    </p:cNvPr>
          <p:cNvPicPr>
            <a:picLocks noChangeAspect="1"/>
          </p:cNvPicPr>
          <p:nvPr/>
        </p:nvPicPr>
        <p:blipFill>
          <a:blip r:embed="rId2"/>
          <a:stretch>
            <a:fillRect/>
          </a:stretch>
        </p:blipFill>
        <p:spPr>
          <a:xfrm>
            <a:off x="6263640" y="3017520"/>
            <a:ext cx="5376672" cy="1176781"/>
          </a:xfrm>
          <a:prstGeom prst="rect">
            <a:avLst/>
          </a:prstGeom>
        </p:spPr>
      </p:pic>
      <p:sp>
        <p:nvSpPr>
          <p:cNvPr id="11" name="Text 6"/>
          <p:cNvSpPr txBox="1"/>
          <p:nvPr/>
        </p:nvSpPr>
        <p:spPr>
          <a:xfrm>
            <a:off x="6263640" y="4251960"/>
            <a:ext cx="5376672" cy="365760"/>
          </a:xfrm>
          <a:prstGeom prst="rect">
            <a:avLst/>
          </a:prstGeom>
          <a:noFill/>
          <a:ln/>
        </p:spPr>
        <p:txBody>
          <a:bodyPr wrap="square" lIns="0" tIns="0" rIns="0" bIns="0" rtlCol="0" anchor="t"/>
          <a:lstStyle/>
          <a:p>
            <a:pPr indent="0" marL="0">
              <a:buNone/>
            </a:pPr>
            <a:r>
              <a:rPr lang="en-US" sz="1500" dirty="0">
                <a:solidFill>
                  <a:schemeClr val="tx2"/>
                </a:solidFill>
              </a:rPr>
              <a:t>Kết nối khách – đơn – chi tiết luôn chạy </a:t>
            </a:r>
            <a:pPr indent="0" marL="0">
              <a:buNone/>
            </a:pPr>
            <a:r>
              <a:rPr lang="en-US" sz="1500" b="1" dirty="0">
                <a:solidFill>
                  <a:schemeClr val="tx2"/>
                </a:solidFill>
              </a:rPr>
              <a:t>tại chỗ</a:t>
            </a:r>
            <a:pPr indent="0" marL="0">
              <a:buNone/>
            </a:pPr>
            <a:r>
              <a:rPr lang="en-US" sz="1500" dirty="0">
                <a:solidFill>
                  <a:schemeClr val="tx2"/>
                </a:solidFill>
              </a:rPr>
              <a:t> ở chi nhánh</a:t>
            </a:r>
            <a:endParaRPr lang="en-US" sz="1500" dirty="0"/>
          </a:p>
        </p:txBody>
      </p:sp>
      <p:sp>
        <p:nvSpPr>
          <p:cNvPr id="12" name="nhan-ban"/>
          <p:cNvSpPr/>
          <p:nvPr/>
        </p:nvSpPr>
        <p:spPr>
          <a:xfrm>
            <a:off x="6263640" y="4846320"/>
            <a:ext cx="5376672" cy="1143000"/>
          </a:xfrm>
          <a:prstGeom prst="roundRect">
            <a:avLst>
              <a:gd name="adj" fmla="val 9600"/>
            </a:avLst>
          </a:prstGeom>
          <a:solidFill>
            <a:schemeClr val="bg2"/>
          </a:solidFill>
          <a:ln w="12700">
            <a:solidFill>
              <a:schemeClr val="bg2"/>
            </a:solidFill>
            <a:prstDash val="solid"/>
          </a:ln>
        </p:spPr>
      </p:sp>
      <p:sp>
        <p:nvSpPr>
          <p:cNvPr id="13" name="icon-nen"/>
          <p:cNvSpPr/>
          <p:nvPr/>
        </p:nvSpPr>
        <p:spPr>
          <a:xfrm>
            <a:off x="6537960" y="5120640"/>
            <a:ext cx="566928" cy="566928"/>
          </a:xfrm>
          <a:prstGeom prst="ellipse">
            <a:avLst/>
          </a:prstGeom>
          <a:solidFill>
            <a:schemeClr val="accent6"/>
          </a:solidFill>
          <a:ln w="12700">
            <a:solidFill>
              <a:schemeClr val="accent6"/>
            </a:solidFill>
            <a:prstDash val="solid"/>
          </a:ln>
        </p:spPr>
      </p:sp>
      <p:pic>
        <p:nvPicPr>
          <p:cNvPr id="14" name="Image 2" descr="FaRotate">    </p:cNvPr>
          <p:cNvPicPr>
            <a:picLocks noChangeAspect="1"/>
          </p:cNvPicPr>
          <p:nvPr/>
        </p:nvPicPr>
        <p:blipFill>
          <a:blip r:embed="rId3"/>
          <a:stretch>
            <a:fillRect/>
          </a:stretch>
        </p:blipFill>
        <p:spPr>
          <a:xfrm>
            <a:off x="6679692" y="5262372"/>
            <a:ext cx="283464" cy="283464"/>
          </a:xfrm>
          <a:prstGeom prst="rect">
            <a:avLst/>
          </a:prstGeom>
        </p:spPr>
      </p:pic>
      <p:sp>
        <p:nvSpPr>
          <p:cNvPr id="15" name="Text 9"/>
          <p:cNvSpPr txBox="1"/>
          <p:nvPr/>
        </p:nvSpPr>
        <p:spPr>
          <a:xfrm>
            <a:off x="7315200" y="4983480"/>
            <a:ext cx="4142232" cy="9144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ChiNhanh, SanPham</a:t>
            </a:r>
            <a:endParaRPr lang="en-US" sz="1600" dirty="0"/>
          </a:p>
          <a:p>
            <a:pPr indent="0" marL="0">
              <a:spcAft>
                <a:spcPts val="800"/>
              </a:spcAft>
              <a:buNone/>
            </a:pPr>
            <a:r>
              <a:rPr lang="en-US" sz="1600" dirty="0">
                <a:solidFill>
                  <a:schemeClr val="tx1"/>
                </a:solidFill>
              </a:rPr>
              <a:t>Nhỏ, chủ yếu đọc → </a:t>
            </a:r>
            <a:pPr indent="0" marL="0">
              <a:buNone/>
            </a:pPr>
            <a:r>
              <a:rPr lang="en-US" sz="1600" b="1" dirty="0">
                <a:solidFill>
                  <a:schemeClr val="tx1"/>
                </a:solidFill>
              </a:rPr>
              <a:t>nhân bản</a:t>
            </a:r>
            <a:pPr indent="0" marL="0">
              <a:buNone/>
            </a:pPr>
            <a:r>
              <a:rPr lang="en-US" sz="1600" dirty="0">
                <a:solidFill>
                  <a:schemeClr val="tx1"/>
                </a:solidFill>
              </a:rPr>
              <a:t> ở cả 4 site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4 · ỨNG DỤNG CHO QUẢN LÝ ĐƠN HÀNG</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Lược đồ cấp phát</a:t>
            </a:r>
            <a:endParaRPr lang="en-US" sz="3200" dirty="0"/>
          </a:p>
        </p:txBody>
      </p:sp>
      <p:pic>
        <p:nvPicPr>
          <p:cNvPr id="5" name="Image 0" descr="Lược đồ cấp phát các mảnh cho 4 site">    </p:cNvPr>
          <p:cNvPicPr>
            <a:picLocks noChangeAspect="1"/>
          </p:cNvPicPr>
          <p:nvPr/>
        </p:nvPicPr>
        <p:blipFill>
          <a:blip r:embed="rId1"/>
          <a:stretch>
            <a:fillRect/>
          </a:stretch>
        </p:blipFill>
        <p:spPr>
          <a:xfrm>
            <a:off x="548640" y="1508760"/>
            <a:ext cx="6949440" cy="4312310"/>
          </a:xfrm>
          <a:prstGeom prst="rect">
            <a:avLst/>
          </a:prstGeom>
        </p:spPr>
      </p:pic>
      <p:sp>
        <p:nvSpPr>
          <p:cNvPr id="6" name="Text 2"/>
          <p:cNvSpPr txBox="1"/>
          <p:nvPr/>
        </p:nvSpPr>
        <p:spPr>
          <a:xfrm>
            <a:off x="7863840" y="1554480"/>
            <a:ext cx="3779215" cy="1005840"/>
          </a:xfrm>
          <a:prstGeom prst="rect">
            <a:avLst/>
          </a:prstGeom>
          <a:noFill/>
          <a:ln/>
        </p:spPr>
        <p:txBody>
          <a:bodyPr wrap="square" lIns="0" tIns="0" rIns="0" bIns="0" rtlCol="0" anchor="t"/>
          <a:lstStyle/>
          <a:p>
            <a:pPr indent="0" marL="0">
              <a:buNone/>
            </a:pPr>
            <a:r>
              <a:rPr lang="en-US" sz="6400" b="1" dirty="0">
                <a:solidFill>
                  <a:schemeClr val="accent1"/>
                </a:solidFill>
                <a:latin typeface="Cambria" pitchFamily="34" charset="0"/>
                <a:ea typeface="Cambria" pitchFamily="34" charset="-122"/>
                <a:cs typeface="Cambria" pitchFamily="34" charset="-120"/>
              </a:rPr>
              <a:t>5/6</a:t>
            </a:r>
            <a:endParaRPr lang="en-US" sz="6400" dirty="0"/>
          </a:p>
        </p:txBody>
      </p:sp>
      <p:sp>
        <p:nvSpPr>
          <p:cNvPr id="7" name="Text 3"/>
          <p:cNvSpPr txBox="1"/>
          <p:nvPr/>
        </p:nvSpPr>
        <p:spPr>
          <a:xfrm>
            <a:off x="7863840" y="2560320"/>
            <a:ext cx="3779215" cy="365760"/>
          </a:xfrm>
          <a:prstGeom prst="rect">
            <a:avLst/>
          </a:prstGeom>
          <a:noFill/>
          <a:ln/>
        </p:spPr>
        <p:txBody>
          <a:bodyPr wrap="square" lIns="0" tIns="0" rIns="0" bIns="0" rtlCol="0" anchor="t"/>
          <a:lstStyle/>
          <a:p>
            <a:pPr indent="0" marL="0">
              <a:buNone/>
            </a:pPr>
            <a:r>
              <a:rPr lang="en-US" sz="1500" dirty="0">
                <a:solidFill>
                  <a:schemeClr val="tx2"/>
                </a:solidFill>
              </a:rPr>
              <a:t>nhóm truy vấn chạy hoàn toàn cục bộ</a:t>
            </a:r>
            <a:endParaRPr lang="en-US" sz="1500" dirty="0"/>
          </a:p>
        </p:txBody>
      </p:sp>
      <p:sp>
        <p:nvSpPr>
          <p:cNvPr id="8" name="truy-van"/>
          <p:cNvSpPr/>
          <p:nvPr/>
        </p:nvSpPr>
        <p:spPr>
          <a:xfrm>
            <a:off x="7863840" y="3154680"/>
            <a:ext cx="3779215" cy="896112"/>
          </a:xfrm>
          <a:prstGeom prst="roundRect">
            <a:avLst>
              <a:gd name="adj" fmla="val 12245"/>
            </a:avLst>
          </a:prstGeom>
          <a:solidFill>
            <a:schemeClr val="bg2"/>
          </a:solidFill>
          <a:ln w="12700">
            <a:solidFill>
              <a:schemeClr val="bg2"/>
            </a:solidFill>
            <a:prstDash val="solid"/>
          </a:ln>
        </p:spPr>
      </p:sp>
      <p:sp>
        <p:nvSpPr>
          <p:cNvPr id="9" name="icon-nen"/>
          <p:cNvSpPr/>
          <p:nvPr/>
        </p:nvSpPr>
        <p:spPr>
          <a:xfrm>
            <a:off x="8028432" y="3355848"/>
            <a:ext cx="493776" cy="493776"/>
          </a:xfrm>
          <a:prstGeom prst="ellipse">
            <a:avLst/>
          </a:prstGeom>
          <a:solidFill>
            <a:schemeClr val="accent4"/>
          </a:solidFill>
          <a:ln w="12700">
            <a:solidFill>
              <a:schemeClr val="accent4"/>
            </a:solidFill>
            <a:prstDash val="solid"/>
          </a:ln>
        </p:spPr>
      </p:sp>
      <p:pic>
        <p:nvPicPr>
          <p:cNvPr id="10" name="Image 1" descr="FaCircleCheck">    </p:cNvPr>
          <p:cNvPicPr>
            <a:picLocks noChangeAspect="1"/>
          </p:cNvPicPr>
          <p:nvPr/>
        </p:nvPicPr>
        <p:blipFill>
          <a:blip r:embed="rId2"/>
          <a:stretch>
            <a:fillRect/>
          </a:stretch>
        </p:blipFill>
        <p:spPr>
          <a:xfrm>
            <a:off x="8151876" y="3479292"/>
            <a:ext cx="246888" cy="246888"/>
          </a:xfrm>
          <a:prstGeom prst="rect">
            <a:avLst/>
          </a:prstGeom>
        </p:spPr>
      </p:pic>
      <p:sp>
        <p:nvSpPr>
          <p:cNvPr id="11" name="Text 6"/>
          <p:cNvSpPr txBox="1"/>
          <p:nvPr/>
        </p:nvSpPr>
        <p:spPr>
          <a:xfrm>
            <a:off x="8668512" y="3209544"/>
            <a:ext cx="2864815" cy="786384"/>
          </a:xfrm>
          <a:prstGeom prst="rect">
            <a:avLst/>
          </a:prstGeom>
          <a:noFill/>
          <a:ln/>
        </p:spPr>
        <p:txBody>
          <a:bodyPr wrap="square" lIns="0" tIns="0" rIns="0" bIns="0" rtlCol="0" anchor="ctr"/>
          <a:lstStyle/>
          <a:p>
            <a:pPr indent="0" marL="0">
              <a:buNone/>
            </a:pPr>
            <a:r>
              <a:rPr lang="en-US" sz="1600" b="1" dirty="0">
                <a:solidFill>
                  <a:schemeClr val="tx1"/>
                </a:solidFill>
              </a:rPr>
              <a:t>Q1, Q2, Q4</a:t>
            </a:r>
            <a:endParaRPr lang="en-US" sz="1600" dirty="0"/>
          </a:p>
          <a:p>
            <a:pPr indent="0" marL="0">
              <a:spcAft>
                <a:spcPts val="800"/>
              </a:spcAft>
              <a:buNone/>
            </a:pPr>
            <a:r>
              <a:rPr lang="en-US" sz="1400" dirty="0">
                <a:solidFill>
                  <a:schemeClr val="tx1"/>
                </a:solidFill>
              </a:rPr>
              <a:t>tần suất cao → cục bộ tại </a:t>
            </a:r>
            <a:pPr indent="0" marL="0">
              <a:buNone/>
            </a:pPr>
            <a:r>
              <a:rPr lang="en-US" sz="1400" b="1" dirty="0">
                <a:solidFill>
                  <a:schemeClr val="tx1"/>
                </a:solidFill>
              </a:rPr>
              <a:t>chi nhánh</a:t>
            </a:r>
            <a:endParaRPr lang="en-US" sz="1600" dirty="0"/>
          </a:p>
        </p:txBody>
      </p:sp>
      <p:sp>
        <p:nvSpPr>
          <p:cNvPr id="12" name="truy-van"/>
          <p:cNvSpPr/>
          <p:nvPr/>
        </p:nvSpPr>
        <p:spPr>
          <a:xfrm>
            <a:off x="7863840" y="4160520"/>
            <a:ext cx="3779215" cy="896112"/>
          </a:xfrm>
          <a:prstGeom prst="roundRect">
            <a:avLst>
              <a:gd name="adj" fmla="val 12245"/>
            </a:avLst>
          </a:prstGeom>
          <a:solidFill>
            <a:schemeClr val="bg2"/>
          </a:solidFill>
          <a:ln w="12700">
            <a:solidFill>
              <a:schemeClr val="bg2"/>
            </a:solidFill>
            <a:prstDash val="solid"/>
          </a:ln>
        </p:spPr>
      </p:sp>
      <p:sp>
        <p:nvSpPr>
          <p:cNvPr id="13" name="icon-nen"/>
          <p:cNvSpPr/>
          <p:nvPr/>
        </p:nvSpPr>
        <p:spPr>
          <a:xfrm>
            <a:off x="8028432" y="4361688"/>
            <a:ext cx="493776" cy="493776"/>
          </a:xfrm>
          <a:prstGeom prst="ellipse">
            <a:avLst/>
          </a:prstGeom>
          <a:solidFill>
            <a:schemeClr val="accent4"/>
          </a:solidFill>
          <a:ln w="12700">
            <a:solidFill>
              <a:schemeClr val="accent4"/>
            </a:solidFill>
            <a:prstDash val="solid"/>
          </a:ln>
        </p:spPr>
      </p:sp>
      <p:pic>
        <p:nvPicPr>
          <p:cNvPr id="14" name="Image 2" descr="FaCircleCheck">    </p:cNvPr>
          <p:cNvPicPr>
            <a:picLocks noChangeAspect="1"/>
          </p:cNvPicPr>
          <p:nvPr/>
        </p:nvPicPr>
        <p:blipFill>
          <a:blip r:embed="rId3"/>
          <a:stretch>
            <a:fillRect/>
          </a:stretch>
        </p:blipFill>
        <p:spPr>
          <a:xfrm>
            <a:off x="8151876" y="4485132"/>
            <a:ext cx="246888" cy="246888"/>
          </a:xfrm>
          <a:prstGeom prst="rect">
            <a:avLst/>
          </a:prstGeom>
        </p:spPr>
      </p:pic>
      <p:sp>
        <p:nvSpPr>
          <p:cNvPr id="15" name="Text 9"/>
          <p:cNvSpPr txBox="1"/>
          <p:nvPr/>
        </p:nvSpPr>
        <p:spPr>
          <a:xfrm>
            <a:off x="8668512" y="4215384"/>
            <a:ext cx="2864815" cy="786384"/>
          </a:xfrm>
          <a:prstGeom prst="rect">
            <a:avLst/>
          </a:prstGeom>
          <a:noFill/>
          <a:ln/>
        </p:spPr>
        <p:txBody>
          <a:bodyPr wrap="square" lIns="0" tIns="0" rIns="0" bIns="0" rtlCol="0" anchor="ctr"/>
          <a:lstStyle/>
          <a:p>
            <a:pPr indent="0" marL="0">
              <a:buNone/>
            </a:pPr>
            <a:r>
              <a:rPr lang="en-US" sz="1600" b="1" dirty="0">
                <a:solidFill>
                  <a:schemeClr val="tx1"/>
                </a:solidFill>
              </a:rPr>
              <a:t>Q3, Q5</a:t>
            </a:r>
            <a:endParaRPr lang="en-US" sz="1600" dirty="0"/>
          </a:p>
          <a:p>
            <a:pPr indent="0" marL="0">
              <a:spcAft>
                <a:spcPts val="800"/>
              </a:spcAft>
              <a:buNone/>
            </a:pPr>
            <a:r>
              <a:rPr lang="en-US" sz="1400" dirty="0">
                <a:solidFill>
                  <a:schemeClr val="tx1"/>
                </a:solidFill>
              </a:rPr>
              <a:t>cục bộ tại </a:t>
            </a:r>
            <a:pPr indent="0" marL="0">
              <a:buNone/>
            </a:pPr>
            <a:r>
              <a:rPr lang="en-US" sz="1400" b="1" dirty="0">
                <a:solidFill>
                  <a:schemeClr val="tx1"/>
                </a:solidFill>
              </a:rPr>
              <a:t>trụ sở</a:t>
            </a:r>
            <a:endParaRPr lang="en-US" sz="1600" dirty="0"/>
          </a:p>
        </p:txBody>
      </p:sp>
      <p:sp>
        <p:nvSpPr>
          <p:cNvPr id="16" name="truy-van"/>
          <p:cNvSpPr/>
          <p:nvPr/>
        </p:nvSpPr>
        <p:spPr>
          <a:xfrm>
            <a:off x="7863840" y="5166360"/>
            <a:ext cx="3779215" cy="896112"/>
          </a:xfrm>
          <a:prstGeom prst="roundRect">
            <a:avLst>
              <a:gd name="adj" fmla="val 12245"/>
            </a:avLst>
          </a:prstGeom>
          <a:solidFill>
            <a:schemeClr val="bg2"/>
          </a:solidFill>
          <a:ln w="12700">
            <a:solidFill>
              <a:schemeClr val="bg2"/>
            </a:solidFill>
            <a:prstDash val="solid"/>
          </a:ln>
        </p:spPr>
      </p:sp>
      <p:sp>
        <p:nvSpPr>
          <p:cNvPr id="17" name="icon-nen"/>
          <p:cNvSpPr/>
          <p:nvPr/>
        </p:nvSpPr>
        <p:spPr>
          <a:xfrm>
            <a:off x="8028432" y="5367528"/>
            <a:ext cx="493776" cy="493776"/>
          </a:xfrm>
          <a:prstGeom prst="ellipse">
            <a:avLst/>
          </a:prstGeom>
          <a:solidFill>
            <a:schemeClr val="accent1"/>
          </a:solidFill>
          <a:ln w="12700">
            <a:solidFill>
              <a:schemeClr val="accent1"/>
            </a:solidFill>
            <a:prstDash val="solid"/>
          </a:ln>
        </p:spPr>
      </p:sp>
      <p:pic>
        <p:nvPicPr>
          <p:cNvPr id="18" name="Image 3" descr="FaLink">    </p:cNvPr>
          <p:cNvPicPr>
            <a:picLocks noChangeAspect="1"/>
          </p:cNvPicPr>
          <p:nvPr/>
        </p:nvPicPr>
        <p:blipFill>
          <a:blip r:embed="rId4"/>
          <a:stretch>
            <a:fillRect/>
          </a:stretch>
        </p:blipFill>
        <p:spPr>
          <a:xfrm>
            <a:off x="8151876" y="5490972"/>
            <a:ext cx="246888" cy="246888"/>
          </a:xfrm>
          <a:prstGeom prst="rect">
            <a:avLst/>
          </a:prstGeom>
        </p:spPr>
      </p:pic>
      <p:sp>
        <p:nvSpPr>
          <p:cNvPr id="19" name="Text 12"/>
          <p:cNvSpPr txBox="1"/>
          <p:nvPr/>
        </p:nvSpPr>
        <p:spPr>
          <a:xfrm>
            <a:off x="8668512" y="5221224"/>
            <a:ext cx="2864815" cy="786384"/>
          </a:xfrm>
          <a:prstGeom prst="rect">
            <a:avLst/>
          </a:prstGeom>
          <a:noFill/>
          <a:ln/>
        </p:spPr>
        <p:txBody>
          <a:bodyPr wrap="square" lIns="0" tIns="0" rIns="0" bIns="0" rtlCol="0" anchor="ctr"/>
          <a:lstStyle/>
          <a:p>
            <a:pPr indent="0" marL="0">
              <a:buNone/>
            </a:pPr>
            <a:r>
              <a:rPr lang="en-US" sz="1600" b="1" dirty="0">
                <a:solidFill>
                  <a:schemeClr val="tx1"/>
                </a:solidFill>
              </a:rPr>
              <a:t>Q6</a:t>
            </a:r>
            <a:endParaRPr lang="en-US" sz="1600" dirty="0"/>
          </a:p>
          <a:p>
            <a:pPr indent="0" marL="0">
              <a:spcAft>
                <a:spcPts val="800"/>
              </a:spcAft>
              <a:buNone/>
            </a:pPr>
            <a:r>
              <a:rPr lang="en-US" sz="1400" dirty="0">
                <a:solidFill>
                  <a:schemeClr val="tx1"/>
                </a:solidFill>
              </a:rPr>
              <a:t>báo cáo toàn công ty → cần dữ liệu </a:t>
            </a:r>
            <a:pPr indent="0" marL="0">
              <a:buNone/>
            </a:pPr>
            <a:r>
              <a:rPr lang="en-US" sz="1400" b="1" dirty="0">
                <a:solidFill>
                  <a:schemeClr val="tx1"/>
                </a:solidFill>
              </a:rPr>
              <a:t>nhiều site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4 · ỨNG DỤNG CHO QUẢN LÝ ĐƠN HÀNG</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Demo trên SQL Server</a:t>
            </a:r>
            <a:endParaRPr lang="en-US" sz="3200" dirty="0"/>
          </a:p>
        </p:txBody>
      </p:sp>
      <p:sp>
        <p:nvSpPr>
          <p:cNvPr id="5" name="icon-nen"/>
          <p:cNvSpPr/>
          <p:nvPr/>
        </p:nvSpPr>
        <p:spPr>
          <a:xfrm>
            <a:off x="548640" y="1600200"/>
            <a:ext cx="512064" cy="512064"/>
          </a:xfrm>
          <a:prstGeom prst="ellipse">
            <a:avLst/>
          </a:prstGeom>
          <a:solidFill>
            <a:schemeClr val="tx1"/>
          </a:solidFill>
          <a:ln w="12700">
            <a:solidFill>
              <a:schemeClr val="tx1"/>
            </a:solidFill>
            <a:prstDash val="solid"/>
          </a:ln>
        </p:spPr>
      </p:sp>
      <p:pic>
        <p:nvPicPr>
          <p:cNvPr id="6" name="Image 0" descr="FaDatabase">    </p:cNvPr>
          <p:cNvPicPr>
            <a:picLocks noChangeAspect="1"/>
          </p:cNvPicPr>
          <p:nvPr/>
        </p:nvPicPr>
        <p:blipFill>
          <a:blip r:embed="rId1"/>
          <a:stretch>
            <a:fillRect/>
          </a:stretch>
        </p:blipFill>
        <p:spPr>
          <a:xfrm>
            <a:off x="676656" y="1728216"/>
            <a:ext cx="256032" cy="256032"/>
          </a:xfrm>
          <a:prstGeom prst="rect">
            <a:avLst/>
          </a:prstGeom>
        </p:spPr>
      </p:pic>
      <p:sp>
        <p:nvSpPr>
          <p:cNvPr id="7" name="Text 3"/>
          <p:cNvSpPr txBox="1"/>
          <p:nvPr/>
        </p:nvSpPr>
        <p:spPr>
          <a:xfrm>
            <a:off x="1280160" y="1527048"/>
            <a:ext cx="4663440" cy="685800"/>
          </a:xfrm>
          <a:prstGeom prst="rect">
            <a:avLst/>
          </a:prstGeom>
          <a:noFill/>
          <a:ln/>
        </p:spPr>
        <p:txBody>
          <a:bodyPr wrap="square" lIns="0" tIns="0" rIns="0" bIns="0" rtlCol="0" anchor="ctr"/>
          <a:lstStyle/>
          <a:p>
            <a:pPr indent="0" marL="0">
              <a:buNone/>
            </a:pPr>
            <a:r>
              <a:rPr lang="en-US" sz="1600" dirty="0">
                <a:solidFill>
                  <a:schemeClr val="tx1"/>
                </a:solidFill>
              </a:rPr>
              <a:t>Mỗi site là </a:t>
            </a:r>
            <a:pPr indent="0" marL="0">
              <a:buNone/>
            </a:pPr>
            <a:r>
              <a:rPr lang="en-US" sz="1600" b="1" dirty="0">
                <a:solidFill>
                  <a:schemeClr val="tx1"/>
                </a:solidFill>
              </a:rPr>
              <a:t>một database</a:t>
            </a:r>
            <a:pPr indent="0" marL="0">
              <a:buNone/>
            </a:pPr>
            <a:r>
              <a:rPr lang="en-US" sz="1600" dirty="0">
                <a:solidFill>
                  <a:schemeClr val="tx1"/>
                </a:solidFill>
              </a:rPr>
              <a:t>: QLDH_TRUSO, QLDH_HN, QLDH_DN, QLDH_HCM</a:t>
            </a:r>
            <a:endParaRPr lang="en-US" sz="1600" dirty="0"/>
          </a:p>
        </p:txBody>
      </p:sp>
      <p:sp>
        <p:nvSpPr>
          <p:cNvPr id="8" name="icon-nen"/>
          <p:cNvSpPr/>
          <p:nvPr/>
        </p:nvSpPr>
        <p:spPr>
          <a:xfrm>
            <a:off x="548640" y="2487168"/>
            <a:ext cx="512064" cy="512064"/>
          </a:xfrm>
          <a:prstGeom prst="ellipse">
            <a:avLst/>
          </a:prstGeom>
          <a:solidFill>
            <a:schemeClr val="tx1"/>
          </a:solidFill>
          <a:ln w="12700">
            <a:solidFill>
              <a:schemeClr val="tx1"/>
            </a:solidFill>
            <a:prstDash val="solid"/>
          </a:ln>
        </p:spPr>
      </p:sp>
      <p:pic>
        <p:nvPicPr>
          <p:cNvPr id="9" name="Image 1" descr="FaLink">    </p:cNvPr>
          <p:cNvPicPr>
            <a:picLocks noChangeAspect="1"/>
          </p:cNvPicPr>
          <p:nvPr/>
        </p:nvPicPr>
        <p:blipFill>
          <a:blip r:embed="rId2"/>
          <a:stretch>
            <a:fillRect/>
          </a:stretch>
        </p:blipFill>
        <p:spPr>
          <a:xfrm>
            <a:off x="676656" y="2615184"/>
            <a:ext cx="256032" cy="256032"/>
          </a:xfrm>
          <a:prstGeom prst="rect">
            <a:avLst/>
          </a:prstGeom>
        </p:spPr>
      </p:pic>
      <p:sp>
        <p:nvSpPr>
          <p:cNvPr id="10" name="Text 5"/>
          <p:cNvSpPr txBox="1"/>
          <p:nvPr/>
        </p:nvSpPr>
        <p:spPr>
          <a:xfrm>
            <a:off x="1280160" y="2414016"/>
            <a:ext cx="4663440" cy="685800"/>
          </a:xfrm>
          <a:prstGeom prst="rect">
            <a:avLst/>
          </a:prstGeom>
          <a:noFill/>
          <a:ln/>
        </p:spPr>
        <p:txBody>
          <a:bodyPr wrap="square" lIns="0" tIns="0" rIns="0" bIns="0" rtlCol="0" anchor="ctr"/>
          <a:lstStyle/>
          <a:p>
            <a:pPr indent="0" marL="0">
              <a:buNone/>
            </a:pPr>
            <a:r>
              <a:rPr lang="en-US" sz="1600" dirty="0">
                <a:solidFill>
                  <a:schemeClr val="tx1"/>
                </a:solidFill>
              </a:rPr>
              <a:t>Trụ sở dùng </a:t>
            </a:r>
            <a:pPr indent="0" marL="0">
              <a:buNone/>
            </a:pPr>
            <a:r>
              <a:rPr lang="en-US" sz="1600" b="1" dirty="0">
                <a:solidFill>
                  <a:schemeClr val="tx1"/>
                </a:solidFill>
              </a:rPr>
              <a:t>synonym</a:t>
            </a:r>
            <a:pPr indent="0" marL="0">
              <a:buNone/>
            </a:pPr>
            <a:r>
              <a:rPr lang="en-US" sz="1600" dirty="0">
                <a:solidFill>
                  <a:schemeClr val="tx1"/>
                </a:solidFill>
              </a:rPr>
              <a:t> + </a:t>
            </a:r>
            <a:pPr indent="0" marL="0">
              <a:buNone/>
            </a:pPr>
            <a:r>
              <a:rPr lang="en-US" sz="1600" b="1" dirty="0">
                <a:solidFill>
                  <a:schemeClr val="tx1"/>
                </a:solidFill>
              </a:rPr>
              <a:t>view tái thiết</a:t>
            </a:r>
            <a:pPr indent="0" marL="0">
              <a:buNone/>
            </a:pPr>
            <a:r>
              <a:rPr lang="en-US" sz="1600" dirty="0">
                <a:solidFill>
                  <a:schemeClr val="tx1"/>
                </a:solidFill>
              </a:rPr>
              <a:t> → trong suốt phân mảnh và vị trí</a:t>
            </a:r>
            <a:endParaRPr lang="en-US" sz="1600" dirty="0"/>
          </a:p>
        </p:txBody>
      </p:sp>
      <p:sp>
        <p:nvSpPr>
          <p:cNvPr id="11" name="icon-nen"/>
          <p:cNvSpPr/>
          <p:nvPr/>
        </p:nvSpPr>
        <p:spPr>
          <a:xfrm>
            <a:off x="548640" y="3374136"/>
            <a:ext cx="512064" cy="512064"/>
          </a:xfrm>
          <a:prstGeom prst="ellipse">
            <a:avLst/>
          </a:prstGeom>
          <a:solidFill>
            <a:schemeClr val="accent4"/>
          </a:solidFill>
          <a:ln w="12700">
            <a:solidFill>
              <a:schemeClr val="accent4"/>
            </a:solidFill>
            <a:prstDash val="solid"/>
          </a:ln>
        </p:spPr>
      </p:sp>
      <p:pic>
        <p:nvPicPr>
          <p:cNvPr id="12" name="Image 2" descr="FaCircleCheck">    </p:cNvPr>
          <p:cNvPicPr>
            <a:picLocks noChangeAspect="1"/>
          </p:cNvPicPr>
          <p:nvPr/>
        </p:nvPicPr>
        <p:blipFill>
          <a:blip r:embed="rId3"/>
          <a:stretch>
            <a:fillRect/>
          </a:stretch>
        </p:blipFill>
        <p:spPr>
          <a:xfrm>
            <a:off x="676656" y="3502152"/>
            <a:ext cx="256032" cy="256032"/>
          </a:xfrm>
          <a:prstGeom prst="rect">
            <a:avLst/>
          </a:prstGeom>
        </p:spPr>
      </p:pic>
      <p:sp>
        <p:nvSpPr>
          <p:cNvPr id="13" name="Text 7"/>
          <p:cNvSpPr txBox="1"/>
          <p:nvPr/>
        </p:nvSpPr>
        <p:spPr>
          <a:xfrm>
            <a:off x="1280160" y="3300984"/>
            <a:ext cx="4663440" cy="685800"/>
          </a:xfrm>
          <a:prstGeom prst="rect">
            <a:avLst/>
          </a:prstGeom>
          <a:noFill/>
          <a:ln/>
        </p:spPr>
        <p:txBody>
          <a:bodyPr wrap="square" lIns="0" tIns="0" rIns="0" bIns="0" rtlCol="0" anchor="ctr"/>
          <a:lstStyle/>
          <a:p>
            <a:pPr indent="0" marL="0">
              <a:buNone/>
            </a:pPr>
            <a:r>
              <a:rPr lang="en-US" sz="1600" dirty="0">
                <a:solidFill>
                  <a:schemeClr val="tx1"/>
                </a:solidFill>
              </a:rPr>
              <a:t>Kiểm tra tự động </a:t>
            </a:r>
            <a:pPr indent="0" marL="0">
              <a:buNone/>
            </a:pPr>
            <a:r>
              <a:rPr lang="en-US" sz="1600" b="1" dirty="0">
                <a:solidFill>
                  <a:schemeClr val="tx1"/>
                </a:solidFill>
              </a:rPr>
              <a:t>3 quy tắc đúng đắn</a:t>
            </a:r>
            <a:pPr indent="0" marL="0">
              <a:buNone/>
            </a:pPr>
            <a:r>
              <a:rPr lang="en-US" sz="1600" dirty="0">
                <a:solidFill>
                  <a:schemeClr val="tx1"/>
                </a:solidFill>
              </a:rPr>
              <a:t>: 13/13 </a:t>
            </a:r>
            <a:pPr indent="0" marL="0">
              <a:buNone/>
            </a:pPr>
            <a:r>
              <a:rPr lang="en-US" sz="1600" b="1" dirty="0">
                <a:solidFill>
                  <a:schemeClr val="tx1"/>
                </a:solidFill>
              </a:rPr>
              <a:t>ĐẠT</a:t>
            </a:r>
            <a:endParaRPr lang="en-US" sz="1600" dirty="0"/>
          </a:p>
        </p:txBody>
      </p:sp>
      <p:sp>
        <p:nvSpPr>
          <p:cNvPr id="14" name="icon-nen"/>
          <p:cNvSpPr/>
          <p:nvPr/>
        </p:nvSpPr>
        <p:spPr>
          <a:xfrm>
            <a:off x="548640" y="4261104"/>
            <a:ext cx="512064" cy="512064"/>
          </a:xfrm>
          <a:prstGeom prst="ellipse">
            <a:avLst/>
          </a:prstGeom>
          <a:solidFill>
            <a:schemeClr val="tx1"/>
          </a:solidFill>
          <a:ln w="12700">
            <a:solidFill>
              <a:schemeClr val="tx1"/>
            </a:solidFill>
            <a:prstDash val="solid"/>
          </a:ln>
        </p:spPr>
      </p:sp>
      <p:pic>
        <p:nvPicPr>
          <p:cNvPr id="15" name="Image 3" descr="FaShieldHalved">    </p:cNvPr>
          <p:cNvPicPr>
            <a:picLocks noChangeAspect="1"/>
          </p:cNvPicPr>
          <p:nvPr/>
        </p:nvPicPr>
        <p:blipFill>
          <a:blip r:embed="rId4"/>
          <a:stretch>
            <a:fillRect/>
          </a:stretch>
        </p:blipFill>
        <p:spPr>
          <a:xfrm>
            <a:off x="676656" y="4389120"/>
            <a:ext cx="256032" cy="256032"/>
          </a:xfrm>
          <a:prstGeom prst="rect">
            <a:avLst/>
          </a:prstGeom>
        </p:spPr>
      </p:pic>
      <p:sp>
        <p:nvSpPr>
          <p:cNvPr id="16" name="Text 9"/>
          <p:cNvSpPr txBox="1"/>
          <p:nvPr/>
        </p:nvSpPr>
        <p:spPr>
          <a:xfrm>
            <a:off x="1280160" y="4187952"/>
            <a:ext cx="4663440" cy="685800"/>
          </a:xfrm>
          <a:prstGeom prst="rect">
            <a:avLst/>
          </a:prstGeom>
          <a:noFill/>
          <a:ln/>
        </p:spPr>
        <p:txBody>
          <a:bodyPr wrap="square" lIns="0" tIns="0" rIns="0" bIns="0" rtlCol="0" anchor="ctr"/>
          <a:lstStyle/>
          <a:p>
            <a:pPr indent="0" marL="0">
              <a:buNone/>
            </a:pPr>
            <a:r>
              <a:rPr lang="en-US" sz="1600" dirty="0">
                <a:solidFill>
                  <a:schemeClr val="tx1"/>
                </a:solidFill>
              </a:rPr>
              <a:t>Vị từ ràng buộc bằng </a:t>
            </a:r>
            <a:pPr indent="0" marL="0">
              <a:buNone/>
            </a:pPr>
            <a:r>
              <a:rPr lang="en-US" sz="1600" b="1" dirty="0">
                <a:solidFill>
                  <a:schemeClr val="tx1"/>
                </a:solidFill>
              </a:rPr>
              <a:t>CHECK</a:t>
            </a:r>
            <a:pPr indent="0" marL="0">
              <a:buNone/>
            </a:pPr>
            <a:r>
              <a:rPr lang="en-US" sz="1600" dirty="0">
                <a:solidFill>
                  <a:schemeClr val="tx1"/>
                </a:solidFill>
              </a:rPr>
              <a:t>; chi nhánh </a:t>
            </a:r>
            <a:pPr indent="0" marL="0">
              <a:buNone/>
            </a:pPr>
            <a:r>
              <a:rPr lang="en-US" sz="1600" b="1" dirty="0">
                <a:solidFill>
                  <a:schemeClr val="tx1"/>
                </a:solidFill>
              </a:rPr>
              <a:t>không có cột lương</a:t>
            </a:r>
            <a:endParaRPr lang="en-US" sz="1600" dirty="0"/>
          </a:p>
        </p:txBody>
      </p:sp>
      <p:sp>
        <p:nvSpPr>
          <p:cNvPr id="17" name="icon-nen"/>
          <p:cNvSpPr/>
          <p:nvPr/>
        </p:nvSpPr>
        <p:spPr>
          <a:xfrm>
            <a:off x="548640" y="5148072"/>
            <a:ext cx="512064" cy="512064"/>
          </a:xfrm>
          <a:prstGeom prst="ellipse">
            <a:avLst/>
          </a:prstGeom>
          <a:solidFill>
            <a:schemeClr val="tx1"/>
          </a:solidFill>
          <a:ln w="12700">
            <a:solidFill>
              <a:schemeClr val="tx1"/>
            </a:solidFill>
            <a:prstDash val="solid"/>
          </a:ln>
        </p:spPr>
      </p:sp>
      <p:pic>
        <p:nvPicPr>
          <p:cNvPr id="18" name="Image 4" descr="FaRotate">    </p:cNvPr>
          <p:cNvPicPr>
            <a:picLocks noChangeAspect="1"/>
          </p:cNvPicPr>
          <p:nvPr/>
        </p:nvPicPr>
        <p:blipFill>
          <a:blip r:embed="rId5"/>
          <a:stretch>
            <a:fillRect/>
          </a:stretch>
        </p:blipFill>
        <p:spPr>
          <a:xfrm>
            <a:off x="676656" y="5276088"/>
            <a:ext cx="256032" cy="256032"/>
          </a:xfrm>
          <a:prstGeom prst="rect">
            <a:avLst/>
          </a:prstGeom>
        </p:spPr>
      </p:pic>
      <p:sp>
        <p:nvSpPr>
          <p:cNvPr id="19" name="Text 11"/>
          <p:cNvSpPr txBox="1"/>
          <p:nvPr/>
        </p:nvSpPr>
        <p:spPr>
          <a:xfrm>
            <a:off x="1280160" y="5074920"/>
            <a:ext cx="4663440" cy="685800"/>
          </a:xfrm>
          <a:prstGeom prst="rect">
            <a:avLst/>
          </a:prstGeom>
          <a:noFill/>
          <a:ln/>
        </p:spPr>
        <p:txBody>
          <a:bodyPr wrap="square" lIns="0" tIns="0" rIns="0" bIns="0" rtlCol="0" anchor="ctr"/>
          <a:lstStyle/>
          <a:p>
            <a:pPr indent="0" marL="0">
              <a:buNone/>
            </a:pPr>
            <a:r>
              <a:rPr lang="en-US" sz="1600" dirty="0">
                <a:solidFill>
                  <a:schemeClr val="tx1"/>
                </a:solidFill>
              </a:rPr>
              <a:t>Giao dịch phân tán: lập đơn + cập nhật công nợ </a:t>
            </a:r>
            <a:pPr indent="0" marL="0">
              <a:buNone/>
            </a:pPr>
            <a:r>
              <a:rPr lang="en-US" sz="1600" b="1" dirty="0">
                <a:solidFill>
                  <a:schemeClr val="tx1"/>
                </a:solidFill>
              </a:rPr>
              <a:t>cùng thành công hoặc cùng hủy</a:t>
            </a:r>
            <a:endParaRPr lang="en-US" sz="1600" dirty="0"/>
          </a:p>
        </p:txBody>
      </p:sp>
      <p:sp>
        <p:nvSpPr>
          <p:cNvPr id="20" name="khung-anh-demo"/>
          <p:cNvSpPr/>
          <p:nvPr/>
        </p:nvSpPr>
        <p:spPr>
          <a:xfrm>
            <a:off x="6263640" y="1600200"/>
            <a:ext cx="2697480" cy="2103120"/>
          </a:xfrm>
          <a:prstGeom prst="roundRect">
            <a:avLst>
              <a:gd name="adj" fmla="val 4348"/>
            </a:avLst>
          </a:prstGeom>
          <a:solidFill>
            <a:schemeClr val="bg2"/>
          </a:solidFill>
          <a:ln w="15875">
            <a:solidFill>
              <a:srgbClr val="4B5563"/>
            </a:solidFill>
            <a:prstDash val="dash"/>
          </a:ln>
        </p:spPr>
      </p:sp>
      <p:sp>
        <p:nvSpPr>
          <p:cNvPr id="21" name="Text 13"/>
          <p:cNvSpPr txBox="1"/>
          <p:nvPr/>
        </p:nvSpPr>
        <p:spPr>
          <a:xfrm>
            <a:off x="6400800" y="1600200"/>
            <a:ext cx="2423160" cy="2103120"/>
          </a:xfrm>
          <a:prstGeom prst="rect">
            <a:avLst/>
          </a:prstGeom>
          <a:noFill/>
          <a:ln/>
        </p:spPr>
        <p:txBody>
          <a:bodyPr wrap="square" lIns="0" tIns="0" rIns="0" bIns="0" rtlCol="0" anchor="ctr"/>
          <a:lstStyle/>
          <a:p>
            <a:pPr algn="ctr" indent="0" marL="0">
              <a:buNone/>
            </a:pPr>
            <a:r>
              <a:rPr lang="en-US" sz="1200" dirty="0">
                <a:solidFill>
                  <a:schemeClr val="tx2"/>
                </a:solidFill>
              </a:rPr>
              <a:t>Chèn ảnh: demo_01_object_explorer.png</a:t>
            </a:r>
            <a:endParaRPr lang="en-US" sz="1200" dirty="0"/>
          </a:p>
        </p:txBody>
      </p:sp>
      <p:sp>
        <p:nvSpPr>
          <p:cNvPr id="22" name="khung-anh-demo"/>
          <p:cNvSpPr/>
          <p:nvPr/>
        </p:nvSpPr>
        <p:spPr>
          <a:xfrm>
            <a:off x="9125712" y="1600200"/>
            <a:ext cx="2697480" cy="2103120"/>
          </a:xfrm>
          <a:prstGeom prst="roundRect">
            <a:avLst>
              <a:gd name="adj" fmla="val 4348"/>
            </a:avLst>
          </a:prstGeom>
          <a:solidFill>
            <a:schemeClr val="bg2"/>
          </a:solidFill>
          <a:ln w="15875">
            <a:solidFill>
              <a:srgbClr val="4B5563"/>
            </a:solidFill>
            <a:prstDash val="dash"/>
          </a:ln>
        </p:spPr>
      </p:sp>
      <p:sp>
        <p:nvSpPr>
          <p:cNvPr id="23" name="Text 15"/>
          <p:cNvSpPr txBox="1"/>
          <p:nvPr/>
        </p:nvSpPr>
        <p:spPr>
          <a:xfrm>
            <a:off x="9262872" y="1600200"/>
            <a:ext cx="2423160" cy="2103120"/>
          </a:xfrm>
          <a:prstGeom prst="rect">
            <a:avLst/>
          </a:prstGeom>
          <a:noFill/>
          <a:ln/>
        </p:spPr>
        <p:txBody>
          <a:bodyPr wrap="square" lIns="0" tIns="0" rIns="0" bIns="0" rtlCol="0" anchor="ctr"/>
          <a:lstStyle/>
          <a:p>
            <a:pPr algn="ctr" indent="0" marL="0">
              <a:buNone/>
            </a:pPr>
            <a:r>
              <a:rPr lang="en-US" sz="1200" dirty="0">
                <a:solidFill>
                  <a:schemeClr val="tx2"/>
                </a:solidFill>
              </a:rPr>
              <a:t>Chèn ảnh: demo_05_kiem_tra_dung_dan.png</a:t>
            </a:r>
            <a:endParaRPr lang="en-US" sz="1200" dirty="0"/>
          </a:p>
        </p:txBody>
      </p:sp>
      <p:sp>
        <p:nvSpPr>
          <p:cNvPr id="24" name="khung-anh-demo"/>
          <p:cNvSpPr/>
          <p:nvPr/>
        </p:nvSpPr>
        <p:spPr>
          <a:xfrm>
            <a:off x="6263640" y="3886200"/>
            <a:ext cx="2697480" cy="2103120"/>
          </a:xfrm>
          <a:prstGeom prst="roundRect">
            <a:avLst>
              <a:gd name="adj" fmla="val 4348"/>
            </a:avLst>
          </a:prstGeom>
          <a:solidFill>
            <a:schemeClr val="bg2"/>
          </a:solidFill>
          <a:ln w="15875">
            <a:solidFill>
              <a:srgbClr val="4B5563"/>
            </a:solidFill>
            <a:prstDash val="dash"/>
          </a:ln>
        </p:spPr>
      </p:sp>
      <p:sp>
        <p:nvSpPr>
          <p:cNvPr id="25" name="Text 17"/>
          <p:cNvSpPr txBox="1"/>
          <p:nvPr/>
        </p:nvSpPr>
        <p:spPr>
          <a:xfrm>
            <a:off x="6400800" y="3886200"/>
            <a:ext cx="2423160" cy="2103120"/>
          </a:xfrm>
          <a:prstGeom prst="rect">
            <a:avLst/>
          </a:prstGeom>
          <a:noFill/>
          <a:ln/>
        </p:spPr>
        <p:txBody>
          <a:bodyPr wrap="square" lIns="0" tIns="0" rIns="0" bIns="0" rtlCol="0" anchor="ctr"/>
          <a:lstStyle/>
          <a:p>
            <a:pPr algn="ctr" indent="0" marL="0">
              <a:buNone/>
            </a:pPr>
            <a:r>
              <a:rPr lang="en-US" sz="1200" dirty="0">
                <a:solidFill>
                  <a:schemeClr val="tx2"/>
                </a:solidFill>
              </a:rPr>
              <a:t>Chèn ảnh: demo_07_truy_van_toan_cuc.png</a:t>
            </a:r>
            <a:endParaRPr lang="en-US" sz="1200" dirty="0"/>
          </a:p>
        </p:txBody>
      </p:sp>
      <p:sp>
        <p:nvSpPr>
          <p:cNvPr id="26" name="khung-anh-demo"/>
          <p:cNvSpPr/>
          <p:nvPr/>
        </p:nvSpPr>
        <p:spPr>
          <a:xfrm>
            <a:off x="9125712" y="3886200"/>
            <a:ext cx="2697480" cy="2103120"/>
          </a:xfrm>
          <a:prstGeom prst="roundRect">
            <a:avLst>
              <a:gd name="adj" fmla="val 4348"/>
            </a:avLst>
          </a:prstGeom>
          <a:solidFill>
            <a:schemeClr val="bg2"/>
          </a:solidFill>
          <a:ln w="15875">
            <a:solidFill>
              <a:srgbClr val="4B5563"/>
            </a:solidFill>
            <a:prstDash val="dash"/>
          </a:ln>
        </p:spPr>
      </p:sp>
      <p:sp>
        <p:nvSpPr>
          <p:cNvPr id="27" name="Text 19"/>
          <p:cNvSpPr txBox="1"/>
          <p:nvPr/>
        </p:nvSpPr>
        <p:spPr>
          <a:xfrm>
            <a:off x="9262872" y="3886200"/>
            <a:ext cx="2423160" cy="2103120"/>
          </a:xfrm>
          <a:prstGeom prst="rect">
            <a:avLst/>
          </a:prstGeom>
          <a:noFill/>
          <a:ln/>
        </p:spPr>
        <p:txBody>
          <a:bodyPr wrap="square" lIns="0" tIns="0" rIns="0" bIns="0" rtlCol="0" anchor="ctr"/>
          <a:lstStyle/>
          <a:p>
            <a:pPr algn="ctr" indent="0" marL="0">
              <a:buNone/>
            </a:pPr>
            <a:r>
              <a:rPr lang="en-US" sz="1200" dirty="0">
                <a:solidFill>
                  <a:schemeClr val="tx2"/>
                </a:solidFill>
              </a:rPr>
              <a:t>Chèn ảnh: demo_08_giao_dich.png</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10896"/>
          </a:xfrm>
          <a:prstGeom prst="rect">
            <a:avLst/>
          </a:prstGeom>
          <a:noFill/>
          <a:ln/>
        </p:spPr>
        <p:txBody>
          <a:bodyPr wrap="square" lIns="0" tIns="0" rIns="0" bIns="0" rtlCol="0" anchor="ctr"/>
          <a:lstStyle/>
          <a:p>
            <a:pPr indent="0" marL="0">
              <a:buNone/>
            </a:pPr>
            <a:r>
              <a:rPr lang="en-US" sz="1300" b="1" dirty="0">
                <a:solidFill>
                  <a:schemeClr val="accent1"/>
                </a:solidFill>
              </a:rPr>
              <a:t>5 · ĐÁNH GIÁ VÀ KẾT LUẬN</a:t>
            </a:r>
            <a:endParaRPr lang="en-US" sz="1300" dirty="0"/>
          </a:p>
        </p:txBody>
      </p:sp>
      <p:sp>
        <p:nvSpPr>
          <p:cNvPr id="3" name="Text 0"/>
          <p:cNvSpPr/>
          <p:nvPr>
            <p:ph idx="101" type="title" hasCustomPrompt="1"/>
          </p:nvPr>
        </p:nvSpPr>
        <p:spPr>
          <a:xfrm>
            <a:off x="548640" y="603504"/>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Đánh giá và kết luận</a:t>
            </a:r>
            <a:endParaRPr lang="en-US" sz="3200" dirty="0"/>
          </a:p>
        </p:txBody>
      </p:sp>
      <p:sp>
        <p:nvSpPr>
          <p:cNvPr id="5" name="danh-gia"/>
          <p:cNvSpPr/>
          <p:nvPr/>
        </p:nvSpPr>
        <p:spPr>
          <a:xfrm>
            <a:off x="548640" y="1554480"/>
            <a:ext cx="5410048" cy="2697480"/>
          </a:xfrm>
          <a:prstGeom prst="roundRect">
            <a:avLst>
              <a:gd name="adj" fmla="val 4068"/>
            </a:avLst>
          </a:prstGeom>
          <a:solidFill>
            <a:srgbClr val="DCFCE7"/>
          </a:solidFill>
          <a:ln w="12700">
            <a:solidFill>
              <a:srgbClr val="DCFCE7"/>
            </a:solidFill>
            <a:prstDash val="solid"/>
          </a:ln>
        </p:spPr>
      </p:sp>
      <p:sp>
        <p:nvSpPr>
          <p:cNvPr id="6" name="Text 3"/>
          <p:cNvSpPr txBox="1"/>
          <p:nvPr/>
        </p:nvSpPr>
        <p:spPr>
          <a:xfrm>
            <a:off x="868680" y="1737360"/>
            <a:ext cx="4769968" cy="411480"/>
          </a:xfrm>
          <a:prstGeom prst="rect">
            <a:avLst/>
          </a:prstGeom>
          <a:noFill/>
          <a:ln/>
        </p:spPr>
        <p:txBody>
          <a:bodyPr wrap="square" lIns="0" tIns="0" rIns="0" bIns="0" rtlCol="0" anchor="t"/>
          <a:lstStyle/>
          <a:p>
            <a:pPr indent="0" marL="0">
              <a:buNone/>
            </a:pPr>
            <a:r>
              <a:rPr lang="en-US" sz="2100" b="1" dirty="0">
                <a:solidFill>
                  <a:schemeClr val="accent4"/>
                </a:solidFill>
              </a:rPr>
              <a:t>Ưu điểm</a:t>
            </a:r>
            <a:endParaRPr lang="en-US" sz="2100" dirty="0"/>
          </a:p>
        </p:txBody>
      </p:sp>
      <p:sp>
        <p:nvSpPr>
          <p:cNvPr id="7" name="Text 4"/>
          <p:cNvSpPr txBox="1"/>
          <p:nvPr/>
        </p:nvSpPr>
        <p:spPr>
          <a:xfrm>
            <a:off x="868680" y="2286000"/>
            <a:ext cx="4769968" cy="182880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chemeClr val="tx1"/>
                </a:solidFill>
              </a:rPr>
              <a:t>Đa số truy vấn chạy cục bộ</a:t>
            </a:r>
            <a:endParaRPr lang="en-US" sz="1600" dirty="0"/>
          </a:p>
          <a:p>
            <a:pPr marL="228600" indent="-228600">
              <a:spcAft>
                <a:spcPts val="600"/>
              </a:spcAft>
              <a:buSzPct val="100000"/>
              <a:buChar char="•"/>
            </a:pPr>
            <a:r>
              <a:rPr lang="en-US" sz="1700" dirty="0">
                <a:solidFill>
                  <a:schemeClr val="tx1"/>
                </a:solidFill>
              </a:rPr>
              <a:t>Bảo mật dữ liệu nhân sự</a:t>
            </a:r>
            <a:endParaRPr lang="en-US" sz="1600" dirty="0"/>
          </a:p>
          <a:p>
            <a:pPr marL="228600" indent="-228600">
              <a:spcAft>
                <a:spcPts val="600"/>
              </a:spcAft>
              <a:buSzPct val="100000"/>
              <a:buChar char="•"/>
            </a:pPr>
            <a:r>
              <a:rPr lang="en-US" sz="1700" dirty="0">
                <a:solidFill>
                  <a:schemeClr val="tx1"/>
                </a:solidFill>
              </a:rPr>
              <a:t>Báo cáo theo miền nhanh</a:t>
            </a:r>
            <a:endParaRPr lang="en-US" sz="1600" dirty="0"/>
          </a:p>
        </p:txBody>
      </p:sp>
      <p:sp>
        <p:nvSpPr>
          <p:cNvPr id="8" name="danh-gia"/>
          <p:cNvSpPr/>
          <p:nvPr/>
        </p:nvSpPr>
        <p:spPr>
          <a:xfrm>
            <a:off x="6233008" y="1554480"/>
            <a:ext cx="5410048" cy="2697480"/>
          </a:xfrm>
          <a:prstGeom prst="roundRect">
            <a:avLst>
              <a:gd name="adj" fmla="val 4068"/>
            </a:avLst>
          </a:prstGeom>
          <a:solidFill>
            <a:srgbClr val="FEF3C7"/>
          </a:solidFill>
          <a:ln w="12700">
            <a:solidFill>
              <a:srgbClr val="FEF3C7"/>
            </a:solidFill>
            <a:prstDash val="solid"/>
          </a:ln>
        </p:spPr>
      </p:sp>
      <p:sp>
        <p:nvSpPr>
          <p:cNvPr id="9" name="Text 6"/>
          <p:cNvSpPr txBox="1"/>
          <p:nvPr/>
        </p:nvSpPr>
        <p:spPr>
          <a:xfrm>
            <a:off x="6553048" y="1737360"/>
            <a:ext cx="4769968" cy="411480"/>
          </a:xfrm>
          <a:prstGeom prst="rect">
            <a:avLst/>
          </a:prstGeom>
          <a:noFill/>
          <a:ln/>
        </p:spPr>
        <p:txBody>
          <a:bodyPr wrap="square" lIns="0" tIns="0" rIns="0" bIns="0" rtlCol="0" anchor="t"/>
          <a:lstStyle/>
          <a:p>
            <a:pPr indent="0" marL="0">
              <a:buNone/>
            </a:pPr>
            <a:r>
              <a:rPr lang="en-US" sz="2100" b="1" dirty="0">
                <a:solidFill>
                  <a:schemeClr val="accent1"/>
                </a:solidFill>
              </a:rPr>
              <a:t>Đánh đổi</a:t>
            </a:r>
            <a:endParaRPr lang="en-US" sz="2100" dirty="0"/>
          </a:p>
        </p:txBody>
      </p:sp>
      <p:sp>
        <p:nvSpPr>
          <p:cNvPr id="10" name="Text 7"/>
          <p:cNvSpPr txBox="1"/>
          <p:nvPr/>
        </p:nvSpPr>
        <p:spPr>
          <a:xfrm>
            <a:off x="6553048" y="2286000"/>
            <a:ext cx="4769968" cy="182880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chemeClr val="tx1"/>
                </a:solidFill>
              </a:rPr>
              <a:t>Lập đơn phải cập nhật công nợ ở trụ sở → </a:t>
            </a:r>
            <a:pPr indent="0" marL="0">
              <a:buNone/>
            </a:pPr>
            <a:r>
              <a:rPr lang="en-US" sz="1700" b="1" dirty="0">
                <a:solidFill>
                  <a:schemeClr val="tx1"/>
                </a:solidFill>
              </a:rPr>
              <a:t>giao dịch phân tán</a:t>
            </a:r>
            <a:pPr indent="0" marL="0">
              <a:buNone/>
            </a:pPr>
            <a:r>
              <a:rPr lang="en-US" sz="1700" dirty="0">
                <a:solidFill>
                  <a:schemeClr val="tx1"/>
                </a:solidFill>
              </a:rPr>
              <a:t> (cần 2PC khi nhiều máy)</a:t>
            </a:r>
            <a:endParaRPr lang="en-US" sz="1600" dirty="0"/>
          </a:p>
          <a:p>
            <a:pPr marL="228600" indent="-228600">
              <a:spcAft>
                <a:spcPts val="600"/>
              </a:spcAft>
              <a:buSzPct val="100000"/>
              <a:buChar char="•"/>
            </a:pPr>
            <a:r>
              <a:rPr lang="en-US" sz="1700" dirty="0">
                <a:solidFill>
                  <a:schemeClr val="tx1"/>
                </a:solidFill>
              </a:rPr>
              <a:t>Phải thiết kế lại khi đổi cơ cấu chi nhánh</a:t>
            </a:r>
            <a:endParaRPr lang="en-US" sz="1600" dirty="0"/>
          </a:p>
        </p:txBody>
      </p:sp>
      <p:sp>
        <p:nvSpPr>
          <p:cNvPr id="11" name="ket-luan"/>
          <p:cNvSpPr/>
          <p:nvPr/>
        </p:nvSpPr>
        <p:spPr>
          <a:xfrm>
            <a:off x="548640" y="4526280"/>
            <a:ext cx="11094415" cy="960120"/>
          </a:xfrm>
          <a:prstGeom prst="roundRect">
            <a:avLst>
              <a:gd name="adj" fmla="val 11429"/>
            </a:avLst>
          </a:prstGeom>
          <a:solidFill>
            <a:schemeClr val="tx1"/>
          </a:solidFill>
          <a:ln w="12700">
            <a:solidFill>
              <a:schemeClr val="tx1"/>
            </a:solidFill>
            <a:prstDash val="solid"/>
          </a:ln>
        </p:spPr>
      </p:sp>
      <p:sp>
        <p:nvSpPr>
          <p:cNvPr id="12" name="Text 9"/>
          <p:cNvSpPr txBox="1"/>
          <p:nvPr/>
        </p:nvSpPr>
        <p:spPr>
          <a:xfrm>
            <a:off x="914400" y="4526280"/>
            <a:ext cx="10362895" cy="960120"/>
          </a:xfrm>
          <a:prstGeom prst="rect">
            <a:avLst/>
          </a:prstGeom>
          <a:noFill/>
          <a:ln/>
        </p:spPr>
        <p:txBody>
          <a:bodyPr wrap="square" lIns="0" tIns="0" rIns="0" bIns="0" rtlCol="0" anchor="ctr"/>
          <a:lstStyle/>
          <a:p>
            <a:pPr indent="0" marL="0">
              <a:buNone/>
            </a:pPr>
            <a:r>
              <a:rPr lang="en-US" sz="1900" b="1" dirty="0">
                <a:solidFill>
                  <a:schemeClr val="bg1"/>
                </a:solidFill>
              </a:rPr>
              <a:t>Kết luận:</a:t>
            </a:r>
            <a:pPr indent="0" marL="0">
              <a:buNone/>
            </a:pPr>
            <a:r>
              <a:rPr lang="en-US" sz="1900" dirty="0">
                <a:solidFill>
                  <a:schemeClr val="bg1"/>
                </a:solidFill>
              </a:rPr>
              <a:t> phân mảnh hỗn hợp phù hợp khi nhu cầu truy cập khác nhau </a:t>
            </a:r>
            <a:pPr indent="0" marL="0">
              <a:buNone/>
            </a:pPr>
            <a:r>
              <a:rPr lang="en-US" sz="1900" b="1" dirty="0">
                <a:solidFill>
                  <a:schemeClr val="bg1"/>
                </a:solidFill>
              </a:rPr>
              <a:t>cả theo dòng lẫn theo cột</a:t>
            </a:r>
            <a:endParaRPr lang="en-US" sz="1900" dirty="0"/>
          </a:p>
        </p:txBody>
      </p:sp>
      <p:sp>
        <p:nvSpPr>
          <p:cNvPr id="13" name="Text 10"/>
          <p:cNvSpPr txBox="1"/>
          <p:nvPr/>
        </p:nvSpPr>
        <p:spPr>
          <a:xfrm>
            <a:off x="548640" y="5669280"/>
            <a:ext cx="11094415" cy="411480"/>
          </a:xfrm>
          <a:prstGeom prst="rect">
            <a:avLst/>
          </a:prstGeom>
          <a:noFill/>
          <a:ln/>
        </p:spPr>
        <p:txBody>
          <a:bodyPr wrap="square" lIns="0" tIns="0" rIns="0" bIns="0" rtlCol="0" anchor="t"/>
          <a:lstStyle/>
          <a:p>
            <a:pPr indent="0" marL="0">
              <a:buNone/>
            </a:pPr>
            <a:r>
              <a:rPr lang="en-US" sz="1600" b="1" dirty="0">
                <a:solidFill>
                  <a:schemeClr val="tx2"/>
                </a:solidFill>
              </a:rPr>
              <a:t>Hướng phát triển:</a:t>
            </a:r>
            <a:pPr indent="0" marL="0">
              <a:buNone/>
            </a:pPr>
            <a:r>
              <a:rPr lang="en-US" sz="1600" dirty="0">
                <a:solidFill>
                  <a:schemeClr val="tx2"/>
                </a:solidFill>
              </a:rPr>
              <a:t> chạy trên nhiều máy bằng Linked Server · đồng bộ bản nhân bản · tối ưu truy vấn phân tán</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640080" y="2011680"/>
            <a:ext cx="7040880" cy="173736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CẢM ƠN THẦY VÀ CÁC BẠN ĐÃ LẮNG NGHE</a:t>
            </a:r>
            <a:endParaRPr lang="en-US" sz="3800" dirty="0"/>
          </a:p>
        </p:txBody>
      </p:sp>
      <p:sp>
        <p:nvSpPr>
          <p:cNvPr id="4" name="Text 1"/>
          <p:cNvSpPr txBox="1"/>
          <p:nvPr/>
        </p:nvSpPr>
        <p:spPr>
          <a:xfrm>
            <a:off x="640080" y="3931920"/>
            <a:ext cx="5486400" cy="640080"/>
          </a:xfrm>
          <a:prstGeom prst="rect">
            <a:avLst/>
          </a:prstGeom>
          <a:noFill/>
          <a:ln/>
        </p:spPr>
        <p:txBody>
          <a:bodyPr wrap="square" lIns="0" tIns="0" rIns="0" bIns="0" rtlCol="0" anchor="t"/>
          <a:lstStyle/>
          <a:p>
            <a:pPr indent="0" marL="0">
              <a:buNone/>
            </a:pPr>
            <a:r>
              <a:rPr lang="en-US" sz="2800" b="1" dirty="0">
                <a:solidFill>
                  <a:schemeClr val="accent1"/>
                </a:solidFill>
              </a:rPr>
              <a:t>Hỏi &amp; Đáp</a:t>
            </a:r>
            <a:endParaRPr lang="en-US" sz="2800" dirty="0"/>
          </a:p>
        </p:txBody>
      </p:sp>
      <p:sp>
        <p:nvSpPr>
          <p:cNvPr id="5" name="Text 2"/>
          <p:cNvSpPr txBox="1"/>
          <p:nvPr/>
        </p:nvSpPr>
        <p:spPr>
          <a:xfrm>
            <a:off x="640080" y="4846320"/>
            <a:ext cx="5486400" cy="365760"/>
          </a:xfrm>
          <a:prstGeom prst="rect">
            <a:avLst/>
          </a:prstGeom>
          <a:noFill/>
          <a:ln/>
        </p:spPr>
        <p:txBody>
          <a:bodyPr wrap="square" lIns="0" tIns="0" rIns="0" bIns="0" rtlCol="0" anchor="t"/>
          <a:lstStyle/>
          <a:p>
            <a:pPr indent="0" marL="0">
              <a:buNone/>
            </a:pPr>
            <a:r>
              <a:rPr lang="en-US" sz="1600" dirty="0">
                <a:solidFill>
                  <a:srgbClr val="D1D5DB"/>
                </a:solidFill>
              </a:rPr>
              <a:t>Trần Gia Thịnh · Phạm Minh Triết</a:t>
            </a:r>
            <a:endParaRPr lang="en-US" sz="1600" dirty="0"/>
          </a:p>
        </p:txBody>
      </p:sp>
      <p:sp>
        <p:nvSpPr>
          <p:cNvPr id="6" name="Text 3"/>
          <p:cNvSpPr txBox="1"/>
          <p:nvPr/>
        </p:nvSpPr>
        <p:spPr>
          <a:xfrm>
            <a:off x="8458200" y="1353312"/>
            <a:ext cx="1463040" cy="274320"/>
          </a:xfrm>
          <a:prstGeom prst="rect">
            <a:avLst/>
          </a:prstGeom>
          <a:noFill/>
          <a:ln/>
        </p:spPr>
        <p:txBody>
          <a:bodyPr wrap="square" lIns="0" tIns="0" rIns="0" bIns="0" rtlCol="0" anchor="t"/>
          <a:lstStyle/>
          <a:p>
            <a:pPr algn="ctr" indent="0" marL="0">
              <a:buNone/>
            </a:pPr>
            <a:r>
              <a:rPr lang="en-US" sz="1300" dirty="0">
                <a:solidFill>
                  <a:srgbClr val="D1D5DB"/>
                </a:solidFill>
              </a:rPr>
              <a:t>Giao dịch</a:t>
            </a:r>
            <a:endParaRPr lang="en-US" sz="1300" dirty="0"/>
          </a:p>
        </p:txBody>
      </p:sp>
      <p:sp>
        <p:nvSpPr>
          <p:cNvPr id="7" name="Text 4"/>
          <p:cNvSpPr txBox="1"/>
          <p:nvPr/>
        </p:nvSpPr>
        <p:spPr>
          <a:xfrm>
            <a:off x="10085832" y="1353312"/>
            <a:ext cx="1463040" cy="274320"/>
          </a:xfrm>
          <a:prstGeom prst="rect">
            <a:avLst/>
          </a:prstGeom>
          <a:noFill/>
          <a:ln/>
        </p:spPr>
        <p:txBody>
          <a:bodyPr wrap="square" lIns="0" tIns="0" rIns="0" bIns="0" rtlCol="0" anchor="t"/>
          <a:lstStyle/>
          <a:p>
            <a:pPr algn="ctr" indent="0" marL="0">
              <a:buNone/>
            </a:pPr>
            <a:r>
              <a:rPr lang="en-US" sz="1300" dirty="0">
                <a:solidFill>
                  <a:srgbClr val="D1D5DB"/>
                </a:solidFill>
              </a:rPr>
              <a:t>Tài chính</a:t>
            </a:r>
            <a:endParaRPr lang="en-US" sz="1300" dirty="0"/>
          </a:p>
        </p:txBody>
      </p:sp>
      <p:sp>
        <p:nvSpPr>
          <p:cNvPr id="8" name="o-manh"/>
          <p:cNvSpPr/>
          <p:nvPr/>
        </p:nvSpPr>
        <p:spPr>
          <a:xfrm>
            <a:off x="8458200" y="1737360"/>
            <a:ext cx="1463040" cy="868680"/>
          </a:xfrm>
          <a:prstGeom prst="roundRect">
            <a:avLst>
              <a:gd name="adj" fmla="val 12632"/>
            </a:avLst>
          </a:prstGeom>
          <a:solidFill>
            <a:schemeClr val="accent3"/>
          </a:solidFill>
          <a:ln w="12700">
            <a:solidFill>
              <a:schemeClr val="accent3"/>
            </a:solidFill>
            <a:prstDash val="solid"/>
          </a:ln>
        </p:spPr>
      </p:sp>
      <p:sp>
        <p:nvSpPr>
          <p:cNvPr id="9" name="Text 6"/>
          <p:cNvSpPr txBox="1"/>
          <p:nvPr/>
        </p:nvSpPr>
        <p:spPr>
          <a:xfrm>
            <a:off x="8458200" y="1737360"/>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KH₁_GD</a:t>
            </a:r>
            <a:endParaRPr lang="en-US" sz="1600" dirty="0"/>
          </a:p>
        </p:txBody>
      </p:sp>
      <p:sp>
        <p:nvSpPr>
          <p:cNvPr id="10" name="o-manh"/>
          <p:cNvSpPr/>
          <p:nvPr/>
        </p:nvSpPr>
        <p:spPr>
          <a:xfrm>
            <a:off x="10085832" y="1737360"/>
            <a:ext cx="1463040" cy="868680"/>
          </a:xfrm>
          <a:prstGeom prst="roundRect">
            <a:avLst>
              <a:gd name="adj" fmla="val 12632"/>
            </a:avLst>
          </a:prstGeom>
          <a:solidFill>
            <a:schemeClr val="accent6"/>
          </a:solidFill>
          <a:ln w="12700">
            <a:solidFill>
              <a:schemeClr val="accent6"/>
            </a:solidFill>
            <a:prstDash val="solid"/>
          </a:ln>
        </p:spPr>
      </p:sp>
      <p:sp>
        <p:nvSpPr>
          <p:cNvPr id="11" name="Text 8"/>
          <p:cNvSpPr txBox="1"/>
          <p:nvPr/>
        </p:nvSpPr>
        <p:spPr>
          <a:xfrm>
            <a:off x="10085832" y="1737360"/>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KH₁_TC</a:t>
            </a:r>
            <a:endParaRPr lang="en-US" sz="1600" dirty="0"/>
          </a:p>
        </p:txBody>
      </p:sp>
      <p:sp>
        <p:nvSpPr>
          <p:cNvPr id="12" name="o-manh"/>
          <p:cNvSpPr/>
          <p:nvPr/>
        </p:nvSpPr>
        <p:spPr>
          <a:xfrm>
            <a:off x="8458200" y="2770632"/>
            <a:ext cx="1463040" cy="868680"/>
          </a:xfrm>
          <a:prstGeom prst="roundRect">
            <a:avLst>
              <a:gd name="adj" fmla="val 12632"/>
            </a:avLst>
          </a:prstGeom>
          <a:solidFill>
            <a:schemeClr val="accent4"/>
          </a:solidFill>
          <a:ln w="12700">
            <a:solidFill>
              <a:schemeClr val="accent4"/>
            </a:solidFill>
            <a:prstDash val="solid"/>
          </a:ln>
        </p:spPr>
      </p:sp>
      <p:sp>
        <p:nvSpPr>
          <p:cNvPr id="13" name="Text 10"/>
          <p:cNvSpPr txBox="1"/>
          <p:nvPr/>
        </p:nvSpPr>
        <p:spPr>
          <a:xfrm>
            <a:off x="8458200" y="2770632"/>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KH₂_GD</a:t>
            </a:r>
            <a:endParaRPr lang="en-US" sz="1600" dirty="0"/>
          </a:p>
        </p:txBody>
      </p:sp>
      <p:sp>
        <p:nvSpPr>
          <p:cNvPr id="14" name="o-manh"/>
          <p:cNvSpPr/>
          <p:nvPr/>
        </p:nvSpPr>
        <p:spPr>
          <a:xfrm>
            <a:off x="10085832" y="2770632"/>
            <a:ext cx="1463040" cy="868680"/>
          </a:xfrm>
          <a:prstGeom prst="roundRect">
            <a:avLst>
              <a:gd name="adj" fmla="val 12632"/>
            </a:avLst>
          </a:prstGeom>
          <a:solidFill>
            <a:schemeClr val="accent6"/>
          </a:solidFill>
          <a:ln w="12700">
            <a:solidFill>
              <a:schemeClr val="accent6"/>
            </a:solidFill>
            <a:prstDash val="solid"/>
          </a:ln>
        </p:spPr>
      </p:sp>
      <p:sp>
        <p:nvSpPr>
          <p:cNvPr id="15" name="Text 12"/>
          <p:cNvSpPr txBox="1"/>
          <p:nvPr/>
        </p:nvSpPr>
        <p:spPr>
          <a:xfrm>
            <a:off x="10085832" y="2770632"/>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KH₂_TC</a:t>
            </a:r>
            <a:endParaRPr lang="en-US" sz="1600" dirty="0"/>
          </a:p>
        </p:txBody>
      </p:sp>
      <p:sp>
        <p:nvSpPr>
          <p:cNvPr id="16" name="o-manh"/>
          <p:cNvSpPr/>
          <p:nvPr/>
        </p:nvSpPr>
        <p:spPr>
          <a:xfrm>
            <a:off x="8458200" y="3803904"/>
            <a:ext cx="1463040" cy="868680"/>
          </a:xfrm>
          <a:prstGeom prst="roundRect">
            <a:avLst>
              <a:gd name="adj" fmla="val 12632"/>
            </a:avLst>
          </a:prstGeom>
          <a:solidFill>
            <a:schemeClr val="accent5"/>
          </a:solidFill>
          <a:ln w="12700">
            <a:solidFill>
              <a:schemeClr val="accent5"/>
            </a:solidFill>
            <a:prstDash val="solid"/>
          </a:ln>
        </p:spPr>
      </p:sp>
      <p:sp>
        <p:nvSpPr>
          <p:cNvPr id="17" name="Text 14"/>
          <p:cNvSpPr txBox="1"/>
          <p:nvPr/>
        </p:nvSpPr>
        <p:spPr>
          <a:xfrm>
            <a:off x="8458200" y="3803904"/>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KH₃_GD</a:t>
            </a:r>
            <a:endParaRPr lang="en-US" sz="1600" dirty="0"/>
          </a:p>
        </p:txBody>
      </p:sp>
      <p:sp>
        <p:nvSpPr>
          <p:cNvPr id="18" name="o-manh"/>
          <p:cNvSpPr/>
          <p:nvPr/>
        </p:nvSpPr>
        <p:spPr>
          <a:xfrm>
            <a:off x="10085832" y="3803904"/>
            <a:ext cx="1463040" cy="868680"/>
          </a:xfrm>
          <a:prstGeom prst="roundRect">
            <a:avLst>
              <a:gd name="adj" fmla="val 12632"/>
            </a:avLst>
          </a:prstGeom>
          <a:solidFill>
            <a:schemeClr val="accent6"/>
          </a:solidFill>
          <a:ln w="12700">
            <a:solidFill>
              <a:schemeClr val="accent6"/>
            </a:solidFill>
            <a:prstDash val="solid"/>
          </a:ln>
        </p:spPr>
      </p:sp>
      <p:sp>
        <p:nvSpPr>
          <p:cNvPr id="19" name="Text 16"/>
          <p:cNvSpPr txBox="1"/>
          <p:nvPr/>
        </p:nvSpPr>
        <p:spPr>
          <a:xfrm>
            <a:off x="10085832" y="3803904"/>
            <a:ext cx="1463040" cy="868680"/>
          </a:xfrm>
          <a:prstGeom prst="rect">
            <a:avLst/>
          </a:prstGeom>
          <a:noFill/>
          <a:ln/>
        </p:spPr>
        <p:txBody>
          <a:bodyPr wrap="square" lIns="0" tIns="0" rIns="0" bIns="0" rtlCol="0" anchor="ctr"/>
          <a:lstStyle/>
          <a:p>
            <a:pPr algn="ctr" indent="0" marL="0">
              <a:buNone/>
            </a:pPr>
            <a:r>
              <a:rPr lang="en-US" sz="1600" b="1" dirty="0">
                <a:solidFill>
                  <a:schemeClr val="bg1"/>
                </a:solidFill>
              </a:rPr>
              <a:t>KH₃_TC</a:t>
            </a:r>
            <a:endParaRPr lang="en-US" sz="1600" dirty="0"/>
          </a:p>
        </p:txBody>
      </p:sp>
    </p:spTree>
  </p:cSld>
  <p:clrMapOvr>
    <a:masterClrMapping/>
  </p:clrMapOvr>
</p:sld>
</file>

<file path=ppt/theme/theme1.xml><?xml version="1.0" encoding="utf-8"?>
<a:theme xmlns:a="http://schemas.openxmlformats.org/drawingml/2006/main" name="PhanManhHonHop">
  <a:themeElements>
    <a:clrScheme name="PhanManhHonHop">
      <a:dk1>
        <a:srgbClr val="1F2937"/>
      </a:dk1>
      <a:lt1>
        <a:srgbClr val="FFFFFF"/>
      </a:lt1>
      <a:dk2>
        <a:srgbClr val="4B5563"/>
      </a:dk2>
      <a:lt2>
        <a:srgbClr val="F3F4F6"/>
      </a:lt2>
      <a:accent1>
        <a:srgbClr val="D97706"/>
      </a:accent1>
      <a:accent2>
        <a:srgbClr val="7C3AED"/>
      </a:accent2>
      <a:accent3>
        <a:srgbClr val="DC2626"/>
      </a:accent3>
      <a:accent4>
        <a:srgbClr val="16A34A"/>
      </a:accent4>
      <a:accent5>
        <a:srgbClr val="2563EB"/>
      </a:accent5>
      <a:accent6>
        <a:srgbClr val="4B5563"/>
      </a:accent6>
      <a:hlink>
        <a:srgbClr val="2563EB"/>
      </a:hlink>
      <a:folHlink>
        <a:srgbClr val="7C3AED"/>
      </a:folHlink>
    </a:clrScheme>
    <a:fontScheme name="PhanManhHonHo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mảnh hỗn hợp trong CSDL phân tán</dc:title>
  <dc:subject>Đồ án Cơ Sở Dữ Liệu Nâng Cao</dc:subject>
  <dc:creator>Trần Gia Thịnh, Phạm Minh Triết</dc:creator>
  <cp:lastModifiedBy>Trần Gia Thịnh, Phạm Minh Triết</cp:lastModifiedBy>
  <cp:revision>1</cp:revision>
  <dcterms:created xsi:type="dcterms:W3CDTF">2026-10-29T16:16:52Z</dcterms:created>
  <dcterms:modified xsi:type="dcterms:W3CDTF">2026-10-29T16:16:52Z</dcterms:modified>
</cp:coreProperties>
</file>